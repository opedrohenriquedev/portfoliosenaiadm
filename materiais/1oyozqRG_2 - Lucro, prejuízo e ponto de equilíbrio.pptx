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06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7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190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4B831-3079-D72F-E692-58A119F2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B2BE5-3721-82BD-8838-B3266FB82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9140A-57A6-828A-1F21-19C212CE6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1864A-422A-4CDD-BCD1-0DFC88D444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09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2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92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2" y="1"/>
            <a:ext cx="9143358" cy="5143211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sz="819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sz="819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lang="pt-BR" sz="819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89497" y="1196578"/>
            <a:ext cx="5765006" cy="2750344"/>
          </a:xfrm>
          <a:prstGeom prst="rect">
            <a:avLst/>
          </a:prstGeom>
          <a:solidFill>
            <a:srgbClr val="000000">
              <a:alpha val="70000"/>
            </a:srgbClr>
          </a:solidFill>
          <a:ln w="54864">
            <a:solidFill>
              <a:srgbClr val="FF007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175272" y="1682353"/>
            <a:ext cx="4793456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4150" b="1" dirty="0">
                <a:solidFill>
                  <a:srgbClr val="39FF1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JOGO DA
PRECIFICAÇÃO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2175272" y="3082528"/>
            <a:ext cx="4793456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Como Não Perder Dinheiro e Ganhar o Jogo</a:t>
            </a:r>
            <a:endParaRPr lang="en-US" sz="1700" dirty="0"/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9BBA468B-D5C1-9DCA-3004-8807EC217FAF}"/>
              </a:ext>
            </a:extLst>
          </p:cNvPr>
          <p:cNvGrpSpPr/>
          <p:nvPr/>
        </p:nvGrpSpPr>
        <p:grpSpPr>
          <a:xfrm>
            <a:off x="7810500" y="266621"/>
            <a:ext cx="1212850" cy="512059"/>
            <a:chOff x="15363992" y="1047088"/>
            <a:chExt cx="3693160" cy="942975"/>
          </a:xfrm>
        </p:grpSpPr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F30D8A0D-B331-E706-200C-632E7DD58664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EB671978-F362-E9DF-A639-3C5009A9EF0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11" name="object 3">
            <a:extLst>
              <a:ext uri="{FF2B5EF4-FFF2-40B4-BE49-F238E27FC236}">
                <a16:creationId xmlns:a16="http://schemas.microsoft.com/office/drawing/2014/main" id="{4AC0731E-4E1B-E2AD-041A-E152E7291FC1}"/>
              </a:ext>
            </a:extLst>
          </p:cNvPr>
          <p:cNvSpPr/>
          <p:nvPr/>
        </p:nvSpPr>
        <p:spPr>
          <a:xfrm>
            <a:off x="0" y="5051534"/>
            <a:ext cx="9144000" cy="9196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038BFBBC-C8D5-FC6C-D4F7-29538E95E142}"/>
              </a:ext>
            </a:extLst>
          </p:cNvPr>
          <p:cNvSpPr/>
          <p:nvPr/>
        </p:nvSpPr>
        <p:spPr>
          <a:xfrm>
            <a:off x="234950" y="91966"/>
            <a:ext cx="88900" cy="634999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4486275" y="0"/>
            <a:ext cx="85725" cy="5143500"/>
          </a:xfrm>
          <a:prstGeom prst="rect">
            <a:avLst/>
          </a:prstGeom>
          <a:solidFill>
            <a:srgbClr val="39FF1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5750"/>
            <a:ext cx="4572000" cy="4572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14900" y="428625"/>
            <a:ext cx="38862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850" b="1" dirty="0">
                <a:solidFill>
                  <a:srgbClr val="FF007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POR QUE PRECIFICAR IMPORTA?</a:t>
            </a:r>
            <a:endParaRPr lang="en-US" sz="2850" dirty="0"/>
          </a:p>
        </p:txBody>
      </p:sp>
      <p:sp>
        <p:nvSpPr>
          <p:cNvPr id="7" name="Shape 3"/>
          <p:cNvSpPr/>
          <p:nvPr/>
        </p:nvSpPr>
        <p:spPr>
          <a:xfrm>
            <a:off x="4914900" y="1771650"/>
            <a:ext cx="3886200" cy="961504"/>
          </a:xfrm>
          <a:prstGeom prst="rect">
            <a:avLst/>
          </a:prstGeom>
          <a:solidFill>
            <a:srgbClr val="FFFFFF"/>
          </a:solidFill>
          <a:ln w="45720">
            <a:solidFill>
              <a:srgbClr val="1A1A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5057775" y="1857375"/>
            <a:ext cx="36004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B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EQUILÍBRIO PERFEITO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057775" y="2121694"/>
            <a:ext cx="3600450" cy="500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B"/>
                </a:solidFill>
                <a:latin typeface="Comic Sans MS" panose="030F0702030302020204" pitchFamily="66" charset="0"/>
                <a:ea typeface="Inter SemiBold" pitchFamily="34" charset="-122"/>
                <a:cs typeface="Inter SemiBold" pitchFamily="34" charset="-120"/>
              </a:rPr>
              <a:t>Precificar é encontrar o valor que </a:t>
            </a:r>
            <a:r>
              <a:rPr lang="en-US" sz="1500" b="1" dirty="0">
                <a:solidFill>
                  <a:srgbClr val="FF007F"/>
                </a:solidFill>
                <a:latin typeface="Comic Sans MS" panose="030F0702030302020204" pitchFamily="66" charset="0"/>
                <a:ea typeface="Inter SemiBold" pitchFamily="34" charset="-122"/>
                <a:cs typeface="Inter SemiBold" pitchFamily="34" charset="-120"/>
              </a:rPr>
              <a:t>cobre seus custos</a:t>
            </a:r>
            <a:r>
              <a:rPr lang="en-US" sz="1500" dirty="0">
                <a:solidFill>
                  <a:srgbClr val="1A1A1B"/>
                </a:solidFill>
                <a:latin typeface="Comic Sans MS" panose="030F0702030302020204" pitchFamily="66" charset="0"/>
                <a:ea typeface="Inter SemiBold" pitchFamily="34" charset="-122"/>
                <a:cs typeface="Inter SemiBold" pitchFamily="34" charset="-120"/>
              </a:rPr>
              <a:t> e atrai clientes.</a:t>
            </a:r>
            <a:endParaRPr lang="en-US" sz="1500" dirty="0">
              <a:latin typeface="Comic Sans MS" panose="030F0702030302020204" pitchFamily="66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914900" y="2733154"/>
            <a:ext cx="3886200" cy="961504"/>
          </a:xfrm>
          <a:prstGeom prst="rect">
            <a:avLst/>
          </a:prstGeom>
          <a:solidFill>
            <a:srgbClr val="FFFFFF"/>
          </a:solidFill>
          <a:ln w="45720">
            <a:solidFill>
              <a:srgbClr val="1A1A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5057775" y="2818879"/>
            <a:ext cx="36004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B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GRANDE RISCO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57775" y="3083198"/>
            <a:ext cx="3600450" cy="500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B"/>
                </a:solidFill>
                <a:latin typeface="Comic Sans MS" panose="030F0702030302020204" pitchFamily="66" charset="0"/>
                <a:ea typeface="Inter SemiBold" pitchFamily="34" charset="-122"/>
                <a:cs typeface="Inter SemiBold" pitchFamily="34" charset="-120"/>
              </a:rPr>
              <a:t>Cobrar barato demais </a:t>
            </a:r>
            <a:r>
              <a:rPr lang="en-US" sz="1500" b="1" dirty="0">
                <a:solidFill>
                  <a:srgbClr val="FF007F"/>
                </a:solidFill>
                <a:latin typeface="Comic Sans MS" panose="030F0702030302020204" pitchFamily="66" charset="0"/>
                <a:ea typeface="Inter SemiBold" pitchFamily="34" charset="-122"/>
                <a:cs typeface="Inter SemiBold" pitchFamily="34" charset="-120"/>
              </a:rPr>
              <a:t>quebra o negócio</a:t>
            </a:r>
            <a:r>
              <a:rPr lang="en-US" sz="1500" dirty="0">
                <a:solidFill>
                  <a:srgbClr val="1A1A1B"/>
                </a:solidFill>
                <a:latin typeface="Comic Sans MS" panose="030F0702030302020204" pitchFamily="66" charset="0"/>
                <a:ea typeface="Inter SemiBold" pitchFamily="34" charset="-122"/>
                <a:cs typeface="Inter SemiBold" pitchFamily="34" charset="-120"/>
              </a:rPr>
              <a:t>. Cobrar caro afasta clientes.</a:t>
            </a:r>
            <a:endParaRPr lang="en-US" sz="1500" dirty="0">
              <a:latin typeface="Comic Sans MS" panose="030F0702030302020204" pitchFamily="66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914900" y="3694658"/>
            <a:ext cx="3886200" cy="961504"/>
          </a:xfrm>
          <a:prstGeom prst="rect">
            <a:avLst/>
          </a:prstGeom>
          <a:solidFill>
            <a:srgbClr val="FFFFFF"/>
          </a:solidFill>
          <a:ln w="45720">
            <a:solidFill>
              <a:srgbClr val="1A1A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5057775" y="3780383"/>
            <a:ext cx="36004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B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SUCESSO REAL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57775" y="4044702"/>
            <a:ext cx="3600450" cy="500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B"/>
                </a:solidFill>
                <a:latin typeface="Comic Sans MS" panose="030F0702030302020204" pitchFamily="66" charset="0"/>
                <a:ea typeface="Inter SemiBold" pitchFamily="34" charset="-122"/>
                <a:cs typeface="Arial" panose="020B0604020202020204" pitchFamily="34" charset="0"/>
              </a:rPr>
              <a:t>Dominar o preço é a diferença entre hobby e ter uma </a:t>
            </a:r>
            <a:r>
              <a:rPr lang="en-US" sz="1500" b="1" dirty="0">
                <a:solidFill>
                  <a:srgbClr val="FF007F"/>
                </a:solidFill>
                <a:latin typeface="Comic Sans MS" panose="030F0702030302020204" pitchFamily="66" charset="0"/>
                <a:ea typeface="Inter SemiBold" pitchFamily="34" charset="-122"/>
                <a:cs typeface="Arial" panose="020B0604020202020204" pitchFamily="34" charset="0"/>
              </a:rPr>
              <a:t>empresa de verdade</a:t>
            </a:r>
            <a:r>
              <a:rPr lang="en-US" sz="1500" dirty="0">
                <a:solidFill>
                  <a:srgbClr val="1A1A1B"/>
                </a:solidFill>
                <a:latin typeface="Comic Sans MS" panose="030F0702030302020204" pitchFamily="66" charset="0"/>
                <a:ea typeface="Inter SemiBold" pitchFamily="34" charset="-122"/>
                <a:cs typeface="Arial" panose="020B0604020202020204" pitchFamily="34" charset="0"/>
              </a:rPr>
              <a:t>.</a:t>
            </a:r>
            <a:endParaRPr lang="en-US" sz="1500" dirty="0"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pSp>
        <p:nvGrpSpPr>
          <p:cNvPr id="16" name="object 4">
            <a:extLst>
              <a:ext uri="{FF2B5EF4-FFF2-40B4-BE49-F238E27FC236}">
                <a16:creationId xmlns:a16="http://schemas.microsoft.com/office/drawing/2014/main" id="{712566E1-D623-A380-9094-DD06A059CBD8}"/>
              </a:ext>
            </a:extLst>
          </p:cNvPr>
          <p:cNvGrpSpPr/>
          <p:nvPr/>
        </p:nvGrpSpPr>
        <p:grpSpPr>
          <a:xfrm>
            <a:off x="7810500" y="266621"/>
            <a:ext cx="1212850" cy="512059"/>
            <a:chOff x="15363992" y="1047088"/>
            <a:chExt cx="3693160" cy="942975"/>
          </a:xfrm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3D179F6B-02CF-747C-D21A-E69363A2E33E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1AEB0150-7A79-C466-E619-3F1D002B0838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19" name="object 3">
            <a:extLst>
              <a:ext uri="{FF2B5EF4-FFF2-40B4-BE49-F238E27FC236}">
                <a16:creationId xmlns:a16="http://schemas.microsoft.com/office/drawing/2014/main" id="{54FD42F9-31D2-B377-A3EE-D0E0CC5E761F}"/>
              </a:ext>
            </a:extLst>
          </p:cNvPr>
          <p:cNvSpPr/>
          <p:nvPr/>
        </p:nvSpPr>
        <p:spPr>
          <a:xfrm>
            <a:off x="0" y="5051534"/>
            <a:ext cx="9144000" cy="9196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ECD63E03-7CD9-B53E-6987-7E394B27995B}"/>
              </a:ext>
            </a:extLst>
          </p:cNvPr>
          <p:cNvSpPr/>
          <p:nvPr/>
        </p:nvSpPr>
        <p:spPr>
          <a:xfrm>
            <a:off x="234950" y="91966"/>
            <a:ext cx="88900" cy="634999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047981" cy="5143500"/>
          </a:xfrm>
          <a:prstGeom prst="rect">
            <a:avLst/>
          </a:prstGeom>
          <a:solidFill>
            <a:srgbClr val="39FF14"/>
          </a:solidFill>
          <a:ln w="5486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1128713" y="1754572"/>
            <a:ext cx="7143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🚀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007269" y="2468947"/>
            <a:ext cx="957263" cy="414338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LUCRO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285750" y="3097597"/>
            <a:ext cx="2400300" cy="81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Level Up!
Você ganha mais do que gasta.</a:t>
            </a:r>
            <a:endParaRPr lang="en-US" sz="1600" dirty="0">
              <a:latin typeface="Comic Sans MS" panose="030F0702030302020204" pitchFamily="66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971800" y="0"/>
            <a:ext cx="3086100" cy="5143500"/>
          </a:xfrm>
          <a:prstGeom prst="rect">
            <a:avLst/>
          </a:prstGeom>
          <a:solidFill>
            <a:srgbClr val="007BFF"/>
          </a:solidFill>
          <a:ln w="5486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157663" y="1754572"/>
            <a:ext cx="7143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⚖️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702248" y="2468947"/>
            <a:ext cx="1625203" cy="41433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EQUILÍBRIO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295669" y="3097597"/>
            <a:ext cx="2438419" cy="81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Empate!
Contas pagas, mas sem sobras.</a:t>
            </a:r>
            <a:endParaRPr lang="en-US" sz="1600" dirty="0">
              <a:latin typeface="Comic Sans MS" panose="030F0702030302020204" pitchFamily="66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019837" y="0"/>
            <a:ext cx="3124219" cy="5143500"/>
          </a:xfrm>
          <a:prstGeom prst="rect">
            <a:avLst/>
          </a:prstGeom>
          <a:solidFill>
            <a:srgbClr val="FF007F"/>
          </a:solidFill>
          <a:ln w="5486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262738" y="1754572"/>
            <a:ext cx="7143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💀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6928768" y="2468947"/>
            <a:ext cx="1382316" cy="41433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PREJUÍZO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381713" y="3097597"/>
            <a:ext cx="2476481" cy="81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Game Over!
</a:t>
            </a:r>
            <a:r>
              <a:rPr lang="en-US" sz="1600" b="1" dirty="0" err="1">
                <a:solidFill>
                  <a:srgbClr val="FFFFFF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Você</a:t>
            </a:r>
            <a:r>
              <a:rPr lang="en-US" sz="1600" b="1" dirty="0">
                <a:solidFill>
                  <a:srgbClr val="FFFFFF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gasta</a:t>
            </a:r>
            <a:r>
              <a:rPr lang="en-US" sz="1600" b="1" dirty="0">
                <a:solidFill>
                  <a:srgbClr val="FFFFFF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mais</a:t>
            </a:r>
            <a:r>
              <a:rPr lang="en-US" sz="1600" b="1" dirty="0">
                <a:solidFill>
                  <a:srgbClr val="FFFFFF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 do </a:t>
            </a:r>
            <a:r>
              <a:rPr lang="en-US" sz="1600" b="1" dirty="0" err="1">
                <a:solidFill>
                  <a:srgbClr val="FFFFFF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que</a:t>
            </a:r>
            <a:r>
              <a:rPr lang="en-US" sz="1600" b="1" dirty="0">
                <a:solidFill>
                  <a:srgbClr val="FFFFFF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ganha</a:t>
            </a:r>
            <a:r>
              <a:rPr lang="en-US" sz="1600" b="1" dirty="0">
                <a:solidFill>
                  <a:srgbClr val="FFFFFF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.</a:t>
            </a:r>
            <a:endParaRPr lang="en-US" sz="1600" dirty="0">
              <a:latin typeface="Comic Sans MS" panose="030F0702030302020204" pitchFamily="66" charset="0"/>
            </a:endParaRPr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77B2A410-AFCF-3CF9-99EF-713F949C8089}"/>
              </a:ext>
            </a:extLst>
          </p:cNvPr>
          <p:cNvGrpSpPr/>
          <p:nvPr/>
        </p:nvGrpSpPr>
        <p:grpSpPr>
          <a:xfrm>
            <a:off x="7810500" y="266621"/>
            <a:ext cx="1212850" cy="512059"/>
            <a:chOff x="15363992" y="1047088"/>
            <a:chExt cx="3693160" cy="942975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EDC41253-332B-8FE6-460B-9EF25D0242C8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EB9065E-CFC6-6E7A-BD2D-F248CEF9E79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18" name="object 3">
            <a:extLst>
              <a:ext uri="{FF2B5EF4-FFF2-40B4-BE49-F238E27FC236}">
                <a16:creationId xmlns:a16="http://schemas.microsoft.com/office/drawing/2014/main" id="{0EAF6577-3AEF-CF16-0304-33B56741DF0F}"/>
              </a:ext>
            </a:extLst>
          </p:cNvPr>
          <p:cNvSpPr/>
          <p:nvPr/>
        </p:nvSpPr>
        <p:spPr>
          <a:xfrm>
            <a:off x="0" y="5051534"/>
            <a:ext cx="9144000" cy="9196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38B01039-9E5E-DE5F-3EF6-66B8AB683BC4}"/>
              </a:ext>
            </a:extLst>
          </p:cNvPr>
          <p:cNvSpPr/>
          <p:nvPr/>
        </p:nvSpPr>
        <p:spPr>
          <a:xfrm>
            <a:off x="234950" y="91966"/>
            <a:ext cx="88900" cy="634999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2939"/>
          </a:xfrm>
          <a:prstGeom prst="rect">
            <a:avLst/>
          </a:prstGeom>
          <a:solidFill>
            <a:srgbClr val="007B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37214"/>
            <a:ext cx="9144000" cy="85725"/>
          </a:xfrm>
          <a:prstGeom prst="rect">
            <a:avLst/>
          </a:prstGeom>
          <a:solidFill>
            <a:srgbClr val="1A1A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4085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META DE SOBREVIVÊNCIA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0" y="837214"/>
            <a:ext cx="3657600" cy="430628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3600450" y="837214"/>
            <a:ext cx="57150" cy="4306286"/>
          </a:xfrm>
          <a:prstGeom prst="rect">
            <a:avLst/>
          </a:prstGeom>
          <a:solidFill>
            <a:srgbClr val="1A1A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28625" y="1194402"/>
            <a:ext cx="1032272" cy="192881"/>
          </a:xfrm>
          <a:prstGeom prst="rect">
            <a:avLst/>
          </a:prstGeom>
          <a:noFill/>
          <a:ln/>
        </p:spPr>
        <p:txBody>
          <a:bodyPr wrap="none" lIns="127508" tIns="42545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CONCEITO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28625" y="1494439"/>
            <a:ext cx="29432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PONTO DE EQUILÍBRIO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28625" y="1880202"/>
            <a:ext cx="2943225" cy="1020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B"/>
                </a:solidFill>
                <a:latin typeface="Comic Sans MS" panose="030F0702030302020204" pitchFamily="66" charset="0"/>
                <a:ea typeface="Inter SemiBold" pitchFamily="34" charset="-122"/>
                <a:cs typeface="Inter SemiBold" pitchFamily="34" charset="-120"/>
              </a:rPr>
              <a:t>É o "marco zero" do seu negócio. O momento em que você paga todas as contas, mas ainda não sobrou nada no bolso.</a:t>
            </a:r>
            <a:endParaRPr lang="en-US" sz="1500" dirty="0">
              <a:latin typeface="Comic Sans MS" panose="030F0702030302020204" pitchFamily="66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14363" y="3160272"/>
            <a:ext cx="2571750" cy="1277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A1A1B"/>
                </a:solidFill>
                <a:latin typeface="Comic Sans MS" panose="030F0702030302020204" pitchFamily="66" charset="0"/>
                <a:ea typeface="Inter ExtraBold" pitchFamily="34" charset="-122"/>
                <a:cs typeface="Inter ExtraBold" pitchFamily="34" charset="-120"/>
              </a:rPr>
              <a:t>Por que importa?</a:t>
            </a:r>
            <a:r>
              <a:rPr lang="en-US" sz="1500" dirty="0">
                <a:solidFill>
                  <a:srgbClr val="1A1A1B"/>
                </a:solidFill>
                <a:latin typeface="Comic Sans MS" panose="030F0702030302020204" pitchFamily="66" charset="0"/>
                <a:ea typeface="Inter SemiBold" pitchFamily="34" charset="-122"/>
                <a:cs typeface="Inter SemiBold" pitchFamily="34" charset="-120"/>
              </a:rPr>
              <a:t>
Saber o seu ponto de equilíbrio é saber o mínimo que você precisa vender para não quebrar</a:t>
            </a:r>
            <a:r>
              <a:rPr lang="en-US" sz="1500" dirty="0">
                <a:solidFill>
                  <a:srgbClr val="1A1A1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657600" y="837214"/>
            <a:ext cx="5486400" cy="2181746"/>
          </a:xfrm>
          <a:prstGeom prst="rect">
            <a:avLst/>
          </a:prstGeom>
          <a:solidFill>
            <a:srgbClr val="39FF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3657600" y="2961810"/>
            <a:ext cx="5486400" cy="57150"/>
          </a:xfrm>
          <a:prstGeom prst="rect">
            <a:avLst/>
          </a:prstGeom>
          <a:solidFill>
            <a:srgbClr val="1A1A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3943350" y="1423002"/>
            <a:ext cx="49149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CUSTOS FIXOS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943350" y="1808764"/>
            <a:ext cx="4914900" cy="759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1B"/>
                </a:solidFill>
                <a:latin typeface="Comic Sans MS" panose="030F0702030302020204" pitchFamily="66" charset="0"/>
                <a:ea typeface="Inter SemiBold" pitchFamily="34" charset="-122"/>
                <a:cs typeface="Inter SemiBold" pitchFamily="34" charset="-120"/>
              </a:rPr>
              <a:t>São as contas que você paga todo mês, vendendo ou não. Exemplo: Aluguel, Internet, Assinaturas de Software.</a:t>
            </a:r>
            <a:endParaRPr lang="en-US" sz="1500" dirty="0">
              <a:latin typeface="Comic Sans MS" panose="030F0702030302020204" pitchFamily="66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657600" y="2990385"/>
            <a:ext cx="5486400" cy="2153171"/>
          </a:xfrm>
          <a:prstGeom prst="rect">
            <a:avLst/>
          </a:prstGeom>
          <a:solidFill>
            <a:srgbClr val="FF007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3943350" y="3576172"/>
            <a:ext cx="49149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CUSTOS VARIÁVEIS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943350" y="3961935"/>
            <a:ext cx="4914900" cy="759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mic Sans MS" panose="030F0702030302020204" pitchFamily="66" charset="0"/>
                <a:ea typeface="Inter SemiBold" pitchFamily="34" charset="-122"/>
                <a:cs typeface="Inter SemiBold" pitchFamily="34" charset="-120"/>
              </a:rPr>
              <a:t>São os gastos que só acontecem quando você produz ou vende. Exemplo: Matéria-prima, Embalagens, Comissões.</a:t>
            </a:r>
            <a:endParaRPr lang="en-US" sz="1500" dirty="0">
              <a:latin typeface="Comic Sans MS" panose="030F0702030302020204" pitchFamily="66" charset="0"/>
            </a:endParaRPr>
          </a:p>
        </p:txBody>
      </p:sp>
      <p:grpSp>
        <p:nvGrpSpPr>
          <p:cNvPr id="24" name="object 4">
            <a:extLst>
              <a:ext uri="{FF2B5EF4-FFF2-40B4-BE49-F238E27FC236}">
                <a16:creationId xmlns:a16="http://schemas.microsoft.com/office/drawing/2014/main" id="{35858B4A-5EB0-FAB9-85FC-AB0C7B23EA36}"/>
              </a:ext>
            </a:extLst>
          </p:cNvPr>
          <p:cNvGrpSpPr/>
          <p:nvPr/>
        </p:nvGrpSpPr>
        <p:grpSpPr>
          <a:xfrm>
            <a:off x="7810500" y="266621"/>
            <a:ext cx="1212850" cy="512059"/>
            <a:chOff x="15363992" y="1047088"/>
            <a:chExt cx="3693160" cy="942975"/>
          </a:xfrm>
        </p:grpSpPr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8BDED5B2-83F1-AFF9-B565-9FC6E1EEF666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26" name="object 6">
              <a:extLst>
                <a:ext uri="{FF2B5EF4-FFF2-40B4-BE49-F238E27FC236}">
                  <a16:creationId xmlns:a16="http://schemas.microsoft.com/office/drawing/2014/main" id="{9EC2C768-CEAF-534C-EC6F-1F42CBE1374D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27" name="object 3">
            <a:extLst>
              <a:ext uri="{FF2B5EF4-FFF2-40B4-BE49-F238E27FC236}">
                <a16:creationId xmlns:a16="http://schemas.microsoft.com/office/drawing/2014/main" id="{DA5F39F3-869B-B1B2-6A10-157953F1EA0C}"/>
              </a:ext>
            </a:extLst>
          </p:cNvPr>
          <p:cNvSpPr/>
          <p:nvPr/>
        </p:nvSpPr>
        <p:spPr>
          <a:xfrm>
            <a:off x="0" y="5051534"/>
            <a:ext cx="9144000" cy="9196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id="{A75E8601-409D-86CE-C7F6-41A9FFEB8EF2}"/>
              </a:ext>
            </a:extLst>
          </p:cNvPr>
          <p:cNvSpPr/>
          <p:nvPr/>
        </p:nvSpPr>
        <p:spPr>
          <a:xfrm>
            <a:off x="234950" y="91966"/>
            <a:ext cx="88900" cy="634999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4029075" y="0"/>
            <a:ext cx="85725" cy="5143500"/>
          </a:xfrm>
          <a:prstGeom prst="rect">
            <a:avLst/>
          </a:prstGeom>
          <a:solidFill>
            <a:srgbClr val="FF00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71988" y="147776"/>
            <a:ext cx="4314825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007B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EXEMPLO PRÁTICO:
BARRACA DE BRIGADEIROS</a:t>
            </a:r>
            <a:endParaRPr lang="en-US" sz="2450" dirty="0"/>
          </a:p>
        </p:txBody>
      </p:sp>
      <p:sp>
        <p:nvSpPr>
          <p:cNvPr id="7" name="Shape 3"/>
          <p:cNvSpPr/>
          <p:nvPr/>
        </p:nvSpPr>
        <p:spPr>
          <a:xfrm>
            <a:off x="4471988" y="1232344"/>
            <a:ext cx="4314825" cy="542925"/>
          </a:xfrm>
          <a:prstGeom prst="rect">
            <a:avLst/>
          </a:prstGeom>
          <a:solidFill>
            <a:srgbClr val="FFFFFF"/>
          </a:solidFill>
          <a:ln w="45720">
            <a:solidFill>
              <a:srgbClr val="1A1A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4650581" y="1409812"/>
            <a:ext cx="2393156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CUSTOS FIXOS (MÊS)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133034" y="1368684"/>
            <a:ext cx="1564482" cy="292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F007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R$ 3.000,00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4471988" y="1865076"/>
            <a:ext cx="4314825" cy="542925"/>
          </a:xfrm>
          <a:prstGeom prst="rect">
            <a:avLst/>
          </a:prstGeom>
          <a:solidFill>
            <a:srgbClr val="FFFFFF"/>
          </a:solidFill>
          <a:ln w="45720">
            <a:solidFill>
              <a:srgbClr val="1A1A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4650581" y="2068672"/>
            <a:ext cx="2490242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 POR UNIDADE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30663" y="2004215"/>
            <a:ext cx="976229" cy="292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F007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R$ 5,00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4471988" y="2523925"/>
            <a:ext cx="4314825" cy="542925"/>
          </a:xfrm>
          <a:prstGeom prst="rect">
            <a:avLst/>
          </a:prstGeom>
          <a:solidFill>
            <a:srgbClr val="FFFFFF"/>
          </a:solidFill>
          <a:ln w="45720">
            <a:solidFill>
              <a:srgbClr val="1A1A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4650581" y="2727521"/>
            <a:ext cx="2067921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B"/>
                </a:solidFill>
                <a:latin typeface="Montserrat Black" pitchFamily="34" charset="0"/>
              </a:rPr>
              <a:t>VENDAS ESTIMADAS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29400" y="2662243"/>
            <a:ext cx="2077492" cy="292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F007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1000 UNIDADES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4471987" y="3853308"/>
            <a:ext cx="4314825" cy="542925"/>
          </a:xfrm>
          <a:prstGeom prst="rect">
            <a:avLst/>
          </a:prstGeom>
          <a:solidFill>
            <a:srgbClr val="39FF14"/>
          </a:solidFill>
          <a:ln w="45720">
            <a:solidFill>
              <a:srgbClr val="1A1A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4650580" y="4006456"/>
            <a:ext cx="3281489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MARKUP (1/1-0,40) 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668146" y="3958981"/>
            <a:ext cx="974626" cy="292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1,66667</a:t>
            </a:r>
            <a:endParaRPr lang="en-US" sz="19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FAF887EC-FE06-9B07-1629-F2092DBDE801}"/>
              </a:ext>
            </a:extLst>
          </p:cNvPr>
          <p:cNvSpPr/>
          <p:nvPr/>
        </p:nvSpPr>
        <p:spPr>
          <a:xfrm>
            <a:off x="4471987" y="3190542"/>
            <a:ext cx="4314825" cy="542925"/>
          </a:xfrm>
          <a:prstGeom prst="rect">
            <a:avLst/>
          </a:prstGeom>
          <a:solidFill>
            <a:srgbClr val="FFFFFF"/>
          </a:solidFill>
          <a:ln w="45720">
            <a:solidFill>
              <a:srgbClr val="1A1A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2A718BFB-B872-BA0C-7691-5B4D61D68C27}"/>
              </a:ext>
            </a:extLst>
          </p:cNvPr>
          <p:cNvSpPr/>
          <p:nvPr/>
        </p:nvSpPr>
        <p:spPr>
          <a:xfrm>
            <a:off x="4650580" y="3270044"/>
            <a:ext cx="2067921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B"/>
                </a:solidFill>
                <a:latin typeface="Montserrat Black" pitchFamily="34" charset="0"/>
              </a:rPr>
              <a:t>DESPESAS VARIÁVEIS + MARGEM</a:t>
            </a:r>
            <a:endParaRPr lang="en-US" sz="13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4963BBA7-B855-4CD8-D1EF-FDDADA961F51}"/>
              </a:ext>
            </a:extLst>
          </p:cNvPr>
          <p:cNvSpPr/>
          <p:nvPr/>
        </p:nvSpPr>
        <p:spPr>
          <a:xfrm>
            <a:off x="8098972" y="3328860"/>
            <a:ext cx="564257" cy="292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F007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40%</a:t>
            </a:r>
            <a:endParaRPr lang="en-US" sz="190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1D38D5D6-C341-B764-D2B0-945AC4920CA7}"/>
              </a:ext>
            </a:extLst>
          </p:cNvPr>
          <p:cNvSpPr/>
          <p:nvPr/>
        </p:nvSpPr>
        <p:spPr>
          <a:xfrm>
            <a:off x="4471987" y="4528946"/>
            <a:ext cx="4314825" cy="542925"/>
          </a:xfrm>
          <a:prstGeom prst="rect">
            <a:avLst/>
          </a:prstGeom>
          <a:solidFill>
            <a:srgbClr val="FFFFFF"/>
          </a:solidFill>
          <a:ln w="45720">
            <a:solidFill>
              <a:srgbClr val="1A1A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8D7D400A-8EAC-48BC-A5A5-1D5B354AA934}"/>
              </a:ext>
            </a:extLst>
          </p:cNvPr>
          <p:cNvSpPr/>
          <p:nvPr/>
        </p:nvSpPr>
        <p:spPr>
          <a:xfrm>
            <a:off x="4650580" y="4608448"/>
            <a:ext cx="2067921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B"/>
                </a:solidFill>
                <a:latin typeface="Montserrat Black" pitchFamily="34" charset="0"/>
              </a:rPr>
              <a:t>PREÇO DE VENDA</a:t>
            </a:r>
            <a:endParaRPr lang="en-US" sz="13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C2C82864-21BE-AB1D-6C34-41D6DD1508C8}"/>
              </a:ext>
            </a:extLst>
          </p:cNvPr>
          <p:cNvSpPr/>
          <p:nvPr/>
        </p:nvSpPr>
        <p:spPr>
          <a:xfrm>
            <a:off x="7613262" y="4667264"/>
            <a:ext cx="1038746" cy="292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F007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R$ 13,33</a:t>
            </a:r>
            <a:endParaRPr lang="en-US" sz="1900" dirty="0"/>
          </a:p>
        </p:txBody>
      </p:sp>
      <p:grpSp>
        <p:nvGrpSpPr>
          <p:cNvPr id="31" name="object 4">
            <a:extLst>
              <a:ext uri="{FF2B5EF4-FFF2-40B4-BE49-F238E27FC236}">
                <a16:creationId xmlns:a16="http://schemas.microsoft.com/office/drawing/2014/main" id="{565053D3-B170-264A-7669-F478001F0A0F}"/>
              </a:ext>
            </a:extLst>
          </p:cNvPr>
          <p:cNvGrpSpPr/>
          <p:nvPr/>
        </p:nvGrpSpPr>
        <p:grpSpPr>
          <a:xfrm>
            <a:off x="7810500" y="266621"/>
            <a:ext cx="1212850" cy="512059"/>
            <a:chOff x="15363992" y="1047088"/>
            <a:chExt cx="3693160" cy="942975"/>
          </a:xfrm>
        </p:grpSpPr>
        <p:sp>
          <p:nvSpPr>
            <p:cNvPr id="32" name="object 5">
              <a:extLst>
                <a:ext uri="{FF2B5EF4-FFF2-40B4-BE49-F238E27FC236}">
                  <a16:creationId xmlns:a16="http://schemas.microsoft.com/office/drawing/2014/main" id="{AF4B2C72-7540-4B11-F5E2-F758D8EFE664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33" name="object 6">
              <a:extLst>
                <a:ext uri="{FF2B5EF4-FFF2-40B4-BE49-F238E27FC236}">
                  <a16:creationId xmlns:a16="http://schemas.microsoft.com/office/drawing/2014/main" id="{1CCCBBD1-1992-CBF3-2EB2-5FF7F78DE252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34" name="object 3">
            <a:extLst>
              <a:ext uri="{FF2B5EF4-FFF2-40B4-BE49-F238E27FC236}">
                <a16:creationId xmlns:a16="http://schemas.microsoft.com/office/drawing/2014/main" id="{8DA70392-04A3-B69D-2A84-D2C9E35FF125}"/>
              </a:ext>
            </a:extLst>
          </p:cNvPr>
          <p:cNvSpPr/>
          <p:nvPr/>
        </p:nvSpPr>
        <p:spPr>
          <a:xfrm>
            <a:off x="0" y="5051534"/>
            <a:ext cx="9144000" cy="9196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35" name="object 2">
            <a:extLst>
              <a:ext uri="{FF2B5EF4-FFF2-40B4-BE49-F238E27FC236}">
                <a16:creationId xmlns:a16="http://schemas.microsoft.com/office/drawing/2014/main" id="{7F9B4CA4-418D-F251-6EBC-FA04062E0EE4}"/>
              </a:ext>
            </a:extLst>
          </p:cNvPr>
          <p:cNvSpPr/>
          <p:nvPr/>
        </p:nvSpPr>
        <p:spPr>
          <a:xfrm>
            <a:off x="234950" y="91966"/>
            <a:ext cx="88900" cy="634999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287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64394"/>
          </a:xfrm>
          <a:prstGeom prst="rect">
            <a:avLst/>
          </a:prstGeom>
          <a:solidFill>
            <a:srgbClr val="FF007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792956"/>
            <a:ext cx="9144000" cy="7143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14313"/>
            <a:ext cx="8286750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CÁLCULO MÁGICO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1357313" y="1078706"/>
            <a:ext cx="6429375" cy="1307306"/>
          </a:xfrm>
          <a:prstGeom prst="rect">
            <a:avLst/>
          </a:prstGeom>
          <a:solidFill>
            <a:srgbClr val="000000"/>
          </a:solidFill>
          <a:ln w="54864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714500" y="1293019"/>
            <a:ext cx="5715000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600" dirty="0" err="1">
                <a:solidFill>
                  <a:srgbClr val="39FF14"/>
                </a:solidFill>
                <a:latin typeface="Montserrat Black" pitchFamily="34" charset="0"/>
              </a:rPr>
              <a:t>Margem</a:t>
            </a:r>
            <a:r>
              <a:rPr lang="en-US" sz="2600" dirty="0">
                <a:solidFill>
                  <a:srgbClr val="39FF14"/>
                </a:solidFill>
                <a:latin typeface="Montserrat Black" pitchFamily="34" charset="0"/>
              </a:rPr>
              <a:t> de </a:t>
            </a:r>
            <a:r>
              <a:rPr lang="en-US" sz="2600" dirty="0" err="1">
                <a:solidFill>
                  <a:srgbClr val="39FF14"/>
                </a:solidFill>
                <a:latin typeface="Montserrat Black" pitchFamily="34" charset="0"/>
              </a:rPr>
              <a:t>Contribuição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323433" y="2557463"/>
            <a:ext cx="6481626" cy="917257"/>
          </a:xfrm>
          <a:prstGeom prst="rect">
            <a:avLst/>
          </a:prstGeom>
          <a:solidFill>
            <a:srgbClr val="FFFFFF"/>
          </a:solidFill>
          <a:ln w="45720">
            <a:solidFill>
              <a:srgbClr val="007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417322" y="2609713"/>
            <a:ext cx="6204857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1600" b="1" dirty="0"/>
              <a:t>Margem de Contribuição Unitária: Preço de Venda – Custo de Matéria-Prima – Despesas Variáveis</a:t>
            </a:r>
            <a:endParaRPr lang="en-US" sz="1600" b="1" dirty="0"/>
          </a:p>
        </p:txBody>
      </p:sp>
      <p:sp>
        <p:nvSpPr>
          <p:cNvPr id="10" name="Text 7"/>
          <p:cNvSpPr/>
          <p:nvPr/>
        </p:nvSpPr>
        <p:spPr>
          <a:xfrm>
            <a:off x="1466363" y="3163711"/>
            <a:ext cx="615581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Inter Bold" pitchFamily="34" charset="0"/>
                <a:ea typeface="Inter Bold" pitchFamily="34" charset="-122"/>
              </a:rPr>
              <a:t>13,33 -5,00-2,67 = R$ 5,66 </a:t>
            </a:r>
            <a:endParaRPr lang="en-US" sz="1600" dirty="0">
              <a:highlight>
                <a:srgbClr val="FFFF00"/>
              </a:highlight>
            </a:endParaRPr>
          </a:p>
        </p:txBody>
      </p:sp>
      <p:grpSp>
        <p:nvGrpSpPr>
          <p:cNvPr id="24" name="object 4">
            <a:extLst>
              <a:ext uri="{FF2B5EF4-FFF2-40B4-BE49-F238E27FC236}">
                <a16:creationId xmlns:a16="http://schemas.microsoft.com/office/drawing/2014/main" id="{0A0E04D9-2FD3-B740-4313-20D6DF1ED2FE}"/>
              </a:ext>
            </a:extLst>
          </p:cNvPr>
          <p:cNvGrpSpPr/>
          <p:nvPr/>
        </p:nvGrpSpPr>
        <p:grpSpPr>
          <a:xfrm>
            <a:off x="7810500" y="266621"/>
            <a:ext cx="1212850" cy="512059"/>
            <a:chOff x="15363992" y="1047088"/>
            <a:chExt cx="3693160" cy="942975"/>
          </a:xfrm>
        </p:grpSpPr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32F42F12-4A43-5ED5-22F5-9DFB9C102D96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26" name="object 6">
              <a:extLst>
                <a:ext uri="{FF2B5EF4-FFF2-40B4-BE49-F238E27FC236}">
                  <a16:creationId xmlns:a16="http://schemas.microsoft.com/office/drawing/2014/main" id="{1925E2AD-3413-AD62-728C-ED2882F302F5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27" name="object 3">
            <a:extLst>
              <a:ext uri="{FF2B5EF4-FFF2-40B4-BE49-F238E27FC236}">
                <a16:creationId xmlns:a16="http://schemas.microsoft.com/office/drawing/2014/main" id="{4E7E0B47-A61A-3747-D672-0A5909F18C76}"/>
              </a:ext>
            </a:extLst>
          </p:cNvPr>
          <p:cNvSpPr/>
          <p:nvPr/>
        </p:nvSpPr>
        <p:spPr>
          <a:xfrm>
            <a:off x="0" y="5051534"/>
            <a:ext cx="9144000" cy="9196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id="{417DA94C-D304-FDAD-91A7-4F3817935358}"/>
              </a:ext>
            </a:extLst>
          </p:cNvPr>
          <p:cNvSpPr/>
          <p:nvPr/>
        </p:nvSpPr>
        <p:spPr>
          <a:xfrm>
            <a:off x="234950" y="91966"/>
            <a:ext cx="88900" cy="634999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58E0D-D053-A23A-5149-1AD209FB0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60F638B-7411-40D1-9C58-F627C6DBA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96B7C10-6DCE-E0BB-3B38-E00CB41C6B3F}"/>
              </a:ext>
            </a:extLst>
          </p:cNvPr>
          <p:cNvSpPr/>
          <p:nvPr/>
        </p:nvSpPr>
        <p:spPr>
          <a:xfrm>
            <a:off x="0" y="0"/>
            <a:ext cx="9144000" cy="864394"/>
          </a:xfrm>
          <a:prstGeom prst="rect">
            <a:avLst/>
          </a:prstGeom>
          <a:solidFill>
            <a:srgbClr val="FF007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741E442-0F04-0990-3223-857028033D3C}"/>
              </a:ext>
            </a:extLst>
          </p:cNvPr>
          <p:cNvSpPr/>
          <p:nvPr/>
        </p:nvSpPr>
        <p:spPr>
          <a:xfrm>
            <a:off x="0" y="792956"/>
            <a:ext cx="9144000" cy="7143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974E6D3-72C4-DFA2-CBB1-C07D19822498}"/>
              </a:ext>
            </a:extLst>
          </p:cNvPr>
          <p:cNvSpPr/>
          <p:nvPr/>
        </p:nvSpPr>
        <p:spPr>
          <a:xfrm>
            <a:off x="428625" y="214313"/>
            <a:ext cx="8286750" cy="392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Ponto de </a:t>
            </a:r>
            <a:r>
              <a:rPr lang="en-US" sz="2550" b="1" dirty="0" err="1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equilíbrio</a:t>
            </a:r>
            <a:endParaRPr lang="en-US" sz="25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B176324-194E-B31E-3C5D-B7D64FB0C74C}"/>
              </a:ext>
            </a:extLst>
          </p:cNvPr>
          <p:cNvSpPr/>
          <p:nvPr/>
        </p:nvSpPr>
        <p:spPr>
          <a:xfrm>
            <a:off x="1357312" y="2831374"/>
            <a:ext cx="6429375" cy="1307306"/>
          </a:xfrm>
          <a:prstGeom prst="rect">
            <a:avLst/>
          </a:prstGeom>
          <a:solidFill>
            <a:srgbClr val="000000"/>
          </a:solidFill>
          <a:ln w="54864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D83E2C0-F026-F369-A2D6-6E41727CAE25}"/>
              </a:ext>
            </a:extLst>
          </p:cNvPr>
          <p:cNvSpPr/>
          <p:nvPr/>
        </p:nvSpPr>
        <p:spPr>
          <a:xfrm>
            <a:off x="1443445" y="3045687"/>
            <a:ext cx="5986054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Ponto de Equilíbrio (Faturamento): Ponto de equilíbrio (unidades) x Preço de venda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530 x 13,33 = R$ 7064,90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EAD10795-4565-C6D1-983A-25558FC7BD13}"/>
              </a:ext>
            </a:extLst>
          </p:cNvPr>
          <p:cNvSpPr/>
          <p:nvPr/>
        </p:nvSpPr>
        <p:spPr>
          <a:xfrm>
            <a:off x="1357312" y="1157798"/>
            <a:ext cx="6429375" cy="1307306"/>
          </a:xfrm>
          <a:prstGeom prst="rect">
            <a:avLst/>
          </a:prstGeom>
          <a:solidFill>
            <a:srgbClr val="000000"/>
          </a:solidFill>
          <a:ln w="54864">
            <a:solidFill>
              <a:srgbClr val="39FF1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044AF4A4-8958-DD96-2A6A-9C8D14491002}"/>
              </a:ext>
            </a:extLst>
          </p:cNvPr>
          <p:cNvSpPr/>
          <p:nvPr/>
        </p:nvSpPr>
        <p:spPr>
          <a:xfrm>
            <a:off x="1443445" y="1372111"/>
            <a:ext cx="5986054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Ponto de Equilíbrio (Unidades): Custo Fixo Total Mensal / Margem de Contribuição Unitária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3000/5,66 = 530 brigadeiros por mês.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24" name="object 4">
            <a:extLst>
              <a:ext uri="{FF2B5EF4-FFF2-40B4-BE49-F238E27FC236}">
                <a16:creationId xmlns:a16="http://schemas.microsoft.com/office/drawing/2014/main" id="{BBD1551A-1E66-95AE-D4A2-84CE82C60563}"/>
              </a:ext>
            </a:extLst>
          </p:cNvPr>
          <p:cNvGrpSpPr/>
          <p:nvPr/>
        </p:nvGrpSpPr>
        <p:grpSpPr>
          <a:xfrm>
            <a:off x="7810500" y="266621"/>
            <a:ext cx="1212850" cy="512059"/>
            <a:chOff x="15363992" y="1047088"/>
            <a:chExt cx="3693160" cy="942975"/>
          </a:xfrm>
        </p:grpSpPr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94B6F5D7-24F4-BA3D-33D1-D5220210D27D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26" name="object 6">
              <a:extLst>
                <a:ext uri="{FF2B5EF4-FFF2-40B4-BE49-F238E27FC236}">
                  <a16:creationId xmlns:a16="http://schemas.microsoft.com/office/drawing/2014/main" id="{2DE51BB8-7110-CE92-573F-B47EF7B02DC6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27" name="object 3">
            <a:extLst>
              <a:ext uri="{FF2B5EF4-FFF2-40B4-BE49-F238E27FC236}">
                <a16:creationId xmlns:a16="http://schemas.microsoft.com/office/drawing/2014/main" id="{CDA7DE22-189B-1E40-6131-64BEC2BFFCB7}"/>
              </a:ext>
            </a:extLst>
          </p:cNvPr>
          <p:cNvSpPr/>
          <p:nvPr/>
        </p:nvSpPr>
        <p:spPr>
          <a:xfrm>
            <a:off x="0" y="5051534"/>
            <a:ext cx="9144000" cy="9196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id="{C98F6374-99CE-9430-EABF-EFA195C5F540}"/>
              </a:ext>
            </a:extLst>
          </p:cNvPr>
          <p:cNvSpPr/>
          <p:nvPr/>
        </p:nvSpPr>
        <p:spPr>
          <a:xfrm>
            <a:off x="234950" y="91966"/>
            <a:ext cx="88900" cy="634999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11211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0011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814388"/>
            <a:ext cx="9144000" cy="85725"/>
          </a:xfrm>
          <a:prstGeom prst="rect">
            <a:avLst/>
          </a:prstGeom>
          <a:solidFill>
            <a:srgbClr val="39FF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8286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DOMINE O JOGO!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428625" y="1100138"/>
            <a:ext cx="2857500" cy="3571875"/>
          </a:xfrm>
          <a:prstGeom prst="rect">
            <a:avLst/>
          </a:prstGeom>
          <a:solidFill>
            <a:srgbClr val="000000"/>
          </a:solidFill>
          <a:ln w="5486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100138"/>
            <a:ext cx="2743200" cy="34575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571875" y="1100138"/>
            <a:ext cx="5143500" cy="935831"/>
          </a:xfrm>
          <a:prstGeom prst="rect">
            <a:avLst/>
          </a:prstGeom>
          <a:solidFill>
            <a:srgbClr val="FFFFFF"/>
          </a:solidFill>
          <a:ln w="5486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3750469" y="1243013"/>
            <a:ext cx="478631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B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SEPARE AS CONTAS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750469" y="1521619"/>
            <a:ext cx="4786313" cy="43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Nunca misture seu dinheiro pessoal com o da empresa. Clareza é poder!</a:t>
            </a:r>
            <a:endParaRPr lang="en-US" sz="1300" dirty="0">
              <a:latin typeface="Comic Sans MS" panose="030F0702030302020204" pitchFamily="66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571875" y="2064544"/>
            <a:ext cx="5143500" cy="935831"/>
          </a:xfrm>
          <a:prstGeom prst="rect">
            <a:avLst/>
          </a:prstGeom>
          <a:solidFill>
            <a:srgbClr val="FFFFFF"/>
          </a:solidFill>
          <a:ln w="5486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3750469" y="2207419"/>
            <a:ext cx="478631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B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REVISE SEMPRE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50469" y="2486025"/>
            <a:ext cx="4786313" cy="434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Custos mudam. Busque fornecedores melhores e aumente sua margem de lucro.</a:t>
            </a:r>
            <a:endParaRPr lang="en-US" sz="1300" dirty="0">
              <a:latin typeface="Comic Sans MS" panose="030F0702030302020204" pitchFamily="66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571875" y="3028950"/>
            <a:ext cx="5143500" cy="935831"/>
          </a:xfrm>
          <a:prstGeom prst="rect">
            <a:avLst/>
          </a:prstGeom>
          <a:solidFill>
            <a:srgbClr val="FFFFFF"/>
          </a:solidFill>
          <a:ln w="5486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3750469" y="3171825"/>
            <a:ext cx="478631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B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META DIÁRIA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750469" y="3450431"/>
            <a:ext cx="4786313" cy="43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omic Sans MS" panose="030F0702030302020204" pitchFamily="66" charset="0"/>
                <a:ea typeface="Inter Bold" pitchFamily="34" charset="-122"/>
                <a:cs typeface="Inter Bold" pitchFamily="34" charset="-120"/>
              </a:rPr>
              <a:t>Use o Ponto de Equilíbrio como seu alvo. Bateu a meta? O resto é lucro!</a:t>
            </a:r>
            <a:endParaRPr lang="en-US" sz="1300" dirty="0">
              <a:latin typeface="Comic Sans MS" panose="030F0702030302020204" pitchFamily="66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571875" y="4707731"/>
            <a:ext cx="5143500" cy="435769"/>
          </a:xfrm>
          <a:prstGeom prst="rect">
            <a:avLst/>
          </a:prstGeom>
          <a:solidFill>
            <a:srgbClr val="39FF14"/>
          </a:solidFill>
          <a:ln w="457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3571875" y="4707731"/>
            <a:ext cx="5143500" cy="435769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BORA LUCRAR? O SUCESSO É SEU!</a:t>
            </a:r>
            <a:endParaRPr lang="en-US" sz="1500" dirty="0"/>
          </a:p>
        </p:txBody>
      </p:sp>
      <p:grpSp>
        <p:nvGrpSpPr>
          <p:cNvPr id="19" name="object 4">
            <a:extLst>
              <a:ext uri="{FF2B5EF4-FFF2-40B4-BE49-F238E27FC236}">
                <a16:creationId xmlns:a16="http://schemas.microsoft.com/office/drawing/2014/main" id="{F839C24F-9E72-31AF-0488-4A86A55DF941}"/>
              </a:ext>
            </a:extLst>
          </p:cNvPr>
          <p:cNvGrpSpPr/>
          <p:nvPr/>
        </p:nvGrpSpPr>
        <p:grpSpPr>
          <a:xfrm>
            <a:off x="7810500" y="266621"/>
            <a:ext cx="1212850" cy="512059"/>
            <a:chOff x="15363992" y="1047088"/>
            <a:chExt cx="3693160" cy="942975"/>
          </a:xfrm>
        </p:grpSpPr>
        <p:sp>
          <p:nvSpPr>
            <p:cNvPr id="20" name="object 5">
              <a:extLst>
                <a:ext uri="{FF2B5EF4-FFF2-40B4-BE49-F238E27FC236}">
                  <a16:creationId xmlns:a16="http://schemas.microsoft.com/office/drawing/2014/main" id="{DA921259-C9FF-3162-C6D4-8703C9875885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  <p:sp>
          <p:nvSpPr>
            <p:cNvPr id="21" name="object 6">
              <a:extLst>
                <a:ext uri="{FF2B5EF4-FFF2-40B4-BE49-F238E27FC236}">
                  <a16:creationId xmlns:a16="http://schemas.microsoft.com/office/drawing/2014/main" id="{496FC2BD-742B-8DA7-88E3-61E675A5EFAD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BR" noProof="0" dirty="0"/>
            </a:p>
          </p:txBody>
        </p:sp>
      </p:grpSp>
      <p:sp>
        <p:nvSpPr>
          <p:cNvPr id="22" name="object 3">
            <a:extLst>
              <a:ext uri="{FF2B5EF4-FFF2-40B4-BE49-F238E27FC236}">
                <a16:creationId xmlns:a16="http://schemas.microsoft.com/office/drawing/2014/main" id="{90527691-ACFD-4277-ECA3-38A5F0B82544}"/>
              </a:ext>
            </a:extLst>
          </p:cNvPr>
          <p:cNvSpPr/>
          <p:nvPr/>
        </p:nvSpPr>
        <p:spPr>
          <a:xfrm>
            <a:off x="0" y="5051534"/>
            <a:ext cx="9144000" cy="9196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DCEE78D4-9A42-D591-0109-15779AA28B58}"/>
              </a:ext>
            </a:extLst>
          </p:cNvPr>
          <p:cNvSpPr/>
          <p:nvPr/>
        </p:nvSpPr>
        <p:spPr>
          <a:xfrm>
            <a:off x="234950" y="91966"/>
            <a:ext cx="88900" cy="634999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57150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lang="pt-BR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2" y="1"/>
            <a:ext cx="9143358" cy="5143211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55469" y="2108425"/>
            <a:ext cx="2326271" cy="201912"/>
          </a:xfrm>
          <a:prstGeom prst="rect">
            <a:avLst/>
          </a:prstGeom>
        </p:spPr>
        <p:txBody>
          <a:bodyPr vert="horz" wrap="square" lIns="0" tIns="5776" rIns="0" bIns="0" rtlCol="0" anchor="ctr">
            <a:spAutoFit/>
          </a:bodyPr>
          <a:lstStyle/>
          <a:p>
            <a:pPr marL="5776">
              <a:spcBef>
                <a:spcPts val="46"/>
              </a:spcBef>
            </a:pPr>
            <a:r>
              <a:rPr sz="1274" spc="-11" dirty="0">
                <a:solidFill>
                  <a:srgbClr val="FFFFFF"/>
                </a:solidFill>
              </a:rPr>
              <a:t>DEPARTAMENTO</a:t>
            </a:r>
            <a:r>
              <a:rPr sz="1274" spc="-25" dirty="0">
                <a:solidFill>
                  <a:srgbClr val="FFFFFF"/>
                </a:solidFill>
              </a:rPr>
              <a:t> </a:t>
            </a:r>
            <a:r>
              <a:rPr sz="1274" dirty="0">
                <a:solidFill>
                  <a:srgbClr val="FFFFFF"/>
                </a:solidFill>
              </a:rPr>
              <a:t>REGIONAL</a:t>
            </a:r>
            <a:endParaRPr sz="1274"/>
          </a:p>
        </p:txBody>
      </p:sp>
      <p:sp>
        <p:nvSpPr>
          <p:cNvPr id="7" name="object 7"/>
          <p:cNvSpPr txBox="1"/>
          <p:nvPr/>
        </p:nvSpPr>
        <p:spPr>
          <a:xfrm>
            <a:off x="4653480" y="2322799"/>
            <a:ext cx="3171873" cy="659858"/>
          </a:xfrm>
          <a:prstGeom prst="rect">
            <a:avLst/>
          </a:prstGeom>
        </p:spPr>
        <p:txBody>
          <a:bodyPr vert="horz" wrap="square" lIns="0" tIns="5776" rIns="0" bIns="0" rtlCol="0">
            <a:spAutoFit/>
          </a:bodyPr>
          <a:lstStyle/>
          <a:p>
            <a:pPr marL="7509">
              <a:lnSpc>
                <a:spcPts val="1488"/>
              </a:lnSpc>
              <a:spcBef>
                <a:spcPts val="46"/>
              </a:spcBef>
            </a:pPr>
            <a:r>
              <a:rPr sz="1274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1274" b="1" spc="-14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1274" b="1" spc="-4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1274" b="1" spc="-11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1274" b="1" spc="-18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1274">
              <a:latin typeface="Montserrat ExtraBold"/>
              <a:cs typeface="Montserrat ExtraBold"/>
            </a:endParaRPr>
          </a:p>
          <a:p>
            <a:pPr marL="5776">
              <a:lnSpc>
                <a:spcPts val="3642"/>
              </a:lnSpc>
            </a:pPr>
            <a:r>
              <a:rPr sz="3070" spc="-11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3070" spc="-10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307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3070" spc="-46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3070" spc="3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307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2" y="1889278"/>
            <a:ext cx="9143358" cy="3253892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412</Words>
  <Application>Microsoft Office PowerPoint</Application>
  <PresentationFormat>Apresentação na tela (16:9)</PresentationFormat>
  <Paragraphs>68</Paragraphs>
  <Slides>10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20" baseType="lpstr">
      <vt:lpstr>Arial</vt:lpstr>
      <vt:lpstr>Comic Sans MS</vt:lpstr>
      <vt:lpstr>Inter Bold</vt:lpstr>
      <vt:lpstr>Inter ExtraBold</vt:lpstr>
      <vt:lpstr>Inter Medium</vt:lpstr>
      <vt:lpstr>Inter SemiBold</vt:lpstr>
      <vt:lpstr>Montserrat</vt:lpstr>
      <vt:lpstr>Montserrat Black</vt:lpstr>
      <vt:lpstr>Montserrat ExtraBold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DEPARTAMENTO REGIONAL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Jeison da Silva</cp:lastModifiedBy>
  <cp:revision>5</cp:revision>
  <dcterms:created xsi:type="dcterms:W3CDTF">2026-08-15T19:19:09Z</dcterms:created>
  <dcterms:modified xsi:type="dcterms:W3CDTF">2026-08-17T19:42:47Z</dcterms:modified>
</cp:coreProperties>
</file>