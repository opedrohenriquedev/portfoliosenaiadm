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2"/>
  </p:notesMasterIdLst>
  <p:sldIdLst>
    <p:sldId id="256" r:id="rId3"/>
    <p:sldId id="257" r:id="rId4"/>
    <p:sldId id="258" r:id="rId5"/>
    <p:sldId id="3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76" r:id="rId21"/>
    <p:sldId id="277" r:id="rId22"/>
    <p:sldId id="278" r:id="rId23"/>
    <p:sldId id="279" r:id="rId24"/>
    <p:sldId id="359" r:id="rId25"/>
    <p:sldId id="360" r:id="rId26"/>
    <p:sldId id="361" r:id="rId27"/>
    <p:sldId id="362" r:id="rId28"/>
    <p:sldId id="363" r:id="rId29"/>
    <p:sldId id="365" r:id="rId30"/>
    <p:sldId id="364" r:id="rId31"/>
    <p:sldId id="366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48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49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EDD5A-35BF-42D0-B257-6CDC02CBDB37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10BAB-5157-447D-8A4B-665C59EB22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41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55d2a4db08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55d2a4db08_0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55d2a4db0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55d2a4db0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55d2a4db08_0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55d2a4db08_0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55d2a4db08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55d2a4db08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3" name="Google Shape;13153;g139ae5f45ad_4_13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4" name="Google Shape;13154;g139ae5f45ad_4_13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65999-6369-0C3F-3AC6-CF9EA0BDE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D5ADB5-BCF9-048B-4FB6-9FE87C6A1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BDE0E5-474B-0676-BA89-4460AB40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9DDD1-ED5E-A112-636C-71518E81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3D1C7E-B6EB-9B96-4C49-560E0103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89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CC3BF-32EF-66D6-3B79-0BDD2327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38A51-76E2-8026-37D4-6C3FA7E1F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C2A54A-42E4-0988-B252-62955903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80AE7-CDCB-3931-EDFB-04B2951FB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9B6501-F8AC-A319-149A-50880B60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26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A1B5B-A12A-1845-0109-B7D14285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FAD46F-F80B-30B6-7AD4-156776E48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D5290-DCD8-BF41-DA82-EDFF30F7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A3303F-2DBC-14D3-850E-33B60657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816666-67F8-ACE6-B872-4707F71C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94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58D8B-F17B-7240-8BE9-7AB5B4D2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205D8-AC30-D863-B54C-BB2D76637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B40F53-9010-D994-75A3-ADCB8EE6A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421B13-D2BC-FCC5-E0CC-01270B84E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87EECD-B5BE-C390-42B2-24DD4A69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FF3D54-B601-476E-8763-40B1C0E0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89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A0323-7F7E-C62C-3EEA-381792E0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84553F-5EC8-CD82-2327-7A43785C8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6C2FC8-6E7E-3E8D-6BDE-AB697652C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11BA84-D55F-05EF-C6D5-AB14DE290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98679FF-4C0C-C764-1131-3087DE28C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07E3D0-59F9-B021-47D4-493AD6C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37B599-6DEE-B452-3B6E-DB2679AD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0857F2C-A470-8B34-2924-B01D0E07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66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8BE74-35EA-2969-AA7C-99FC20F9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620E9E-16D9-3046-6894-F760B4B7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2AC343-F6D6-E6D2-E247-80B3908F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3F7FB8-5001-7F29-8B1E-237539EB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8754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359D95-86CA-C237-7C12-786F1BFEC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FA3F67-12C1-7247-305D-A7D6C295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328B6C-83DE-279B-61CA-734FE2A1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05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F363B-604D-7AC1-3FF1-4C1CBC173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05E5BF-951F-6B5B-5D05-F507844C8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5EC421-9CCC-299B-077F-56B6518D3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C732F8-C131-CBEE-20B8-32B86F0D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DB9CD1-D04A-4DC7-8C3C-837D9CED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6C94CE-279E-5276-7AED-87CCF5C9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13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42EDF-D8D9-201E-F745-85C46407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004572-E3F0-EE71-017D-FCCDDBEEA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48B1B7-30DC-812F-FFC8-BFDF5201E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45E82A-11C6-CF8C-412A-49777C4F4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A5FF71-91FD-5BCE-94AD-07D3FB44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D2AC1A-B1CF-8989-EAB9-66F90D18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9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4C5C2-05FA-50F3-1239-3BD27E7B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E94EA8-258A-7203-1F91-FA0F08FA2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91448B-9AA5-CCA9-6E75-D00A8A80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9EC5C7-1246-4AE2-2AE6-FCE1D019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43B150-59B5-110A-1885-10A4117D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83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8F16E3-C5A4-E3D4-9559-33ADBC547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15F4CD-A289-FBDF-952C-A02D256A5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DC062A-D7C5-9DE6-1FAF-0F494C46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FF8B80-D94B-0F3F-24A2-0104BD209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A9DA6D-01E8-B04B-364B-604F5100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635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82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776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pt-B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212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740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198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0553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114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919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635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3029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341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-6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967033" y="719333"/>
            <a:ext cx="6890400" cy="4214400"/>
          </a:xfrm>
          <a:prstGeom prst="roundRect">
            <a:avLst>
              <a:gd name="adj" fmla="val 444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58036" y="945332"/>
            <a:ext cx="6508400" cy="3762400"/>
          </a:xfrm>
          <a:prstGeom prst="rect">
            <a:avLst/>
          </a:prstGeom>
          <a:effectLst>
            <a:outerShdw dist="28575" dir="21540000" algn="bl" rotWithShape="0">
              <a:schemeClr val="accent3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58000" y="5375400"/>
            <a:ext cx="6508400" cy="52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7">
                <a:latin typeface="Dosis"/>
                <a:ea typeface="Dosis"/>
                <a:cs typeface="Dosis"/>
                <a:sym typeface="Dosi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>
            <a:spLocks noGrp="1"/>
          </p:cNvSpPr>
          <p:nvPr>
            <p:ph type="pic" idx="2"/>
          </p:nvPr>
        </p:nvSpPr>
        <p:spPr>
          <a:xfrm>
            <a:off x="8032233" y="719333"/>
            <a:ext cx="3208800" cy="5419200"/>
          </a:xfrm>
          <a:prstGeom prst="roundRect">
            <a:avLst>
              <a:gd name="adj" fmla="val 818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92895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-6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5310600" y="719333"/>
            <a:ext cx="5930400" cy="2438400"/>
          </a:xfrm>
          <a:prstGeom prst="roundRect">
            <a:avLst>
              <a:gd name="adj" fmla="val 45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922400" y="845333"/>
            <a:ext cx="4706800" cy="2143200"/>
          </a:xfrm>
          <a:prstGeom prst="rect">
            <a:avLst/>
          </a:prstGeom>
          <a:ln>
            <a:noFill/>
          </a:ln>
          <a:effectLst>
            <a:outerShdw dist="19050" algn="bl" rotWithShape="0">
              <a:schemeClr val="accent3">
                <a:alpha val="6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711167" y="845333"/>
            <a:ext cx="2235200" cy="169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222167" y="3247484"/>
            <a:ext cx="32132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>
            <a:spLocks noGrp="1"/>
          </p:cNvSpPr>
          <p:nvPr>
            <p:ph type="pic" idx="3"/>
          </p:nvPr>
        </p:nvSpPr>
        <p:spPr>
          <a:xfrm>
            <a:off x="5310600" y="3369633"/>
            <a:ext cx="5930400" cy="2769200"/>
          </a:xfrm>
          <a:prstGeom prst="roundRect">
            <a:avLst>
              <a:gd name="adj" fmla="val 85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88469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9"/>
          <p:cNvPicPr preferRelativeResize="0"/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-6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/>
          <p:nvPr/>
        </p:nvSpPr>
        <p:spPr>
          <a:xfrm>
            <a:off x="960000" y="987900"/>
            <a:ext cx="5789600" cy="1586400"/>
          </a:xfrm>
          <a:prstGeom prst="roundRect">
            <a:avLst>
              <a:gd name="adj" fmla="val 1537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1083800" y="1371533"/>
            <a:ext cx="5542000" cy="926800"/>
          </a:xfrm>
          <a:prstGeom prst="rect">
            <a:avLst/>
          </a:prstGeom>
          <a:ln>
            <a:noFill/>
          </a:ln>
          <a:effectLst>
            <a:outerShdw dist="19050" dir="21540000" algn="bl" rotWithShape="0">
              <a:schemeClr val="accent3">
                <a:alpha val="5899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1083800" y="3097433"/>
            <a:ext cx="5542000" cy="26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>
            <a:spLocks noGrp="1"/>
          </p:cNvSpPr>
          <p:nvPr>
            <p:ph type="pic" idx="2"/>
          </p:nvPr>
        </p:nvSpPr>
        <p:spPr>
          <a:xfrm>
            <a:off x="7170067" y="3638900"/>
            <a:ext cx="4071200" cy="223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9"/>
          <p:cNvSpPr>
            <a:spLocks noGrp="1"/>
          </p:cNvSpPr>
          <p:nvPr>
            <p:ph type="pic" idx="3"/>
          </p:nvPr>
        </p:nvSpPr>
        <p:spPr>
          <a:xfrm>
            <a:off x="7170067" y="987900"/>
            <a:ext cx="4071200" cy="223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09071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/>
          <p:cNvPicPr preferRelativeResize="0"/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-6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/>
          <p:nvPr/>
        </p:nvSpPr>
        <p:spPr>
          <a:xfrm>
            <a:off x="960000" y="519733"/>
            <a:ext cx="10272000" cy="1046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"/>
          </p:nvPr>
        </p:nvSpPr>
        <p:spPr>
          <a:xfrm>
            <a:off x="1188167" y="2880333"/>
            <a:ext cx="2719600" cy="13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2"/>
          </p:nvPr>
        </p:nvSpPr>
        <p:spPr>
          <a:xfrm>
            <a:off x="4736200" y="2883300"/>
            <a:ext cx="2719600" cy="13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3"/>
          </p:nvPr>
        </p:nvSpPr>
        <p:spPr>
          <a:xfrm>
            <a:off x="8284233" y="2880333"/>
            <a:ext cx="2719600" cy="13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>
            <a:spLocks noGrp="1"/>
          </p:cNvSpPr>
          <p:nvPr>
            <p:ph type="pic" idx="4"/>
          </p:nvPr>
        </p:nvSpPr>
        <p:spPr>
          <a:xfrm>
            <a:off x="950900" y="4689467"/>
            <a:ext cx="10290000" cy="1449200"/>
          </a:xfrm>
          <a:prstGeom prst="roundRect">
            <a:avLst>
              <a:gd name="adj" fmla="val 1071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960000" y="731433"/>
            <a:ext cx="10272000" cy="646000"/>
          </a:xfrm>
          <a:prstGeom prst="rect">
            <a:avLst/>
          </a:prstGeom>
          <a:ln>
            <a:noFill/>
          </a:ln>
          <a:effectLst>
            <a:outerShdw dist="19050" algn="bl" rotWithShape="0">
              <a:schemeClr val="accent3">
                <a:alpha val="6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5"/>
          </p:nvPr>
        </p:nvSpPr>
        <p:spPr>
          <a:xfrm>
            <a:off x="1188167" y="2220733"/>
            <a:ext cx="2719600" cy="8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6"/>
          </p:nvPr>
        </p:nvSpPr>
        <p:spPr>
          <a:xfrm>
            <a:off x="4736200" y="2220733"/>
            <a:ext cx="2719600" cy="8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7"/>
          </p:nvPr>
        </p:nvSpPr>
        <p:spPr>
          <a:xfrm>
            <a:off x="8284233" y="2220733"/>
            <a:ext cx="2719600" cy="8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1449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960000" y="519733"/>
            <a:ext cx="10272000" cy="1046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-6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>
            <a:spLocks noGrp="1"/>
          </p:cNvSpPr>
          <p:nvPr>
            <p:ph type="subTitle" idx="1"/>
          </p:nvPr>
        </p:nvSpPr>
        <p:spPr>
          <a:xfrm>
            <a:off x="960784" y="3146917"/>
            <a:ext cx="3072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ubTitle" idx="2"/>
          </p:nvPr>
        </p:nvSpPr>
        <p:spPr>
          <a:xfrm>
            <a:off x="4558996" y="3146917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3"/>
          </p:nvPr>
        </p:nvSpPr>
        <p:spPr>
          <a:xfrm>
            <a:off x="959984" y="5119533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4"/>
          </p:nvPr>
        </p:nvSpPr>
        <p:spPr>
          <a:xfrm>
            <a:off x="4558996" y="5119533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5"/>
          </p:nvPr>
        </p:nvSpPr>
        <p:spPr>
          <a:xfrm>
            <a:off x="8162531" y="3146917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6"/>
          </p:nvPr>
        </p:nvSpPr>
        <p:spPr>
          <a:xfrm>
            <a:off x="8162531" y="5119533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960000" y="731433"/>
            <a:ext cx="10272000" cy="646000"/>
          </a:xfrm>
          <a:prstGeom prst="rect">
            <a:avLst/>
          </a:prstGeom>
          <a:ln>
            <a:noFill/>
          </a:ln>
          <a:effectLst>
            <a:outerShdw dist="19050" algn="bl" rotWithShape="0">
              <a:schemeClr val="accent3">
                <a:alpha val="6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7"/>
          </p:nvPr>
        </p:nvSpPr>
        <p:spPr>
          <a:xfrm>
            <a:off x="960784" y="2582051"/>
            <a:ext cx="3072400" cy="7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8"/>
          </p:nvPr>
        </p:nvSpPr>
        <p:spPr>
          <a:xfrm>
            <a:off x="4558996" y="2582051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9"/>
          </p:nvPr>
        </p:nvSpPr>
        <p:spPr>
          <a:xfrm>
            <a:off x="8162531" y="2582051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13"/>
          </p:nvPr>
        </p:nvSpPr>
        <p:spPr>
          <a:xfrm>
            <a:off x="959984" y="4554700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4"/>
          </p:nvPr>
        </p:nvSpPr>
        <p:spPr>
          <a:xfrm>
            <a:off x="4558996" y="4554700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15"/>
          </p:nvPr>
        </p:nvSpPr>
        <p:spPr>
          <a:xfrm>
            <a:off x="8162531" y="4554700"/>
            <a:ext cx="3074000" cy="7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33" b="1">
                <a:solidFill>
                  <a:schemeClr val="accent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3627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-6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1271600" y="1623717"/>
            <a:ext cx="3935200" cy="763600"/>
          </a:xfrm>
          <a:prstGeom prst="rect">
            <a:avLst/>
          </a:prstGeom>
          <a:ln>
            <a:noFill/>
          </a:ln>
          <a:effectLst>
            <a:outerShdw dist="19050" dir="21540000" algn="bl" rotWithShape="0">
              <a:schemeClr val="accent3">
                <a:alpha val="6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"/>
          </p:nvPr>
        </p:nvSpPr>
        <p:spPr>
          <a:xfrm>
            <a:off x="1271600" y="2479251"/>
            <a:ext cx="3935200" cy="1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>
            <a:spLocks noGrp="1"/>
          </p:cNvSpPr>
          <p:nvPr>
            <p:ph type="pic" idx="2"/>
          </p:nvPr>
        </p:nvSpPr>
        <p:spPr>
          <a:xfrm>
            <a:off x="6228600" y="719333"/>
            <a:ext cx="4885200" cy="5419200"/>
          </a:xfrm>
          <a:prstGeom prst="roundRect">
            <a:avLst>
              <a:gd name="adj" fmla="val 572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FB209E0-7491-7427-B2BF-D4CE84CB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F3C1B9-E40B-C2C1-B90A-BEF344F96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819343-24D3-C026-6EC5-2A30C51E3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12B4F-CBC7-F202-6339-5E6A84141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582E24-9F2A-72E3-D61D-AF993564C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168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10DDF8D-AD3D-4D8C-9ED4-DC0DFFB15BC2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9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9C80024-8214-4BA1-81BB-3DD201E16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57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lanalto.gov.br/ccivil_03/_ato2011-2014/2014/lei/l12965.htm" TargetMode="External"/><Relationship Id="rId2" Type="http://schemas.openxmlformats.org/officeDocument/2006/relationships/hyperlink" Target="http://www.planalto.gov.br/ccivil_03/_ato2015-2018/2018/lei/l13709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.gov.br/en/web/dou/-/portaria-mc-n-538-de-13-de-janeiro-de-2021-299075029" TargetMode="External"/><Relationship Id="rId5" Type="http://schemas.openxmlformats.org/officeDocument/2006/relationships/hyperlink" Target="http://in.gov.br/en/web/dou/-/instrucao-normativa-sgd/me-n-117-de-19-de-novembro-de-2020-289515596" TargetMode="External"/><Relationship Id="rId4" Type="http://schemas.openxmlformats.org/officeDocument/2006/relationships/hyperlink" Target="http://www.planalto.gov.br/ccivil_03/_ato2015-2018/2016/decreto/d8771.htm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16AA2-4AC7-FF60-F003-E15AF0C60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358FF6-413C-415A-7D11-A1663AE27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366383-20E3-F98C-1EF0-BFC428972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759BC-0CBA-6521-D085-F02704EB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1DED0C9-F932-BF03-2491-7F97524C2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80"/>
            <a:ext cx="12099235" cy="6805820"/>
          </a:xfrm>
        </p:spPr>
      </p:pic>
    </p:spTree>
    <p:extLst>
      <p:ext uri="{BB962C8B-B14F-4D97-AF65-F5344CB8AC3E}">
        <p14:creationId xmlns:p14="http://schemas.microsoft.com/office/powerpoint/2010/main" val="384237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4BA8C-FAC7-F831-8C09-E41CEC73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5CB9B3E-19DF-9705-5893-1CC192801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76469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48EB9-17FC-8F35-04D1-0CBAF637C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79" y="510898"/>
            <a:ext cx="4303643" cy="1304649"/>
          </a:xfrm>
        </p:spPr>
        <p:txBody>
          <a:bodyPr>
            <a:normAutofit fontScale="90000"/>
          </a:bodyPr>
          <a:lstStyle/>
          <a:p>
            <a:r>
              <a:rPr lang="pt-BR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Lei 14.289/2022</a:t>
            </a:r>
            <a:br>
              <a:rPr lang="pt-BR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</a:b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6" name="Espaço Reservado para Conteúdo 5" descr="Texto&#10;&#10;Descrição gerada automaticamente">
            <a:extLst>
              <a:ext uri="{FF2B5EF4-FFF2-40B4-BE49-F238E27FC236}">
                <a16:creationId xmlns:a16="http://schemas.microsoft.com/office/drawing/2014/main" id="{40E83B9E-08A2-EB6B-ED88-93B817E1F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652" y="155851"/>
            <a:ext cx="6522382" cy="6522382"/>
          </a:xfrm>
        </p:spPr>
      </p:pic>
      <p:sp>
        <p:nvSpPr>
          <p:cNvPr id="4" name="AutoShape 2" descr="#PraCegoVer Ilustração de três fitinhas representando o combate às doenças. Texto na imagem: Agora é lei. Pessoas com aids, hepatite, tuberculose e hanseníase tem direito a sigilo. O sigilo é obrigatório no âmbito de serviços de saúde, estabelecimentos de ensino, locais de trabalho, administração pública, segurança pública, processos judiciais e na mídia. &#10;">
            <a:extLst>
              <a:ext uri="{FF2B5EF4-FFF2-40B4-BE49-F238E27FC236}">
                <a16:creationId xmlns:a16="http://schemas.microsoft.com/office/drawing/2014/main" id="{9BEA299F-A833-972E-3CB5-62F4A5DE63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461B3542-0DE6-FD62-37BF-BCE8E9D018D5}"/>
              </a:ext>
            </a:extLst>
          </p:cNvPr>
          <p:cNvSpPr txBox="1">
            <a:spLocks/>
          </p:cNvSpPr>
          <p:nvPr/>
        </p:nvSpPr>
        <p:spPr>
          <a:xfrm>
            <a:off x="215349" y="1361799"/>
            <a:ext cx="5112025" cy="35415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70000"/>
              </a:lnSpc>
              <a:buNone/>
            </a:pPr>
            <a:r>
              <a:rPr lang="pt-BR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Obrigatoriedade de preservar o sigilo sobre a condição das pessoas que vivem com HIV (vírus da imunodeficiência humana), hepatites crônicas (HBV e HCV), hanseníase e tuberculose, vedando a divulgação de informações que permitam identificar essas pessoas em todas as esferas de sua vida, </a:t>
            </a:r>
            <a:r>
              <a:rPr lang="pt-BR" sz="2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inclusive no local de trabalho.</a:t>
            </a:r>
            <a:endParaRPr lang="pt-B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01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4F647-62C2-4D38-EEAE-E67F6DCD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94B9479-93CC-951E-69D5-C3B954C1E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07644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5876E-921B-102D-D135-07CD0A69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6E9FDBA-6264-9AEE-4025-6C599CE56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47113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7BEAB-1AAE-1DD7-67F9-4D89CC1A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D7EC8C8-D7EA-8ACE-50CF-6DE5E2C24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26677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45DF5-8433-4336-91A2-6CD12C22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1D949CD-4FD0-1F34-01BF-8075C5210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9478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B95F9-E997-DE96-FC55-1A6DE160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3C7F2E1-3C84-0144-03A3-2C511F06E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44535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56224-BBF6-504D-D82B-07DBE3D4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A895DD4-F4F0-0960-1E28-80BDA6FB2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18813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B18EB-C182-28DB-711C-B235785E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BD38C03-339E-CBAC-DE96-7ABEB426D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4B379EB-00BD-4B95-99DD-27BAF336C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6321401"/>
            <a:ext cx="590632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1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59343-D69B-E27E-CDBA-AF9867BC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422B901-53B9-AA6B-FCEC-B74CB0D1D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17016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A1258-EAF5-CF07-181D-67886357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8B195F-FB9B-3A49-68AD-328AF7A11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40196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F3419-7417-DBFE-5103-762C1CC2C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9CD3DA2-DDE3-02BC-38FB-38BD4259E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99235" cy="6858000"/>
          </a:xfrm>
        </p:spPr>
      </p:pic>
    </p:spTree>
    <p:extLst>
      <p:ext uri="{BB962C8B-B14F-4D97-AF65-F5344CB8AC3E}">
        <p14:creationId xmlns:p14="http://schemas.microsoft.com/office/powerpoint/2010/main" val="3460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A2F9C-17C6-CD64-3753-355F4C2E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647167E-803F-ECE1-BD1B-2E3163A58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6418" cy="6882985"/>
          </a:xfrm>
        </p:spPr>
      </p:pic>
    </p:spTree>
    <p:extLst>
      <p:ext uri="{BB962C8B-B14F-4D97-AF65-F5344CB8AC3E}">
        <p14:creationId xmlns:p14="http://schemas.microsoft.com/office/powerpoint/2010/main" val="324088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CAADA1-15D7-FD91-1113-58FEDFF9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Suspeito de roubar Neymar diz que investiu valor_ _reformei minha casa_-IscZopUFwIM_x264">
            <a:hlinkClick r:id="" action="ppaction://media"/>
            <a:extLst>
              <a:ext uri="{FF2B5EF4-FFF2-40B4-BE49-F238E27FC236}">
                <a16:creationId xmlns:a16="http://schemas.microsoft.com/office/drawing/2014/main" id="{FED8458A-68C9-68C2-5B41-F74E8E5644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4378" y="580803"/>
            <a:ext cx="10533142" cy="486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5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0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1D6DB-B204-99BA-B988-FA21420A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E7CF89B-909A-07E7-4E74-D04EFD669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59770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540D2-5D45-01DB-B19E-FF63A0D9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9513372-3656-5E58-7A43-AEC764AF30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65167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FEF8A-1330-74AA-5E41-646AE91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E86B76A-FE43-BFE6-81A4-58A5F29A3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35790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0A079-F383-9A0B-E1FB-2B8AD1DF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76AF61F-9422-A95F-2001-0106426B8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8024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7BB3E-2E8C-EBFE-2874-6E2ABF327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7" y="225979"/>
            <a:ext cx="2501348" cy="867326"/>
          </a:xfrm>
        </p:spPr>
        <p:txBody>
          <a:bodyPr>
            <a:normAutofit/>
          </a:bodyPr>
          <a:lstStyle/>
          <a:p>
            <a:r>
              <a:rPr lang="pt-BR" sz="3600" b="1" dirty="0">
                <a:latin typeface="Arial Narrow" panose="020B0606020202030204" pitchFamily="34" charset="0"/>
              </a:rPr>
              <a:t>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EF053E-2298-D8B1-9339-3E773FA93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7" y="891343"/>
            <a:ext cx="11009244" cy="487335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2019, a </a:t>
            </a:r>
            <a:r>
              <a:rPr lang="pt-BR" sz="20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Netshoes</a:t>
            </a:r>
            <a:r>
              <a:rPr lang="pt-BR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concordou em pagar R$ 500 mil de indenização por danos morais, conforme acordo celebrado com o Ministério Público do Distrito Federal, após </a:t>
            </a:r>
            <a:r>
              <a:rPr lang="pt-BR" sz="2000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informações de cerca de 2 milhões de clientes terem sido expostas na internet</a:t>
            </a:r>
            <a:r>
              <a:rPr lang="pt-BR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O caso veio a público no início de 2018 quando dados como nome completo, CPF, e-mail e histórico de compras vazaram devido a falhas em sistemas da empresa.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À época, a </a:t>
            </a:r>
            <a:r>
              <a:rPr lang="pt-BR" sz="20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Netsho</a:t>
            </a:r>
            <a:r>
              <a:rPr lang="pt-BR" sz="20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lang="pt-BR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disse em nota à imprensa que acionou “órgãos competentes para a mais breve apuração, esclarecimento e solução do ocorrido com total transparência”. A empresa também disse que “tem a proteção de dados como um de seus mais sólidos compromissos” e que não identificou “qualquer indício de invasão à sua estrutura tecnológica”.</a:t>
            </a:r>
          </a:p>
          <a:p>
            <a:pPr algn="just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Netshoes Logo – PNG e Vetor – Download de Logo">
            <a:extLst>
              <a:ext uri="{FF2B5EF4-FFF2-40B4-BE49-F238E27FC236}">
                <a16:creationId xmlns:a16="http://schemas.microsoft.com/office/drawing/2014/main" id="{CE1149A8-3713-28B4-2A6D-67ABE8668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461" y="5634069"/>
            <a:ext cx="9621078" cy="122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91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C3D50-D550-00CA-5EAA-8F7F4FB1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18"/>
            <a:ext cx="10515600" cy="642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3600" b="1" dirty="0">
                <a:latin typeface="Arial Narrow" panose="020B0606020202030204" pitchFamily="34" charset="0"/>
              </a:rPr>
              <a:t>Outras leis de proteção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7346A9-90AD-F4E4-9C32-C115E99E6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6"/>
            <a:ext cx="10515600" cy="5645425"/>
          </a:xfrm>
        </p:spPr>
        <p:txBody>
          <a:bodyPr>
            <a:normAutofit fontScale="92500"/>
          </a:bodyPr>
          <a:lstStyle/>
          <a:p>
            <a:pPr algn="just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2400" b="1" i="0" u="none" strike="noStrike" dirty="0">
                <a:effectLst/>
                <a:highlight>
                  <a:srgbClr val="FFFF00"/>
                </a:highlight>
                <a:latin typeface="Arial Narrow" panose="020B0606020202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Lei nº 13.709, de 14 de agosto de 2018</a:t>
            </a:r>
            <a:r>
              <a:rPr lang="pt-BR" sz="2400" b="1" i="0" dirty="0">
                <a:effectLst/>
                <a:highlight>
                  <a:srgbClr val="FFFF00"/>
                </a:highlight>
                <a:latin typeface="Arial Narrow" panose="020B0606020202030204" pitchFamily="34" charset="0"/>
              </a:rPr>
              <a:t> </a:t>
            </a:r>
            <a:r>
              <a:rPr lang="pt-BR" sz="2400" b="0" i="0" dirty="0">
                <a:effectLst/>
                <a:latin typeface="Arial Narrow" panose="020B0606020202030204" pitchFamily="34" charset="0"/>
              </a:rPr>
              <a:t>- Lei Geral de Proteção de Dados Pessoais.</a:t>
            </a:r>
          </a:p>
          <a:p>
            <a:pPr algn="just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2400" b="1" i="0" u="none" strike="noStrike" dirty="0">
                <a:effectLst/>
                <a:highlight>
                  <a:srgbClr val="FFFF00"/>
                </a:highlight>
                <a:latin typeface="Arial Narrow" panose="020B0606020202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Lei nº 12.965, de 23 de abril de 2014</a:t>
            </a:r>
            <a:r>
              <a:rPr lang="pt-BR" sz="2400" b="1" i="0" dirty="0">
                <a:effectLst/>
                <a:highlight>
                  <a:srgbClr val="FFFF00"/>
                </a:highlight>
                <a:latin typeface="Arial Narrow" panose="020B0606020202030204" pitchFamily="34" charset="0"/>
              </a:rPr>
              <a:t> </a:t>
            </a:r>
            <a:r>
              <a:rPr lang="pt-BR" sz="2400" b="0" i="0" dirty="0">
                <a:effectLst/>
                <a:latin typeface="Arial Narrow" panose="020B0606020202030204" pitchFamily="34" charset="0"/>
              </a:rPr>
              <a:t>- Marco Civil da Internet - Estabelece princípios, garantias, direitos e deveres para o uso da Internet no Brasil.</a:t>
            </a:r>
          </a:p>
          <a:p>
            <a:pPr algn="just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2400" b="1" i="0" u="none" strike="noStrike" dirty="0">
                <a:effectLst/>
                <a:highlight>
                  <a:srgbClr val="FFFF00"/>
                </a:highlight>
                <a:latin typeface="Arial Narrow" panose="020B0606020202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Decreto nº 8.771, de 11 de maio de 2016</a:t>
            </a:r>
            <a:r>
              <a:rPr lang="pt-BR" sz="2400" b="1" i="0" dirty="0">
                <a:effectLst/>
                <a:highlight>
                  <a:srgbClr val="FFFF00"/>
                </a:highlight>
                <a:latin typeface="Arial Narrow" panose="020B0606020202030204" pitchFamily="34" charset="0"/>
              </a:rPr>
              <a:t> </a:t>
            </a:r>
            <a:r>
              <a:rPr lang="pt-BR" sz="2400" b="0" i="0" dirty="0">
                <a:effectLst/>
                <a:latin typeface="Arial Narrow" panose="020B0606020202030204" pitchFamily="34" charset="0"/>
              </a:rPr>
              <a:t>- Regulamenta a </a:t>
            </a:r>
            <a:r>
              <a:rPr lang="pt-BR" sz="2400" b="1" i="0" u="none" strike="noStrike" dirty="0">
                <a:effectLst/>
                <a:latin typeface="Arial Narrow" panose="020B0606020202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Lei nº 12.965, de 23 de abril de 2014</a:t>
            </a:r>
            <a:r>
              <a:rPr lang="pt-BR" sz="2400" b="0" i="0" dirty="0">
                <a:effectLst/>
                <a:latin typeface="Arial Narrow" panose="020B0606020202030204" pitchFamily="34" charset="0"/>
              </a:rPr>
              <a:t>, para tratar das hipóteses admitidas de discriminação de pacotes de dados na internet e de degradação de tráfego, indicar procedimentos para guarda e proteção de dados por provedores de conexão e de aplicações, apontar medidas de transparência na requisição de dados cadastrais pela administração pública e estabelecer parâmetros para fiscalização e apuração de infrações.</a:t>
            </a:r>
          </a:p>
          <a:p>
            <a:pPr algn="just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2400" b="1" dirty="0">
                <a:highlight>
                  <a:srgbClr val="FFFF00"/>
                </a:highlight>
                <a:latin typeface="Arial Narrow" panose="020B0606020202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Instrução Normativa SGD nº 117, de 19 de novembro de 2020</a:t>
            </a:r>
            <a:r>
              <a:rPr lang="pt-BR" sz="2400" b="1" dirty="0">
                <a:highlight>
                  <a:srgbClr val="FFFF00"/>
                </a:highlight>
                <a:latin typeface="Arial Narrow" panose="020B0606020202030204" pitchFamily="34" charset="0"/>
              </a:rPr>
              <a:t> </a:t>
            </a:r>
            <a:r>
              <a:rPr lang="pt-BR" sz="2400" dirty="0">
                <a:latin typeface="Arial Narrow" panose="020B0606020202030204" pitchFamily="34" charset="0"/>
              </a:rPr>
              <a:t>- Dispõe sobre a indicação do Encarregado pelo Tratamento dos Dados Pessoais no âmbito dos órgãos e das entidades da administração pública federal direta, autárquica e fundacional.</a:t>
            </a:r>
          </a:p>
          <a:p>
            <a:pPr algn="just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2400" b="1" dirty="0">
                <a:highlight>
                  <a:srgbClr val="FFFF00"/>
                </a:highlight>
                <a:latin typeface="Arial Narrow" panose="020B0606020202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Portaria MC nº 538, de 13 de Janeiro de 2021</a:t>
            </a:r>
            <a:r>
              <a:rPr lang="pt-BR" sz="2400" b="1" dirty="0">
                <a:highlight>
                  <a:srgbClr val="FFFF00"/>
                </a:highlight>
                <a:latin typeface="Arial Narrow" panose="020B0606020202030204" pitchFamily="34" charset="0"/>
              </a:rPr>
              <a:t> </a:t>
            </a:r>
            <a:r>
              <a:rPr lang="pt-BR" sz="2400" dirty="0">
                <a:latin typeface="Arial Narrow" panose="020B0606020202030204" pitchFamily="34" charset="0"/>
              </a:rPr>
              <a:t>- Designa o Ouvidor-Geral para atuar como Encarregado pelo Tratamento de Dados Pessoais no âmbito do Ministério da Cidadania.</a:t>
            </a:r>
          </a:p>
          <a:p>
            <a:endParaRPr lang="pt-BR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33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2CC62-4A61-A0B4-A45E-948AA0FD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Diagrama, Texto&#10;&#10;Descrição gerada automaticamente com confiança média">
            <a:extLst>
              <a:ext uri="{FF2B5EF4-FFF2-40B4-BE49-F238E27FC236}">
                <a16:creationId xmlns:a16="http://schemas.microsoft.com/office/drawing/2014/main" id="{CE4FBCE6-73C0-03DA-D9F9-5D0D953F7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32544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72A99-CB44-4450-D83C-CE4600BF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Interface gráfica do usuário, Texto, Aplicativo, Word&#10;&#10;Descrição gerada automaticamente">
            <a:extLst>
              <a:ext uri="{FF2B5EF4-FFF2-40B4-BE49-F238E27FC236}">
                <a16:creationId xmlns:a16="http://schemas.microsoft.com/office/drawing/2014/main" id="{F6827658-D0E7-E33B-53E3-4F376A88A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8045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0094B-F9F1-054E-4C48-E32FF610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DF8637D6-DB3B-CB0C-A79C-D1BFCF264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08593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DF6D3-6856-AAFD-ED33-CE1CE0E9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3D993FD6-41E2-6327-6E79-8DD47A167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93257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9A69B-950A-C56A-7D62-08387F92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Interface gráfica do usuário, Aplicativo, Linha do tempo&#10;&#10;Descrição gerada automaticamente">
            <a:extLst>
              <a:ext uri="{FF2B5EF4-FFF2-40B4-BE49-F238E27FC236}">
                <a16:creationId xmlns:a16="http://schemas.microsoft.com/office/drawing/2014/main" id="{3557E671-4B9E-FB56-9E38-75A24DD2C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47544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8D8FC-98DD-47D7-2913-BB27E60F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Diagrama, Texto&#10;&#10;Descrição gerada automaticamente">
            <a:extLst>
              <a:ext uri="{FF2B5EF4-FFF2-40B4-BE49-F238E27FC236}">
                <a16:creationId xmlns:a16="http://schemas.microsoft.com/office/drawing/2014/main" id="{1F5FAF86-D695-2C37-486D-AFBBB46FE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91210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96F58-3093-D452-B8E0-32C87076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Diagrama, Texto&#10;&#10;Descrição gerada automaticamente">
            <a:extLst>
              <a:ext uri="{FF2B5EF4-FFF2-40B4-BE49-F238E27FC236}">
                <a16:creationId xmlns:a16="http://schemas.microsoft.com/office/drawing/2014/main" id="{53DF9EF2-5740-9FA4-BB45-B9F38128B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60994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92939-9AA9-62F3-2F31-FA765976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201A0F42-1DCE-1C1A-EA47-740070540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69527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/>
          <p:nvPr/>
        </p:nvSpPr>
        <p:spPr>
          <a:xfrm>
            <a:off x="950967" y="5137000"/>
            <a:ext cx="6890400" cy="10016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6" name="Google Shape;246;p36"/>
          <p:cNvSpPr txBox="1">
            <a:spLocks noGrp="1"/>
          </p:cNvSpPr>
          <p:nvPr>
            <p:ph type="ctrTitle"/>
          </p:nvPr>
        </p:nvSpPr>
        <p:spPr>
          <a:xfrm>
            <a:off x="1158036" y="945332"/>
            <a:ext cx="6508400" cy="376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5333" dirty="0">
                <a:latin typeface="Segoe UI Black" panose="020B0A02040204020203" pitchFamily="34" charset="0"/>
                <a:ea typeface="Segoe UI Black" panose="020B0A02040204020203" pitchFamily="34" charset="0"/>
              </a:rPr>
              <a:t>APR</a:t>
            </a:r>
            <a:br>
              <a:rPr lang="en" sz="5333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" sz="5333" dirty="0">
                <a:latin typeface="Segoe UI Black" panose="020B0A02040204020203" pitchFamily="34" charset="0"/>
                <a:ea typeface="Segoe UI Black" panose="020B0A02040204020203" pitchFamily="34" charset="0"/>
              </a:rPr>
              <a:t>Análise preliminar de riscos</a:t>
            </a:r>
            <a:endParaRPr sz="4267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47" name="Google Shape;247;p36"/>
          <p:cNvSpPr txBox="1">
            <a:spLocks noGrp="1"/>
          </p:cNvSpPr>
          <p:nvPr>
            <p:ph type="subTitle" idx="1"/>
          </p:nvPr>
        </p:nvSpPr>
        <p:spPr>
          <a:xfrm>
            <a:off x="1158000" y="5375400"/>
            <a:ext cx="65084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dirty="0"/>
              <a:t>Professora Gabriela Viana</a:t>
            </a:r>
            <a:endParaRPr dirty="0"/>
          </a:p>
        </p:txBody>
      </p:sp>
      <p:sp>
        <p:nvSpPr>
          <p:cNvPr id="249" name="Google Shape;249;p36"/>
          <p:cNvSpPr/>
          <p:nvPr/>
        </p:nvSpPr>
        <p:spPr>
          <a:xfrm>
            <a:off x="688567" y="5375400"/>
            <a:ext cx="524800" cy="5248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50" name="Google Shape;250;p36"/>
          <p:cNvSpPr/>
          <p:nvPr/>
        </p:nvSpPr>
        <p:spPr>
          <a:xfrm>
            <a:off x="4149833" y="456933"/>
            <a:ext cx="524800" cy="5248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251" name="Google Shape;251;p36"/>
          <p:cNvCxnSpPr/>
          <p:nvPr/>
        </p:nvCxnSpPr>
        <p:spPr>
          <a:xfrm>
            <a:off x="0" y="6522500"/>
            <a:ext cx="1219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2" name="Google Shape;252;p36"/>
          <p:cNvPicPr preferRelativeResize="0"/>
          <p:nvPr/>
        </p:nvPicPr>
        <p:blipFill rotWithShape="1">
          <a:blip r:embed="rId3">
            <a:alphaModFix/>
          </a:blip>
          <a:srcRect t="189" b="179"/>
          <a:stretch/>
        </p:blipFill>
        <p:spPr>
          <a:xfrm>
            <a:off x="375287" y="145788"/>
            <a:ext cx="1151365" cy="1147099"/>
          </a:xfrm>
          <a:prstGeom prst="rect">
            <a:avLst/>
          </a:prstGeom>
          <a:noFill/>
          <a:ln>
            <a:noFill/>
          </a:ln>
          <a:effectLst>
            <a:outerShdw dist="19050" algn="bl" rotWithShape="0">
              <a:schemeClr val="accent2"/>
            </a:outerShdw>
          </a:effectLst>
        </p:spPr>
      </p:pic>
      <p:pic>
        <p:nvPicPr>
          <p:cNvPr id="253" name="Google Shape;253;p36"/>
          <p:cNvPicPr preferRelativeResize="0"/>
          <p:nvPr/>
        </p:nvPicPr>
        <p:blipFill rotWithShape="1">
          <a:blip r:embed="rId4">
            <a:alphaModFix/>
          </a:blip>
          <a:srcRect t="179" b="189"/>
          <a:stretch/>
        </p:blipFill>
        <p:spPr>
          <a:xfrm>
            <a:off x="226060" y="1425761"/>
            <a:ext cx="615499" cy="613232"/>
          </a:xfrm>
          <a:prstGeom prst="rect">
            <a:avLst/>
          </a:prstGeom>
          <a:noFill/>
          <a:ln>
            <a:noFill/>
          </a:ln>
          <a:effectLst>
            <a:outerShdw dist="19050" algn="bl" rotWithShape="0">
              <a:schemeClr val="dk1"/>
            </a:outerShdw>
          </a:effectLst>
        </p:spPr>
      </p:pic>
      <p:pic>
        <p:nvPicPr>
          <p:cNvPr id="1026" name="Picture 2" descr="Crie uma fonte única de informações com um software de documentação técnica:  o Confluence">
            <a:extLst>
              <a:ext uri="{FF2B5EF4-FFF2-40B4-BE49-F238E27FC236}">
                <a16:creationId xmlns:a16="http://schemas.microsoft.com/office/drawing/2014/main" id="{80999CD7-9F68-4A85-B8BE-1F6C2C4C6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915" y="957801"/>
            <a:ext cx="4606085" cy="499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/>
          <p:nvPr/>
        </p:nvSpPr>
        <p:spPr>
          <a:xfrm>
            <a:off x="128304" y="175365"/>
            <a:ext cx="4815657" cy="4975844"/>
          </a:xfrm>
          <a:prstGeom prst="roundRect">
            <a:avLst>
              <a:gd name="adj" fmla="val 913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0" name="Google Shape;320;p39"/>
          <p:cNvSpPr txBox="1">
            <a:spLocks noGrp="1"/>
          </p:cNvSpPr>
          <p:nvPr>
            <p:ph type="title"/>
          </p:nvPr>
        </p:nvSpPr>
        <p:spPr>
          <a:xfrm>
            <a:off x="5922400" y="845333"/>
            <a:ext cx="4706800" cy="21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>
                <a:latin typeface="Segoe UI Black" panose="020B0A02040204020203" pitchFamily="34" charset="0"/>
                <a:ea typeface="Segoe UI Black" panose="020B0A02040204020203" pitchFamily="34" charset="0"/>
              </a:rPr>
              <a:t>O que é uma APR?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22" name="Google Shape;322;p39"/>
          <p:cNvSpPr txBox="1">
            <a:spLocks noGrp="1"/>
          </p:cNvSpPr>
          <p:nvPr>
            <p:ph type="subTitle" idx="1"/>
          </p:nvPr>
        </p:nvSpPr>
        <p:spPr>
          <a:xfrm>
            <a:off x="128304" y="1859430"/>
            <a:ext cx="4864729" cy="14766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 algn="just"/>
            <a:r>
              <a:rPr lang="pt-BR" sz="2800" dirty="0">
                <a:latin typeface="+mj-lt"/>
              </a:rPr>
              <a:t>Consiste em um estudo antecipado e detalhado de todas as fases do trabalho a fim de detectar os possíveis problemas que poderão acontecer durante a execução, que permite a identificação dos riscos envolvidos a cada passo da tarefa, e ainda propicia condição para evitá-los ou conviver com eles em segurança</a:t>
            </a:r>
            <a:endParaRPr sz="2800" dirty="0">
              <a:latin typeface="+mj-lt"/>
            </a:endParaRPr>
          </a:p>
        </p:txBody>
      </p:sp>
      <p:pic>
        <p:nvPicPr>
          <p:cNvPr id="323" name="Google Shape;323;p39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7132" t="22918" b="-7"/>
          <a:stretch/>
        </p:blipFill>
        <p:spPr>
          <a:xfrm>
            <a:off x="5310600" y="3369633"/>
            <a:ext cx="5930400" cy="2769200"/>
          </a:xfrm>
          <a:prstGeom prst="roundRect">
            <a:avLst>
              <a:gd name="adj" fmla="val 8572"/>
            </a:avLst>
          </a:prstGeom>
        </p:spPr>
      </p:pic>
      <p:cxnSp>
        <p:nvCxnSpPr>
          <p:cNvPr id="324" name="Google Shape;324;p39"/>
          <p:cNvCxnSpPr/>
          <p:nvPr/>
        </p:nvCxnSpPr>
        <p:spPr>
          <a:xfrm rot="10800000">
            <a:off x="9833" y="5435684"/>
            <a:ext cx="498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9"/>
          <p:cNvCxnSpPr/>
          <p:nvPr/>
        </p:nvCxnSpPr>
        <p:spPr>
          <a:xfrm>
            <a:off x="4982751" y="5000"/>
            <a:ext cx="0" cy="684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39"/>
          <p:cNvSpPr/>
          <p:nvPr/>
        </p:nvSpPr>
        <p:spPr>
          <a:xfrm>
            <a:off x="4737567" y="5190500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7" name="Google Shape;327;p39"/>
          <p:cNvSpPr/>
          <p:nvPr/>
        </p:nvSpPr>
        <p:spPr>
          <a:xfrm>
            <a:off x="10995833" y="1671733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/>
          <p:nvPr/>
        </p:nvSpPr>
        <p:spPr>
          <a:xfrm>
            <a:off x="960000" y="2983700"/>
            <a:ext cx="5789600" cy="2886400"/>
          </a:xfrm>
          <a:prstGeom prst="roundRect">
            <a:avLst>
              <a:gd name="adj" fmla="val 913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38" name="Google Shape;338;p40"/>
          <p:cNvSpPr txBox="1">
            <a:spLocks noGrp="1"/>
          </p:cNvSpPr>
          <p:nvPr>
            <p:ph type="subTitle" idx="1"/>
          </p:nvPr>
        </p:nvSpPr>
        <p:spPr>
          <a:xfrm>
            <a:off x="1083800" y="3097433"/>
            <a:ext cx="5542000" cy="265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 algn="just"/>
            <a:r>
              <a:rPr lang="pt-BR" sz="3200" dirty="0">
                <a:latin typeface="Open Sans" panose="020B0606030504020204" pitchFamily="34" charset="0"/>
              </a:rPr>
              <a:t>Determinar se os controles planejados ou existentes são adequados e cuja intenção é que os riscos sejam controlados antes do perigo ocorrer.</a:t>
            </a:r>
            <a:endParaRPr sz="3200" dirty="0"/>
          </a:p>
        </p:txBody>
      </p:sp>
      <p:sp>
        <p:nvSpPr>
          <p:cNvPr id="339" name="Google Shape;339;p40"/>
          <p:cNvSpPr txBox="1">
            <a:spLocks noGrp="1"/>
          </p:cNvSpPr>
          <p:nvPr>
            <p:ph type="title"/>
          </p:nvPr>
        </p:nvSpPr>
        <p:spPr>
          <a:xfrm>
            <a:off x="1083800" y="1371533"/>
            <a:ext cx="5542000" cy="9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5333" dirty="0">
                <a:latin typeface="Segoe UI Black" panose="020B0A02040204020203" pitchFamily="34" charset="0"/>
                <a:ea typeface="Segoe UI Black" panose="020B0A02040204020203" pitchFamily="34" charset="0"/>
              </a:rPr>
              <a:t>Objetivo</a:t>
            </a:r>
            <a:endParaRPr sz="5333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40" name="Google Shape;340;p4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286" b="1286"/>
          <a:stretch/>
        </p:blipFill>
        <p:spPr>
          <a:xfrm>
            <a:off x="7170067" y="3638900"/>
            <a:ext cx="4071200" cy="2231200"/>
          </a:xfrm>
          <a:prstGeom prst="roundRect">
            <a:avLst>
              <a:gd name="adj" fmla="val 9286"/>
            </a:avLst>
          </a:prstGeom>
        </p:spPr>
      </p:pic>
      <p:pic>
        <p:nvPicPr>
          <p:cNvPr id="341" name="Google Shape;341;p40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1286" b="1286"/>
          <a:stretch/>
        </p:blipFill>
        <p:spPr>
          <a:xfrm>
            <a:off x="7170067" y="987900"/>
            <a:ext cx="4071200" cy="2231200"/>
          </a:xfrm>
          <a:prstGeom prst="roundRect">
            <a:avLst>
              <a:gd name="adj" fmla="val 9729"/>
            </a:avLst>
          </a:prstGeom>
        </p:spPr>
      </p:pic>
      <p:cxnSp>
        <p:nvCxnSpPr>
          <p:cNvPr id="342" name="Google Shape;342;p40"/>
          <p:cNvCxnSpPr/>
          <p:nvPr/>
        </p:nvCxnSpPr>
        <p:spPr>
          <a:xfrm rot="10800000">
            <a:off x="6954200" y="133"/>
            <a:ext cx="0" cy="684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40"/>
          <p:cNvSpPr/>
          <p:nvPr/>
        </p:nvSpPr>
        <p:spPr>
          <a:xfrm>
            <a:off x="6709000" y="6138667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4" name="Google Shape;344;p40"/>
          <p:cNvSpPr/>
          <p:nvPr/>
        </p:nvSpPr>
        <p:spPr>
          <a:xfrm>
            <a:off x="715633" y="4181533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1"/>
          <p:cNvPicPr preferRelativeResize="0">
            <a:picLocks noGrp="1"/>
          </p:cNvPicPr>
          <p:nvPr>
            <p:ph type="pic" idx="4"/>
          </p:nvPr>
        </p:nvPicPr>
        <p:blipFill rotWithShape="1">
          <a:blip r:embed="rId3">
            <a:alphaModFix/>
          </a:blip>
          <a:srcRect t="40210" b="34752"/>
          <a:stretch/>
        </p:blipFill>
        <p:spPr>
          <a:xfrm>
            <a:off x="950900" y="4689467"/>
            <a:ext cx="10290000" cy="1449200"/>
          </a:xfrm>
          <a:prstGeom prst="roundRect">
            <a:avLst>
              <a:gd name="adj" fmla="val 16667"/>
            </a:avLst>
          </a:prstGeom>
        </p:spPr>
      </p:pic>
      <p:sp>
        <p:nvSpPr>
          <p:cNvPr id="353" name="Google Shape;353;p41"/>
          <p:cNvSpPr txBox="1">
            <a:spLocks noGrp="1"/>
          </p:cNvSpPr>
          <p:nvPr>
            <p:ph type="title"/>
          </p:nvPr>
        </p:nvSpPr>
        <p:spPr>
          <a:xfrm>
            <a:off x="923078" y="447967"/>
            <a:ext cx="10272000" cy="64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pt-BR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Critérios necessários para executar uma avaliação de risco eficaz:</a:t>
            </a:r>
            <a:endParaRPr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54" name="Google Shape;354;p41"/>
          <p:cNvSpPr/>
          <p:nvPr/>
        </p:nvSpPr>
        <p:spPr>
          <a:xfrm>
            <a:off x="950967" y="2063467"/>
            <a:ext cx="3194000" cy="2298000"/>
          </a:xfrm>
          <a:prstGeom prst="roundRect">
            <a:avLst>
              <a:gd name="adj" fmla="val 913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41"/>
          <p:cNvSpPr/>
          <p:nvPr/>
        </p:nvSpPr>
        <p:spPr>
          <a:xfrm>
            <a:off x="8047033" y="2063467"/>
            <a:ext cx="3194000" cy="2298000"/>
          </a:xfrm>
          <a:prstGeom prst="roundRect">
            <a:avLst>
              <a:gd name="adj" fmla="val 913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6" name="Google Shape;356;p41"/>
          <p:cNvSpPr/>
          <p:nvPr/>
        </p:nvSpPr>
        <p:spPr>
          <a:xfrm>
            <a:off x="4499000" y="2063467"/>
            <a:ext cx="3194000" cy="2298000"/>
          </a:xfrm>
          <a:prstGeom prst="roundRect">
            <a:avLst>
              <a:gd name="adj" fmla="val 913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7" name="Google Shape;357;p41"/>
          <p:cNvSpPr txBox="1">
            <a:spLocks noGrp="1"/>
          </p:cNvSpPr>
          <p:nvPr>
            <p:ph type="subTitle" idx="1"/>
          </p:nvPr>
        </p:nvSpPr>
        <p:spPr>
          <a:xfrm>
            <a:off x="950901" y="2605915"/>
            <a:ext cx="3194000" cy="157236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just"/>
            <a:r>
              <a:rPr lang="pt-BR" sz="2400" dirty="0">
                <a:latin typeface="+mj-lt"/>
              </a:rPr>
              <a:t>Significativos relacionados com cada atividade de trabalho. Considerar quem pode ser prejudicado e como.</a:t>
            </a:r>
            <a:endParaRPr sz="2400" dirty="0">
              <a:latin typeface="+mj-lt"/>
            </a:endParaRPr>
          </a:p>
          <a:p>
            <a:pPr marL="0" indent="0" algn="just"/>
            <a:endParaRPr sz="2400" dirty="0">
              <a:latin typeface="+mj-lt"/>
            </a:endParaRPr>
          </a:p>
        </p:txBody>
      </p:sp>
      <p:sp>
        <p:nvSpPr>
          <p:cNvPr id="358" name="Google Shape;358;p41"/>
          <p:cNvSpPr txBox="1">
            <a:spLocks noGrp="1"/>
          </p:cNvSpPr>
          <p:nvPr>
            <p:ph type="subTitle" idx="2"/>
          </p:nvPr>
        </p:nvSpPr>
        <p:spPr>
          <a:xfrm>
            <a:off x="4499000" y="2504667"/>
            <a:ext cx="3194000" cy="17228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just"/>
            <a:r>
              <a:rPr lang="pt-BR" sz="2400" dirty="0">
                <a:latin typeface="+mj-lt"/>
              </a:rPr>
              <a:t>Fazer uma estimativa do risco associado com cada perigo levantado e preparar um plano de ação.</a:t>
            </a:r>
            <a:endParaRPr sz="2400" dirty="0">
              <a:latin typeface="+mj-lt"/>
            </a:endParaRPr>
          </a:p>
        </p:txBody>
      </p:sp>
      <p:sp>
        <p:nvSpPr>
          <p:cNvPr id="359" name="Google Shape;359;p41"/>
          <p:cNvSpPr txBox="1">
            <a:spLocks noGrp="1"/>
          </p:cNvSpPr>
          <p:nvPr>
            <p:ph type="subTitle" idx="3"/>
          </p:nvPr>
        </p:nvSpPr>
        <p:spPr>
          <a:xfrm>
            <a:off x="8047033" y="2755400"/>
            <a:ext cx="3193867" cy="13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just"/>
            <a:r>
              <a:rPr lang="pt-BR" sz="2400" dirty="0">
                <a:latin typeface="+mj-lt"/>
              </a:rPr>
              <a:t>Reavaliar os riscos com a base coletada e verificar se os riscos são toleráveis.</a:t>
            </a:r>
            <a:endParaRPr sz="2400" dirty="0">
              <a:latin typeface="+mj-lt"/>
            </a:endParaRPr>
          </a:p>
        </p:txBody>
      </p:sp>
      <p:cxnSp>
        <p:nvCxnSpPr>
          <p:cNvPr id="360" name="Google Shape;360;p41"/>
          <p:cNvCxnSpPr/>
          <p:nvPr/>
        </p:nvCxnSpPr>
        <p:spPr>
          <a:xfrm>
            <a:off x="0" y="1825500"/>
            <a:ext cx="1219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1" name="Google Shape;361;p41"/>
          <p:cNvSpPr/>
          <p:nvPr/>
        </p:nvSpPr>
        <p:spPr>
          <a:xfrm>
            <a:off x="259867" y="1580300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2" name="Google Shape;362;p41"/>
          <p:cNvSpPr/>
          <p:nvPr/>
        </p:nvSpPr>
        <p:spPr>
          <a:xfrm>
            <a:off x="10987200" y="797133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6" name="Google Shape;366;p41"/>
          <p:cNvSpPr txBox="1">
            <a:spLocks noGrp="1"/>
          </p:cNvSpPr>
          <p:nvPr>
            <p:ph type="subTitle" idx="5"/>
          </p:nvPr>
        </p:nvSpPr>
        <p:spPr>
          <a:xfrm>
            <a:off x="1144525" y="2391314"/>
            <a:ext cx="2719600" cy="44570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 sz="1867" dirty="0">
                <a:solidFill>
                  <a:schemeClr val="tx1"/>
                </a:solidFill>
                <a:latin typeface="Open Sans" panose="020B0606030504020204" pitchFamily="34" charset="0"/>
              </a:rPr>
              <a:t>Identificar os perigos</a:t>
            </a:r>
            <a:endParaRPr sz="1867" dirty="0">
              <a:solidFill>
                <a:schemeClr val="tx1"/>
              </a:solidFill>
            </a:endParaRPr>
          </a:p>
        </p:txBody>
      </p:sp>
      <p:sp>
        <p:nvSpPr>
          <p:cNvPr id="367" name="Google Shape;367;p41"/>
          <p:cNvSpPr txBox="1">
            <a:spLocks noGrp="1"/>
          </p:cNvSpPr>
          <p:nvPr>
            <p:ph type="subTitle" idx="6"/>
          </p:nvPr>
        </p:nvSpPr>
        <p:spPr>
          <a:xfrm>
            <a:off x="4736200" y="2220734"/>
            <a:ext cx="2719600" cy="3345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1867" dirty="0">
                <a:solidFill>
                  <a:schemeClr val="tx1"/>
                </a:solidFill>
                <a:latin typeface="Open Sans" panose="020B0606030504020204" pitchFamily="34" charset="0"/>
              </a:rPr>
              <a:t>Determinar o risco</a:t>
            </a:r>
            <a:endParaRPr sz="1867" dirty="0">
              <a:solidFill>
                <a:schemeClr val="tx1"/>
              </a:solidFill>
              <a:latin typeface="Open Sans" panose="020B0606030504020204" pitchFamily="34" charset="0"/>
            </a:endParaRPr>
          </a:p>
        </p:txBody>
      </p:sp>
      <p:sp>
        <p:nvSpPr>
          <p:cNvPr id="368" name="Google Shape;368;p41"/>
          <p:cNvSpPr txBox="1">
            <a:spLocks noGrp="1"/>
          </p:cNvSpPr>
          <p:nvPr>
            <p:ph type="subTitle" idx="7"/>
          </p:nvPr>
        </p:nvSpPr>
        <p:spPr>
          <a:xfrm>
            <a:off x="8284233" y="2051133"/>
            <a:ext cx="2719600" cy="829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1867" dirty="0">
                <a:solidFill>
                  <a:schemeClr val="tx1"/>
                </a:solidFill>
                <a:latin typeface="Open Sans" panose="020B0606030504020204" pitchFamily="34" charset="0"/>
              </a:rPr>
              <a:t>Revisar o plano de ação</a:t>
            </a:r>
            <a:endParaRPr sz="1867" dirty="0">
              <a:solidFill>
                <a:schemeClr val="tx1"/>
              </a:solidFill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/>
          <p:cNvSpPr/>
          <p:nvPr/>
        </p:nvSpPr>
        <p:spPr>
          <a:xfrm>
            <a:off x="959984" y="2244267"/>
            <a:ext cx="3074000" cy="3894400"/>
          </a:xfrm>
          <a:prstGeom prst="roundRect">
            <a:avLst>
              <a:gd name="adj" fmla="val 905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67" name="Google Shape;467;p45"/>
          <p:cNvSpPr/>
          <p:nvPr/>
        </p:nvSpPr>
        <p:spPr>
          <a:xfrm>
            <a:off x="4558996" y="2244267"/>
            <a:ext cx="3074000" cy="3894400"/>
          </a:xfrm>
          <a:prstGeom prst="roundRect">
            <a:avLst>
              <a:gd name="adj" fmla="val 905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68" name="Google Shape;468;p45"/>
          <p:cNvSpPr/>
          <p:nvPr/>
        </p:nvSpPr>
        <p:spPr>
          <a:xfrm>
            <a:off x="8162531" y="2244267"/>
            <a:ext cx="3074000" cy="3894400"/>
          </a:xfrm>
          <a:prstGeom prst="roundRect">
            <a:avLst>
              <a:gd name="adj" fmla="val 9052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9050" algn="bl" rotWithShape="0">
              <a:schemeClr val="dk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75" name="Google Shape;475;p45"/>
          <p:cNvSpPr txBox="1">
            <a:spLocks noGrp="1"/>
          </p:cNvSpPr>
          <p:nvPr>
            <p:ph type="title"/>
          </p:nvPr>
        </p:nvSpPr>
        <p:spPr>
          <a:xfrm>
            <a:off x="959996" y="605651"/>
            <a:ext cx="10272000" cy="64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4267" dirty="0">
                <a:latin typeface="Segoe UI Black" panose="020B0A02040204020203" pitchFamily="34" charset="0"/>
                <a:ea typeface="Segoe UI Black" panose="020B0A02040204020203" pitchFamily="34" charset="0"/>
              </a:rPr>
              <a:t>Avaliação de riscos</a:t>
            </a:r>
            <a:endParaRPr sz="4267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76" name="Google Shape;476;p45"/>
          <p:cNvSpPr txBox="1">
            <a:spLocks noGrp="1"/>
          </p:cNvSpPr>
          <p:nvPr>
            <p:ph type="subTitle" idx="7"/>
          </p:nvPr>
        </p:nvSpPr>
        <p:spPr>
          <a:xfrm>
            <a:off x="955469" y="2794084"/>
            <a:ext cx="3051283" cy="76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 sz="2400" dirty="0">
                <a:solidFill>
                  <a:schemeClr val="tx1"/>
                </a:solidFill>
                <a:latin typeface="+mj-lt"/>
              </a:rPr>
              <a:t> Identificar os perigos</a:t>
            </a:r>
          </a:p>
        </p:txBody>
      </p:sp>
      <p:sp>
        <p:nvSpPr>
          <p:cNvPr id="477" name="Google Shape;477;p45"/>
          <p:cNvSpPr txBox="1">
            <a:spLocks noGrp="1"/>
          </p:cNvSpPr>
          <p:nvPr>
            <p:ph type="subTitle" idx="8"/>
          </p:nvPr>
        </p:nvSpPr>
        <p:spPr>
          <a:xfrm>
            <a:off x="4509855" y="2852268"/>
            <a:ext cx="3116396" cy="1542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 sz="2133" dirty="0">
                <a:solidFill>
                  <a:schemeClr val="tx1"/>
                </a:solidFill>
                <a:latin typeface="+mj-lt"/>
              </a:rPr>
              <a:t>Quantificar o risco a partir de cada perigo a probabilidade e gravidade do perigo</a:t>
            </a:r>
          </a:p>
          <a:p>
            <a:pPr marL="0" indent="0"/>
            <a:endParaRPr sz="2133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78" name="Google Shape;478;p45"/>
          <p:cNvSpPr txBox="1">
            <a:spLocks noGrp="1"/>
          </p:cNvSpPr>
          <p:nvPr>
            <p:ph type="subTitle" idx="9"/>
          </p:nvPr>
        </p:nvSpPr>
        <p:spPr>
          <a:xfrm>
            <a:off x="8162531" y="2794084"/>
            <a:ext cx="30740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 sz="2400" dirty="0">
                <a:solidFill>
                  <a:schemeClr val="tx1"/>
                </a:solidFill>
                <a:latin typeface="+mj-lt"/>
              </a:rPr>
              <a:t>Avaliar se o risco é tolerável</a:t>
            </a:r>
          </a:p>
        </p:txBody>
      </p:sp>
      <p:sp>
        <p:nvSpPr>
          <p:cNvPr id="479" name="Google Shape;479;p45"/>
          <p:cNvSpPr txBox="1">
            <a:spLocks noGrp="1"/>
          </p:cNvSpPr>
          <p:nvPr>
            <p:ph type="subTitle" idx="13"/>
          </p:nvPr>
        </p:nvSpPr>
        <p:spPr>
          <a:xfrm>
            <a:off x="959984" y="4554700"/>
            <a:ext cx="30740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 sz="2400" dirty="0">
                <a:solidFill>
                  <a:schemeClr val="tx1"/>
                </a:solidFill>
                <a:latin typeface="+mj-lt"/>
              </a:rPr>
              <a:t>Tratar</a:t>
            </a:r>
          </a:p>
        </p:txBody>
      </p:sp>
      <p:sp>
        <p:nvSpPr>
          <p:cNvPr id="480" name="Google Shape;480;p45"/>
          <p:cNvSpPr txBox="1">
            <a:spLocks noGrp="1"/>
          </p:cNvSpPr>
          <p:nvPr>
            <p:ph type="subTitle" idx="14"/>
          </p:nvPr>
        </p:nvSpPr>
        <p:spPr>
          <a:xfrm>
            <a:off x="4558996" y="4554700"/>
            <a:ext cx="30740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 sz="2400" dirty="0">
                <a:solidFill>
                  <a:schemeClr val="tx1"/>
                </a:solidFill>
                <a:latin typeface="+mj-lt"/>
              </a:rPr>
              <a:t>Eliminar</a:t>
            </a:r>
            <a:endParaRPr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1" name="Google Shape;481;p45"/>
          <p:cNvSpPr txBox="1">
            <a:spLocks noGrp="1"/>
          </p:cNvSpPr>
          <p:nvPr>
            <p:ph type="subTitle" idx="15"/>
          </p:nvPr>
        </p:nvSpPr>
        <p:spPr>
          <a:xfrm>
            <a:off x="8162531" y="4554700"/>
            <a:ext cx="30740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pt-BR" sz="2400" dirty="0">
                <a:solidFill>
                  <a:schemeClr val="tx1"/>
                </a:solidFill>
                <a:latin typeface="+mj-lt"/>
              </a:rPr>
              <a:t>Monitorar</a:t>
            </a:r>
            <a:endParaRPr sz="24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82" name="Google Shape;482;p45"/>
          <p:cNvCxnSpPr/>
          <p:nvPr/>
        </p:nvCxnSpPr>
        <p:spPr>
          <a:xfrm>
            <a:off x="1180984" y="4191467"/>
            <a:ext cx="263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3" name="Google Shape;483;p45"/>
          <p:cNvSpPr/>
          <p:nvPr/>
        </p:nvSpPr>
        <p:spPr>
          <a:xfrm>
            <a:off x="713167" y="801833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484" name="Google Shape;484;p45"/>
          <p:cNvCxnSpPr/>
          <p:nvPr/>
        </p:nvCxnSpPr>
        <p:spPr>
          <a:xfrm>
            <a:off x="4779996" y="4191467"/>
            <a:ext cx="263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5"/>
          <p:cNvCxnSpPr/>
          <p:nvPr/>
        </p:nvCxnSpPr>
        <p:spPr>
          <a:xfrm>
            <a:off x="8383531" y="4191467"/>
            <a:ext cx="263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45"/>
          <p:cNvCxnSpPr/>
          <p:nvPr/>
        </p:nvCxnSpPr>
        <p:spPr>
          <a:xfrm rot="10800000">
            <a:off x="-133" y="1924200"/>
            <a:ext cx="1223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7" name="Google Shape;487;p45"/>
          <p:cNvSpPr/>
          <p:nvPr/>
        </p:nvSpPr>
        <p:spPr>
          <a:xfrm>
            <a:off x="11494433" y="1679000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488" name="Google Shape;488;p45"/>
          <p:cNvCxnSpPr/>
          <p:nvPr/>
        </p:nvCxnSpPr>
        <p:spPr>
          <a:xfrm>
            <a:off x="11739633" y="0"/>
            <a:ext cx="0" cy="684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2"/>
          <p:cNvSpPr txBox="1">
            <a:spLocks noGrp="1"/>
          </p:cNvSpPr>
          <p:nvPr>
            <p:ph type="subTitle" idx="1"/>
          </p:nvPr>
        </p:nvSpPr>
        <p:spPr>
          <a:xfrm>
            <a:off x="36395" y="156943"/>
            <a:ext cx="5389173" cy="578432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Usar o cinto de segurança, independente da distância que se deslocar com o veículo;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Não usar celular ao dirigir;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Estacionar corretamente, e utilizar os cones para isolar a área;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Jamais estacionar na contra mão;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Ao posicionar a escada, certificar que ela esta bem firme; 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Verificar sempre a situação do piso ao colocar a escada;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Amarrar a escada ao poste;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Usar a chave de testes sempre que houver contato com poste/partes metálicas.</a:t>
            </a:r>
          </a:p>
        </p:txBody>
      </p:sp>
      <p:pic>
        <p:nvPicPr>
          <p:cNvPr id="589" name="Google Shape;589;p5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648" r="24643"/>
          <a:stretch/>
        </p:blipFill>
        <p:spPr>
          <a:xfrm>
            <a:off x="6228600" y="719333"/>
            <a:ext cx="4885200" cy="5419200"/>
          </a:xfrm>
          <a:prstGeom prst="roundRect">
            <a:avLst>
              <a:gd name="adj" fmla="val 7825"/>
            </a:avLst>
          </a:prstGeom>
        </p:spPr>
      </p:pic>
      <p:cxnSp>
        <p:nvCxnSpPr>
          <p:cNvPr id="590" name="Google Shape;590;p52"/>
          <p:cNvCxnSpPr/>
          <p:nvPr/>
        </p:nvCxnSpPr>
        <p:spPr>
          <a:xfrm>
            <a:off x="5814400" y="9867"/>
            <a:ext cx="0" cy="683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1" name="Google Shape;591;p52"/>
          <p:cNvSpPr/>
          <p:nvPr/>
        </p:nvSpPr>
        <p:spPr>
          <a:xfrm>
            <a:off x="5577464" y="32698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595" name="Google Shape;595;p52"/>
          <p:cNvCxnSpPr/>
          <p:nvPr/>
        </p:nvCxnSpPr>
        <p:spPr>
          <a:xfrm rot="10800000">
            <a:off x="2400" y="288316"/>
            <a:ext cx="581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A71517C-1B3B-40CC-B5B7-30E0AE818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755" y="409250"/>
            <a:ext cx="5348939" cy="5729084"/>
          </a:xfr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Usar o cinto de segurança e/ou linha da vida de forma correta, caso tenha duvida, acionar o supervisor e/ou técnico de segurança;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Seguir as orientações para uso do cinto de segurança, sempre colocando primeiro o cordão umbilical para depois passar o talabarte;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Usar capacete durante toda execução do serviço, inclusive no armário e cliente;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Uso do Óculos de segurança (Fumê ou transparente) em todas as atividades;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>
                <a:latin typeface="+mj-lt"/>
              </a:rPr>
              <a:t>Uso da luva de segurança quando for equipar Poste ou padrão.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200" dirty="0">
              <a:latin typeface="+mj-lt"/>
            </a:endParaRPr>
          </a:p>
        </p:txBody>
      </p:sp>
      <p:pic>
        <p:nvPicPr>
          <p:cNvPr id="5" name="Google Shape;589;p52">
            <a:extLst>
              <a:ext uri="{FF2B5EF4-FFF2-40B4-BE49-F238E27FC236}">
                <a16:creationId xmlns:a16="http://schemas.microsoft.com/office/drawing/2014/main" id="{0D191560-6967-4A5E-9E90-86264C1CFE4B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2">
            <a:alphaModFix/>
          </a:blip>
          <a:srcRect l="24644" r="24644"/>
          <a:stretch/>
        </p:blipFill>
        <p:spPr>
          <a:xfrm>
            <a:off x="6229351" y="719667"/>
            <a:ext cx="4885267" cy="5418667"/>
          </a:xfrm>
          <a:prstGeom prst="roundRect">
            <a:avLst>
              <a:gd name="adj" fmla="val 7825"/>
            </a:avLst>
          </a:prstGeom>
        </p:spPr>
      </p:pic>
      <p:cxnSp>
        <p:nvCxnSpPr>
          <p:cNvPr id="2" name="Google Shape;590;p52">
            <a:extLst>
              <a:ext uri="{FF2B5EF4-FFF2-40B4-BE49-F238E27FC236}">
                <a16:creationId xmlns:a16="http://schemas.microsoft.com/office/drawing/2014/main" id="{2429ABE3-91D1-AA21-DCB3-9D8FB7F31574}"/>
              </a:ext>
            </a:extLst>
          </p:cNvPr>
          <p:cNvCxnSpPr/>
          <p:nvPr/>
        </p:nvCxnSpPr>
        <p:spPr>
          <a:xfrm>
            <a:off x="5814400" y="9867"/>
            <a:ext cx="0" cy="683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595;p52">
            <a:extLst>
              <a:ext uri="{FF2B5EF4-FFF2-40B4-BE49-F238E27FC236}">
                <a16:creationId xmlns:a16="http://schemas.microsoft.com/office/drawing/2014/main" id="{E024245F-AD41-8560-955A-BE17D9F7CF9E}"/>
              </a:ext>
            </a:extLst>
          </p:cNvPr>
          <p:cNvCxnSpPr/>
          <p:nvPr/>
        </p:nvCxnSpPr>
        <p:spPr>
          <a:xfrm rot="10800000">
            <a:off x="2400" y="288316"/>
            <a:ext cx="581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591;p52">
            <a:extLst>
              <a:ext uri="{FF2B5EF4-FFF2-40B4-BE49-F238E27FC236}">
                <a16:creationId xmlns:a16="http://schemas.microsoft.com/office/drawing/2014/main" id="{EFA8D0FF-D25A-3ABE-581B-6CE90A475859}"/>
              </a:ext>
            </a:extLst>
          </p:cNvPr>
          <p:cNvSpPr/>
          <p:nvPr/>
        </p:nvSpPr>
        <p:spPr>
          <a:xfrm>
            <a:off x="5577464" y="32698"/>
            <a:ext cx="490400" cy="490400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81650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59AB3-9E1C-4110-AF48-5938EE31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4116A7-1EB9-44C9-B71E-66F97564A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5EDDE7B3-91D0-48D2-81D6-20EDB74DE938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B9CCDE9-4AAE-422C-9C1F-75CFB3991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81" y="114663"/>
            <a:ext cx="10729041" cy="662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566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32DB5-022D-4AE5-8E89-79E8B156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D584B8-D38F-4148-A36E-51840DA84D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4377A34E-E37D-43EC-8948-78F7D1CEE246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F8464A-53C4-47E5-BD9C-471F3DDA0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6" y="0"/>
            <a:ext cx="11129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99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4A117-DD45-4D7E-B025-6A78354D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20A2FB-7449-4C66-9364-ED457823EB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D8A7213A-FA62-4A1D-AFDB-BC7694887C08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896303C-DCE0-4556-9FFB-98B6DC26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54" y="0"/>
            <a:ext cx="10970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1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1BFA7-E8EC-7668-2DCE-03B040AA1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1CD1C4-AD6A-46E2-790B-DDAC26666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D3A668-9FAE-7306-5066-D8D5DF207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83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BC193-86A4-9327-88BE-424EC231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C2E326-0ED9-648E-C56C-B2B0F5BFF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23AFDC-01DB-EADB-CA92-E343C3D49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41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20BA8-0A73-E3AD-5661-0BB73D8B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5955D-9288-3FB9-0886-B056444FC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E357F3-ED9B-0F1A-F823-E4F344E16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693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EC346-2EFB-190E-7FD9-D0DD65A9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F5B522-6D39-06E9-2A6D-7A81EA40B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D709F4-2B39-13F4-BBF6-B4BF233B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69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70FAC-AD3E-050A-BBDA-2843A3BDC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7AC239-04EC-C450-8EBE-4394C4419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61C7E8-5EC8-4873-EF69-CFFEC06E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99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7FB46-691F-686F-3E5D-8A0AF192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F179D-BEF6-3BE9-421E-D95E67E2D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0FD683-7D00-0B8F-B56F-C41ADA95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679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DC17D-683D-6ABC-4498-8E013A65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C4AFF4-CB0E-5BF2-7F0B-1E70AC37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F613EF-0071-2507-6BCF-7E9ACF90A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647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4DBCE-92D3-6ECE-CACF-143EF5DA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1BA81-6815-4ACD-B717-950BBCF2F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7BB4E-923D-2009-ED4E-19B96FB86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26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6" name="Google Shape;13156;p8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418" y="2830767"/>
            <a:ext cx="2989165" cy="119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Picture 6" descr="Dúvidas">
            <a:extLst>
              <a:ext uri="{FF2B5EF4-FFF2-40B4-BE49-F238E27FC236}">
                <a16:creationId xmlns:a16="http://schemas.microsoft.com/office/drawing/2014/main" id="{4FE2B57D-1353-4E4C-9210-D900D95E2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979" y="1468803"/>
            <a:ext cx="2723927" cy="272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C41BB4E-45B7-40B8-B21A-2FFB1545273D}"/>
              </a:ext>
            </a:extLst>
          </p:cNvPr>
          <p:cNvSpPr/>
          <p:nvPr/>
        </p:nvSpPr>
        <p:spPr>
          <a:xfrm>
            <a:off x="3418449" y="2788130"/>
            <a:ext cx="3776951" cy="14046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highlight>
                <a:srgbClr val="C0C0C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BFE554-7CE2-41DA-A8D9-8D68E918023C}"/>
              </a:ext>
            </a:extLst>
          </p:cNvPr>
          <p:cNvSpPr txBox="1"/>
          <p:nvPr/>
        </p:nvSpPr>
        <p:spPr>
          <a:xfrm>
            <a:off x="3812345" y="2970864"/>
            <a:ext cx="3132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rgbClr val="004F8A"/>
                </a:solidFill>
              </a:rPr>
              <a:t>Dúvidas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i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775</Words>
  <Application>Microsoft Office PowerPoint</Application>
  <PresentationFormat>Widescreen</PresentationFormat>
  <Paragraphs>45</Paragraphs>
  <Slides>49</Slides>
  <Notes>7</Notes>
  <HiddenSlides>8</HiddenSlides>
  <MMClips>1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49</vt:i4>
      </vt:variant>
    </vt:vector>
  </HeadingPairs>
  <TitlesOfParts>
    <vt:vector size="64" baseType="lpstr">
      <vt:lpstr>Arial</vt:lpstr>
      <vt:lpstr>Arial Narrow</vt:lpstr>
      <vt:lpstr>Bebas Neue</vt:lpstr>
      <vt:lpstr>Calibri</vt:lpstr>
      <vt:lpstr>Calibri Light</vt:lpstr>
      <vt:lpstr>Dosis</vt:lpstr>
      <vt:lpstr>Michroma</vt:lpstr>
      <vt:lpstr>Open Sans</vt:lpstr>
      <vt:lpstr>Roboto</vt:lpstr>
      <vt:lpstr>Rockwell</vt:lpstr>
      <vt:lpstr>Rockwell Condensed</vt:lpstr>
      <vt:lpstr>Segoe UI Black</vt:lpstr>
      <vt:lpstr>Wingdings</vt:lpstr>
      <vt:lpstr>Tema do Office</vt:lpstr>
      <vt:lpstr>Tipo de Madeira</vt:lpstr>
      <vt:lpstr>Apresentação do PowerPoint</vt:lpstr>
      <vt:lpstr>Apresentação do PowerPoint</vt:lpstr>
      <vt:lpstr>Apresentação do PowerPoint</vt:lpstr>
      <vt:lpstr>Lei 14.289/2022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No Brasil</vt:lpstr>
      <vt:lpstr>Outras leis de proteção de dados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 Análise preliminar de riscos</vt:lpstr>
      <vt:lpstr>O que é uma APR?</vt:lpstr>
      <vt:lpstr>Objetivo</vt:lpstr>
      <vt:lpstr>Critérios necessários para executar uma avaliação de risco eficaz:</vt:lpstr>
      <vt:lpstr>Avaliação de riscos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Viana</dc:creator>
  <cp:lastModifiedBy>Gabriela Viana</cp:lastModifiedBy>
  <cp:revision>16</cp:revision>
  <dcterms:created xsi:type="dcterms:W3CDTF">2023-02-24T17:17:34Z</dcterms:created>
  <dcterms:modified xsi:type="dcterms:W3CDTF">2024-02-27T17:35:53Z</dcterms:modified>
</cp:coreProperties>
</file>