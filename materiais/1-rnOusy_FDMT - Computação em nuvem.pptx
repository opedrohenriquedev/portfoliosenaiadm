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9144000" cy="6858000"/>
  <p:embeddedFontLst>
    <p:embeddedFont>
      <p:font typeface="Montserrat"/>
      <p:regular r:id="rId39"/>
      <p:bold r:id="rId40"/>
      <p:italic r:id="rId41"/>
      <p:boldItalic r:id="rId42"/>
    </p:embeddedFont>
    <p:embeddedFont>
      <p:font typeface="Montserrat Medium"/>
      <p:regular r:id="rId43"/>
      <p:bold r:id="rId44"/>
      <p:italic r:id="rId45"/>
      <p:boldItalic r:id="rId46"/>
    </p:embeddedFont>
    <p:embeddedFont>
      <p:font typeface="Montserrat Light"/>
      <p:regular r:id="rId47"/>
      <p:bold r:id="rId48"/>
      <p:italic r:id="rId49"/>
      <p:boldItalic r:id="rId50"/>
    </p:embeddedFont>
    <p:embeddedFont>
      <p:font typeface="Quattrocento Sans"/>
      <p:regular r:id="rId51"/>
      <p:bold r:id="rId52"/>
      <p:italic r:id="rId53"/>
      <p:boldItalic r:id="rId54"/>
    </p:embeddedFont>
    <p:embeddedFont>
      <p:font typeface="Montserrat ExtraBold"/>
      <p:bold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g4mvcUtEzcKPh3njQ/axJ+t4Hg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44" Type="http://schemas.openxmlformats.org/officeDocument/2006/relationships/font" Target="fonts/MontserratMedium-bold.fntdata"/><Relationship Id="rId43" Type="http://schemas.openxmlformats.org/officeDocument/2006/relationships/font" Target="fonts/MontserratMedium-regular.fntdata"/><Relationship Id="rId46" Type="http://schemas.openxmlformats.org/officeDocument/2006/relationships/font" Target="fonts/MontserratMedium-boldItalic.fntdata"/><Relationship Id="rId45" Type="http://schemas.openxmlformats.org/officeDocument/2006/relationships/font" Target="fonts/Montserra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Light-bold.fntdata"/><Relationship Id="rId47" Type="http://schemas.openxmlformats.org/officeDocument/2006/relationships/font" Target="fonts/MontserratLight-regular.fntdata"/><Relationship Id="rId49" Type="http://schemas.openxmlformats.org/officeDocument/2006/relationships/font" Target="fonts/Montserra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Montserrat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QuattrocentoSans-regular.fntdata"/><Relationship Id="rId50" Type="http://schemas.openxmlformats.org/officeDocument/2006/relationships/font" Target="fonts/MontserratLight-boldItalic.fntdata"/><Relationship Id="rId53" Type="http://schemas.openxmlformats.org/officeDocument/2006/relationships/font" Target="fonts/QuattrocentoSans-italic.fntdata"/><Relationship Id="rId52" Type="http://schemas.openxmlformats.org/officeDocument/2006/relationships/font" Target="fonts/QuattrocentoSans-bold.fntdata"/><Relationship Id="rId11" Type="http://schemas.openxmlformats.org/officeDocument/2006/relationships/slide" Target="slides/slide6.xml"/><Relationship Id="rId55" Type="http://schemas.openxmlformats.org/officeDocument/2006/relationships/font" Target="fonts/MontserratExtraBold-bold.fntdata"/><Relationship Id="rId10" Type="http://schemas.openxmlformats.org/officeDocument/2006/relationships/slide" Target="slides/slide5.xml"/><Relationship Id="rId54" Type="http://schemas.openxmlformats.org/officeDocument/2006/relationships/font" Target="fonts/QuattrocentoSans-boldItalic.fntdata"/><Relationship Id="rId13" Type="http://schemas.openxmlformats.org/officeDocument/2006/relationships/slide" Target="slides/slide8.xml"/><Relationship Id="rId57" Type="http://customschemas.google.com/relationships/presentationmetadata" Target="metadata"/><Relationship Id="rId12" Type="http://schemas.openxmlformats.org/officeDocument/2006/relationships/slide" Target="slides/slide7.xml"/><Relationship Id="rId56" Type="http://schemas.openxmlformats.org/officeDocument/2006/relationships/font" Target="fonts/MontserratExtra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799" y="4343400"/>
            <a:ext cx="5610225" cy="424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/>
              <a:t>Pertencente e operado pela organização que usa recursos da nuvem. 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/>
              <a:t>As organizações criam um ambiente em nuvem em seu datacenter.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/>
              <a:t>Acesso por autoatendimento a recursos de computação fornecidos </a:t>
            </a:r>
            <a:br>
              <a:rPr lang="pt-BR" sz="2400"/>
            </a:br>
            <a:r>
              <a:rPr lang="pt-BR" sz="2400"/>
              <a:t>a usuários na organização. 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/>
              <a:t>A organização é responsável por operar os serviços que fornece.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Observação sobre ordem de conteúdo no Learn e SkillPipe: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7-10 https://docs.microsoft.com/pt-br/learn/modules/fundamental-azure-concepts/types-of-cloud-computing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1" name="Google Shape;171;p14:notes"/>
          <p:cNvSpPr txBox="1"/>
          <p:nvPr>
            <p:ph idx="3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Microsoft Corporation. Todos os direitos reservados. A MICROSOFT NÃO OFERECE GARANTIAS, EXPRESSAS, IMPLÍCITAS OU ESTATUTÁRIAS EM RELAÇÃO ÀS INFORMAÇÕES DESTA APRESENTAÇÃO.</a:t>
            </a:r>
            <a:endParaRPr/>
          </a:p>
        </p:txBody>
      </p:sp>
      <p:sp>
        <p:nvSpPr>
          <p:cNvPr id="173" name="Google Shape;173;p14:notes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6/8/2025 4:39 PM</a:t>
            </a:r>
            <a:endParaRPr/>
          </a:p>
        </p:txBody>
      </p:sp>
      <p:sp>
        <p:nvSpPr>
          <p:cNvPr id="174" name="Google Shape;174;p14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 que são nuvens públicas, privadas e híbridas? - https://azure.microsoft.com/pt-br/overview/what-are-private-public-hybrid-clouds/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Observação sobre ordem de conteúdo no Learn e SkillPipe: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7-10 https://docs.microsoft.com/pt-br/learn/modules/fundamental-azure-concepts/types-of-cloud-computing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3" name="Google Shape;183;p15:notes"/>
          <p:cNvSpPr txBox="1"/>
          <p:nvPr>
            <p:ph idx="3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Microsoft Corporation. Todos os direitos reservados. A MICROSOFT NÃO OFERECE GARANTIAS, EXPRESSAS, IMPLÍCITAS OU ESTATUTÁRIAS EM RELAÇÃO ÀS INFORMAÇÕES DESTA APRESENTAÇÃO.</a:t>
            </a:r>
            <a:endParaRPr/>
          </a:p>
        </p:txBody>
      </p:sp>
      <p:sp>
        <p:nvSpPr>
          <p:cNvPr id="185" name="Google Shape;185;p15:notes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6/8/2025 4:41 PM</a:t>
            </a:r>
            <a:endParaRPr/>
          </a:p>
        </p:txBody>
      </p:sp>
      <p:sp>
        <p:nvSpPr>
          <p:cNvPr id="186" name="Google Shape;186;p15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Os modelos de nuvem híbrida têm as seguintes características:</a:t>
            </a:r>
            <a:endParaRPr/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1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Localização do recurso</a:t>
            </a: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. Recursos específicos são executados ou usados em uma nuvem pública </a:t>
            </a:r>
            <a:b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e outros, em uma nuvem privada.</a:t>
            </a:r>
            <a:endParaRPr/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1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Custo e eficácia</a:t>
            </a: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. Os modelos de nuvem híbrida permitem que uma organização aproveite alguns </a:t>
            </a:r>
            <a:b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dos benefícios de custo, eficácia e escala disponíveis com um modelo de nuvem pública.</a:t>
            </a:r>
            <a:endParaRPr/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1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Controle</a:t>
            </a: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. As organizações mantêm o controle de gerenciamento em nuvens privadas.</a:t>
            </a:r>
            <a:endParaRPr/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1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Habilidades</a:t>
            </a: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. Ainda é necessário ter habilidades técnicas para manter a nuvem privada e garantir </a:t>
            </a:r>
            <a:b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pt-BR" sz="900">
                <a:latin typeface="Quattrocento Sans"/>
                <a:ea typeface="Quattrocento Sans"/>
                <a:cs typeface="Quattrocento Sans"/>
                <a:sym typeface="Quattrocento Sans"/>
              </a:rPr>
              <a:t>que os dois modelos de nuvem possam operar juntos.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Observação sobre ordem de conteúdo no Learn e SkillPipe: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7-10 https://docs.microsoft.com/pt-br/learn/modules/fundamental-azure-concepts/types-of-cloud-computing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5" name="Google Shape;195;p16:notes"/>
          <p:cNvSpPr txBox="1"/>
          <p:nvPr>
            <p:ph idx="3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Microsoft Corporation. Todos os direitos reservados. A MICROSOFT NÃO OFERECE GARANTIAS, EXPRESSAS, IMPLÍCITAS OU ESTATUTÁRIAS EM RELAÇÃO ÀS INFORMAÇÕES DESTA APRESENTAÇÃO.</a:t>
            </a:r>
            <a:endParaRPr/>
          </a:p>
        </p:txBody>
      </p:sp>
      <p:sp>
        <p:nvSpPr>
          <p:cNvPr id="197" name="Google Shape;197;p16:notes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6/8/2025 4:42 PM</a:t>
            </a:r>
            <a:endParaRPr/>
          </a:p>
        </p:txBody>
      </p:sp>
      <p:sp>
        <p:nvSpPr>
          <p:cNvPr id="198" name="Google Shape;198;p16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Observação sobre ordem de conteúdo no Learn e SkillPipe: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Slides 7-10 https://docs.microsoft.com/pt-br/learn/modules/fundamental-azure-concepts/types-of-cloud-computing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07" name="Google Shape;207;p17:notes"/>
          <p:cNvSpPr txBox="1"/>
          <p:nvPr>
            <p:ph idx="3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Microsoft Corporation. Todos os direitos reservados. A MICROSOFT NÃO OFERECE GARANTIAS, EXPRESSAS, IMPLÍCITAS OU ESTATUTÁRIAS EM RELAÇÃO ÀS INFORMAÇÕES DESTA APRESENTAÇÃO.</a:t>
            </a:r>
            <a:endParaRPr/>
          </a:p>
        </p:txBody>
      </p:sp>
      <p:sp>
        <p:nvSpPr>
          <p:cNvPr id="209" name="Google Shape;209;p17:notes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6/8/2025 3:50 PM</a:t>
            </a:r>
            <a:endParaRPr/>
          </a:p>
        </p:txBody>
      </p:sp>
      <p:sp>
        <p:nvSpPr>
          <p:cNvPr id="210" name="Google Shape;210;p17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Cenários de uso comum: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Exemplos de serviços de SaaS da Microsoft incluem o Microsoft Office 365, Skype e Microsoft Dynamics CRM Online.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 obter mais informações sobre SaaS, consulte </a:t>
            </a:r>
            <a:r>
              <a:rPr lang="pt-BR" sz="900" u="sng"/>
              <a:t>https://azure.microsoft.com/pt-br/overview/what-is-saas/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u="sng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Observação sobre ordem de conteúdo no Learn e SkillPipe: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pt-BR" sz="900"/>
              <a:t>Slides 16-23 https://docs.microsoft.com/pt-br/learn/modules/fundamental-azure-concepts/categories-of-cloud-services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18:notes"/>
          <p:cNvSpPr txBox="1"/>
          <p:nvPr>
            <p:ph idx="3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Microsoft Corporation. Todos os direitos reservados. A MICROSOFT NÃO OFERECE GARANTIAS, EXPRESSAS, IMPLÍCITAS OU ESTATUTÁRIAS EM RELAÇÃO ÀS INFORMAÇÕES DESTA APRESENTAÇÃO.</a:t>
            </a:r>
            <a:endParaRPr/>
          </a:p>
        </p:txBody>
      </p:sp>
      <p:sp>
        <p:nvSpPr>
          <p:cNvPr id="231" name="Google Shape;231;p18:notes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6/8/2025 3:50 PM</a:t>
            </a:r>
            <a:endParaRPr/>
          </a:p>
        </p:txBody>
      </p:sp>
      <p:sp>
        <p:nvSpPr>
          <p:cNvPr id="232" name="Google Shape;232;p18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O slide contém apenas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/>
              <a:t>Observação sobre ordem de conteúdo no Learn e SkillPipe: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pt-BR" sz="900"/>
              <a:t>Slides 16-23 https://docs.microsoft.com/pt-br/learn/modules/fundamental-azure-concepts/categories-of-cloud-services</a:t>
            </a:r>
            <a:endParaRPr/>
          </a:p>
        </p:txBody>
      </p:sp>
      <p:sp>
        <p:nvSpPr>
          <p:cNvPr id="247" name="Google Shape;247;p20:notes"/>
          <p:cNvSpPr txBox="1"/>
          <p:nvPr>
            <p:ph idx="3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:notes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 Microsoft Corporation. Todos os direitos reservados. A MICROSOFT NÃO OFERECE GARANTIAS, EXPRESSAS, IMPLÍCITAS OU ESTATUTÁRIAS EM RELAÇÃO ÀS INFORMAÇÕES DESTA APRESENTAÇÃO.</a:t>
            </a:r>
            <a:endParaRPr/>
          </a:p>
        </p:txBody>
      </p:sp>
      <p:sp>
        <p:nvSpPr>
          <p:cNvPr id="249" name="Google Shape;249;p20:notes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6/8/2025 3:50 PM</a:t>
            </a:r>
            <a:endParaRPr/>
          </a:p>
        </p:txBody>
      </p:sp>
      <p:sp>
        <p:nvSpPr>
          <p:cNvPr id="250" name="Google Shape;250;p20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serviços em azul o cliente precisa comprar e gerenciar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Enquanto os itens em vermelho são fornecidos pelo provedor contratado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É vantajoso para o cliente, pois ele economiza com infraestrutura local, compra e troca atualização de equipamentos que em geral são de custo elevado</a:t>
            </a:r>
            <a:r>
              <a:rPr lang="pt-BR"/>
              <a:t>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Economiza na conta de energia e não precisa ter geradores ou nobreaks de alto custo e também não precisa se preocupar com a segurança dos equipamentos, dos dados ou quedas de energia, que mesmo rápidas causam transtornos ao serviços da empresa ou comércio.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8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9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0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2" type="sldNum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1">
  <p:cSld name="Layout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6"/>
          <p:cNvSpPr txBox="1"/>
          <p:nvPr>
            <p:ph idx="1" type="body"/>
          </p:nvPr>
        </p:nvSpPr>
        <p:spPr>
          <a:xfrm>
            <a:off x="1785060" y="2074737"/>
            <a:ext cx="8915515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Montserrat"/>
              <a:buNone/>
              <a:defRPr b="1" sz="3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2" type="body"/>
          </p:nvPr>
        </p:nvSpPr>
        <p:spPr>
          <a:xfrm>
            <a:off x="1785061" y="3165925"/>
            <a:ext cx="349672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E51E3C"/>
              </a:buClr>
              <a:buSzPts val="1500"/>
              <a:buFont typeface="Montserrat"/>
              <a:buNone/>
              <a:defRPr b="1" sz="1500">
                <a:solidFill>
                  <a:srgbClr val="E51E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3" type="body"/>
          </p:nvPr>
        </p:nvSpPr>
        <p:spPr>
          <a:xfrm>
            <a:off x="1784351" y="3686177"/>
            <a:ext cx="8323263" cy="899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4" type="body"/>
          </p:nvPr>
        </p:nvSpPr>
        <p:spPr>
          <a:xfrm rot="-5400000">
            <a:off x="-195444" y="2728976"/>
            <a:ext cx="1367759" cy="12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88"/>
              <a:buFont typeface="Montserrat Medium"/>
              <a:buNone/>
              <a:defRPr b="0" sz="788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7"/>
          <p:cNvSpPr txBox="1"/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" type="body"/>
          </p:nvPr>
        </p:nvSpPr>
        <p:spPr>
          <a:xfrm>
            <a:off x="712960" y="2035936"/>
            <a:ext cx="103725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2" type="sldNum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 txBox="1"/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2" type="sldNum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72320" y="9208"/>
            <a:ext cx="2519680" cy="684879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838200" y="1140823"/>
            <a:ext cx="105156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11067964" y="6446122"/>
            <a:ext cx="44365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" name="Google Shape;41;p39"/>
          <p:cNvSpPr txBox="1"/>
          <p:nvPr>
            <p:ph idx="2" type="body"/>
          </p:nvPr>
        </p:nvSpPr>
        <p:spPr>
          <a:xfrm>
            <a:off x="838200" y="365127"/>
            <a:ext cx="10515601" cy="566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Montserrat"/>
              <a:buNone/>
              <a:defRPr b="1" sz="36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221" y="5932892"/>
            <a:ext cx="1931579" cy="488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 txBox="1"/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1" type="ftr"/>
          </p:nvPr>
        </p:nvSpPr>
        <p:spPr>
          <a:xfrm>
            <a:off x="7833986" y="636387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2" type="sldNum"/>
          </p:nvPr>
        </p:nvSpPr>
        <p:spPr>
          <a:xfrm>
            <a:off x="9290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ulleted Text Layout_two columns_full text">
  <p:cSld name="1_Bulleted Text Layout_two columns_full 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1"/>
          <p:cNvSpPr txBox="1"/>
          <p:nvPr>
            <p:ph type="title"/>
          </p:nvPr>
        </p:nvSpPr>
        <p:spPr>
          <a:xfrm>
            <a:off x="418643" y="440494"/>
            <a:ext cx="11341268" cy="680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" type="body"/>
          </p:nvPr>
        </p:nvSpPr>
        <p:spPr>
          <a:xfrm>
            <a:off x="418642" y="1456897"/>
            <a:ext cx="5394960" cy="4734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392"/>
              </a:spcBef>
              <a:spcAft>
                <a:spcPts val="0"/>
              </a:spcAft>
              <a:buSzPts val="1400"/>
              <a:buNone/>
              <a:defRPr sz="2400"/>
            </a:lvl1pPr>
            <a:lvl2pPr indent="-342900" lvl="1" marL="9144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0" name="Google Shape;50;p41"/>
          <p:cNvCxnSpPr/>
          <p:nvPr/>
        </p:nvCxnSpPr>
        <p:spPr>
          <a:xfrm>
            <a:off x="6089276" y="1611250"/>
            <a:ext cx="0" cy="4563213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1" name="Google Shape;51;p41"/>
          <p:cNvSpPr txBox="1"/>
          <p:nvPr>
            <p:ph idx="2" type="body"/>
          </p:nvPr>
        </p:nvSpPr>
        <p:spPr>
          <a:xfrm>
            <a:off x="6364951" y="1456897"/>
            <a:ext cx="5394960" cy="4734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392"/>
              </a:spcBef>
              <a:spcAft>
                <a:spcPts val="0"/>
              </a:spcAft>
              <a:buSzPts val="1400"/>
              <a:buNone/>
              <a:defRPr sz="2400"/>
            </a:lvl1pPr>
            <a:lvl2pPr indent="-342900" lvl="1" marL="9144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spcBef>
                <a:spcPts val="58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/>
        </p:nvSpPr>
        <p:spPr>
          <a:xfrm>
            <a:off x="4038600" y="6551269"/>
            <a:ext cx="41148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Copyright Microsoft Corporation. All rights reserved.</a:t>
            </a:r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 Layout">
  <p:cSld name="1_Text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/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" type="body"/>
          </p:nvPr>
        </p:nvSpPr>
        <p:spPr>
          <a:xfrm>
            <a:off x="419100" y="1456897"/>
            <a:ext cx="11340811" cy="2544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392"/>
              </a:spcBef>
              <a:spcAft>
                <a:spcPts val="0"/>
              </a:spcAft>
              <a:buSzPts val="1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588"/>
              </a:spcBef>
              <a:spcAft>
                <a:spcPts val="0"/>
              </a:spcAft>
              <a:buSzPts val="1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algn="l">
              <a:spcBef>
                <a:spcPts val="588"/>
              </a:spcBef>
              <a:spcAft>
                <a:spcPts val="0"/>
              </a:spcAft>
              <a:buSzPts val="1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algn="l">
              <a:spcBef>
                <a:spcPts val="588"/>
              </a:spcBef>
              <a:spcAft>
                <a:spcPts val="0"/>
              </a:spcAft>
              <a:buSzPts val="1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algn="l">
              <a:spcBef>
                <a:spcPts val="588"/>
              </a:spcBef>
              <a:spcAft>
                <a:spcPts val="0"/>
              </a:spcAft>
              <a:buSzPts val="1400"/>
              <a:buNone/>
              <a:defRPr b="0" sz="24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algn="l">
              <a:spcBef>
                <a:spcPts val="588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/>
        </p:nvSpPr>
        <p:spPr>
          <a:xfrm>
            <a:off x="4038600" y="6551269"/>
            <a:ext cx="41148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Copyright Microsoft Corporation. All rights reserved.</a:t>
            </a:r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3"/>
          <p:cNvSpPr txBox="1"/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/>
        </p:nvSpPr>
        <p:spPr>
          <a:xfrm>
            <a:off x="4038600" y="6551269"/>
            <a:ext cx="41148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Copyright Microsoft Corporation. All rights reserved.</a:t>
            </a:r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4"/>
          <p:cNvSpPr txBox="1"/>
          <p:nvPr>
            <p:ph type="ctrTitle"/>
          </p:nvPr>
        </p:nvSpPr>
        <p:spPr>
          <a:xfrm>
            <a:off x="579255" y="1675638"/>
            <a:ext cx="11033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4"/>
          <p:cNvSpPr txBox="1"/>
          <p:nvPr>
            <p:ph idx="1" type="subTitle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2" type="sldNum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5"/>
          <p:cNvSpPr txBox="1"/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" type="body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5"/>
          <p:cNvSpPr txBox="1"/>
          <p:nvPr>
            <p:ph idx="2" type="body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2" type="sldNum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l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389061" y="717676"/>
            <a:ext cx="11413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712960" y="2035936"/>
            <a:ext cx="103725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1" type="ftr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0" type="dt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11067964" y="6446122"/>
            <a:ext cx="443653" cy="17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rtl="0" algn="l">
              <a:lnSpc>
                <a:spcPct val="11875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youtube.com/results?search_query=data+center+ascenty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jpg"/><Relationship Id="rId4" Type="http://schemas.openxmlformats.org/officeDocument/2006/relationships/hyperlink" Target="http://www.sp.senai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"/>
          <p:cNvGrpSpPr/>
          <p:nvPr/>
        </p:nvGrpSpPr>
        <p:grpSpPr>
          <a:xfrm>
            <a:off x="428" y="0"/>
            <a:ext cx="12191144" cy="6857771"/>
            <a:chOff x="0" y="0"/>
            <a:chExt cx="20104100" cy="11308972"/>
          </a:xfrm>
        </p:grpSpPr>
        <p:pic>
          <p:nvPicPr>
            <p:cNvPr id="78" name="Google Shape;7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100" cy="11308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"/>
            <p:cNvSpPr/>
            <p:nvPr/>
          </p:nvSpPr>
          <p:spPr>
            <a:xfrm>
              <a:off x="6806190" y="4825978"/>
              <a:ext cx="6492240" cy="1656714"/>
            </a:xfrm>
            <a:custGeom>
              <a:rect b="b" l="l" r="r" t="t"/>
              <a:pathLst>
                <a:path extrusionOk="0" h="1656714" w="6492240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6806069" y="5037842"/>
              <a:ext cx="6492240" cy="1230630"/>
            </a:xfrm>
            <a:custGeom>
              <a:rect b="b" l="l" r="r" t="t"/>
              <a:pathLst>
                <a:path extrusionOk="0" h="1230629" w="6492240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extrusionOk="0" h="1230629" w="6492240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extrusionOk="0" h="1230629" w="6492240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extrusionOk="0" h="1230629" w="6492240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extrusionOk="0" h="1230629" w="6492240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extrusionOk="0" h="1230629" w="6492240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extrusionOk="0" h="1230629" w="6492240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extrusionOk="0" h="1230629" w="6492240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extrusionOk="0" h="1230629" w="6492240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extrusionOk="0" h="1230629" w="6492240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extrusionOk="0" h="1230629" w="6492240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extrusionOk="0" h="1230629" w="6492240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extrusionOk="0" h="1230629" w="6492240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extrusionOk="0" h="1230629" w="6492240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extrusionOk="0" h="1230629" w="6492240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0" y="11151492"/>
              <a:ext cx="20104100" cy="157480"/>
            </a:xfrm>
            <a:custGeom>
              <a:rect b="b" l="l" r="r" t="t"/>
              <a:pathLst>
                <a:path extrusionOk="0" h="157479" w="2010410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/>
          <p:nvPr/>
        </p:nvSpPr>
        <p:spPr>
          <a:xfrm>
            <a:off x="838200" y="762000"/>
            <a:ext cx="7848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TÉCNICO EM ADMINISTRAÇÃO</a:t>
            </a:r>
            <a:endParaRPr/>
          </a:p>
        </p:txBody>
      </p:sp>
      <p:sp>
        <p:nvSpPr>
          <p:cNvPr id="87" name="Google Shape;87;p2"/>
          <p:cNvSpPr txBox="1"/>
          <p:nvPr/>
        </p:nvSpPr>
        <p:spPr>
          <a:xfrm>
            <a:off x="1409700" y="3657600"/>
            <a:ext cx="9372600" cy="1551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FF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UNIDADE CURRICULAR: </a:t>
            </a:r>
            <a:endParaRPr/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FDMT - Ferramentas digitais para o mercado de trabalho - 60 horas</a:t>
            </a:r>
            <a:endParaRPr sz="2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/>
        </p:nvSpPr>
        <p:spPr>
          <a:xfrm>
            <a:off x="1066800" y="2057400"/>
            <a:ext cx="8610600" cy="2902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 Geral: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Desenvolver capacidades básicas e socioemocionais relativas ao uso das ferramentas digitais direcionadas ao mercado de trabalho, assim como, proporcionar a inclusão digital.</a:t>
            </a:r>
            <a:endParaRPr sz="2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4"/>
          <p:cNvGrpSpPr/>
          <p:nvPr/>
        </p:nvGrpSpPr>
        <p:grpSpPr>
          <a:xfrm>
            <a:off x="9317173" y="634955"/>
            <a:ext cx="2239574" cy="571821"/>
            <a:chOff x="15364003" y="1047088"/>
            <a:chExt cx="3693223" cy="942975"/>
          </a:xfrm>
        </p:grpSpPr>
        <p:sp>
          <p:nvSpPr>
            <p:cNvPr id="98" name="Google Shape;98;p4"/>
            <p:cNvSpPr/>
            <p:nvPr/>
          </p:nvSpPr>
          <p:spPr>
            <a:xfrm>
              <a:off x="15364066" y="1047088"/>
              <a:ext cx="3693160" cy="942975"/>
            </a:xfrm>
            <a:custGeom>
              <a:rect b="b" l="l" r="r" t="t"/>
              <a:pathLst>
                <a:path extrusionOk="0" h="942975" w="3693159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15364003" y="1167618"/>
              <a:ext cx="3693160" cy="700405"/>
            </a:xfrm>
            <a:custGeom>
              <a:rect b="b" l="l" r="r" t="t"/>
              <a:pathLst>
                <a:path extrusionOk="0" h="700405" w="3693159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extrusionOk="0" h="700405" w="3693159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extrusionOk="0" h="700405" w="3693159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extrusionOk="0" h="700405" w="3693159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extrusionOk="0" h="700405" w="3693159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extrusionOk="0" h="700405" w="3693159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extrusionOk="0" h="700405" w="3693159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extrusionOk="0" h="700405" w="3693159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extrusionOk="0" h="700405" w="3693159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extrusionOk="0" h="700405" w="3693159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extrusionOk="0" h="700405" w="3693159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extrusionOk="0" h="700405" w="3693159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extrusionOk="0" h="700405" w="3693159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extrusionOk="0" h="700405" w="3693159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extrusionOk="0" h="700405" w="3693159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4"/>
          <p:cNvSpPr/>
          <p:nvPr/>
        </p:nvSpPr>
        <p:spPr>
          <a:xfrm>
            <a:off x="635383" y="634955"/>
            <a:ext cx="0" cy="889114"/>
          </a:xfrm>
          <a:custGeom>
            <a:rect b="b" l="l" r="r" t="t"/>
            <a:pathLst>
              <a:path extrusionOk="0" h="1466214" w="120000">
                <a:moveTo>
                  <a:pt x="0" y="0"/>
                </a:moveTo>
                <a:lnTo>
                  <a:pt x="0" y="1465923"/>
                </a:lnTo>
              </a:path>
            </a:pathLst>
          </a:custGeom>
          <a:noFill/>
          <a:ln cap="flat" cmpd="sng" w="104700">
            <a:solidFill>
              <a:srgbClr val="C127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28" y="6762275"/>
            <a:ext cx="12191144" cy="95496"/>
          </a:xfrm>
          <a:custGeom>
            <a:rect b="b" l="l" r="r" t="t"/>
            <a:pathLst>
              <a:path extrusionOk="0" h="157479" w="20104100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635383" y="2176673"/>
            <a:ext cx="5708539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Rede de computadores </a:t>
            </a:r>
            <a:r>
              <a:rPr b="0" i="0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é um conjunto de dispositivos de computação capazes de trocar dados e compartilhar recursos e cuja principal finalidade é permitir a comunicação e o compartilhamento de recursos entre os dispositivos.</a:t>
            </a:r>
            <a:endParaRPr b="1"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descr="Tipos de Redes de computadores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9563" y="2061521"/>
            <a:ext cx="5240550" cy="368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1066800" y="784626"/>
            <a:ext cx="609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REDE DE COMPUTADORES</a:t>
            </a:r>
            <a:endParaRPr b="1"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1939" y="533400"/>
            <a:ext cx="5715000" cy="608274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/>
          <p:nvPr/>
        </p:nvSpPr>
        <p:spPr>
          <a:xfrm>
            <a:off x="671004" y="2326128"/>
            <a:ext cx="5708539" cy="3744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Existem vários tipos de redes de computadores, cada tipo é destinado a um segmento do mercado.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Por exemplo: usuários resid</a:t>
            </a: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enciais utilizam (em sua maioria) a </a:t>
            </a:r>
            <a:r>
              <a:rPr b="1" i="1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internet computing</a:t>
            </a: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b="0" i="0"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838200" y="787257"/>
            <a:ext cx="609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REDE DE COMPUTADORES</a:t>
            </a:r>
            <a:endParaRPr b="1"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42249" l="0" r="6" t="1502"/>
          <a:stretch/>
        </p:blipFill>
        <p:spPr>
          <a:xfrm>
            <a:off x="20" y="10"/>
            <a:ext cx="12188932" cy="68566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>
            <p:ph type="title"/>
          </p:nvPr>
        </p:nvSpPr>
        <p:spPr>
          <a:xfrm>
            <a:off x="381000" y="2933017"/>
            <a:ext cx="10190071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CONCEITOS DE CLOUD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co rígido com formato de nuvem com cabos" id="123" name="Google Shape;123;p7"/>
          <p:cNvPicPr preferRelativeResize="0"/>
          <p:nvPr/>
        </p:nvPicPr>
        <p:blipFill rotWithShape="1">
          <a:blip r:embed="rId3">
            <a:alphaModFix/>
          </a:blip>
          <a:srcRect b="-2" l="0" r="-2" t="1538"/>
          <a:stretch/>
        </p:blipFill>
        <p:spPr>
          <a:xfrm>
            <a:off x="21" y="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>
            <p:ph type="title"/>
          </p:nvPr>
        </p:nvSpPr>
        <p:spPr>
          <a:xfrm>
            <a:off x="762000" y="339172"/>
            <a:ext cx="4629150" cy="7661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Computação em nuvem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1704976" y="4604716"/>
            <a:ext cx="4629150" cy="1924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A computação em nuvem é a entrega de recursos de TI sob demanda por meio da Internet com definição de preço de pagamento conforme o uso</a:t>
            </a:r>
            <a:endParaRPr sz="2200"/>
          </a:p>
        </p:txBody>
      </p:sp>
      <p:pic>
        <p:nvPicPr>
          <p:cNvPr descr="Diagrama&#10;&#10;Descrição gerada automaticamente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1143000"/>
            <a:ext cx="1600200" cy="16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co rígido com formato de nuvem com cabos" id="131" name="Google Shape;131;p8"/>
          <p:cNvPicPr preferRelativeResize="0"/>
          <p:nvPr/>
        </p:nvPicPr>
        <p:blipFill rotWithShape="1">
          <a:blip r:embed="rId3">
            <a:alphaModFix/>
          </a:blip>
          <a:srcRect b="-2" l="0" r="-2" t="1538"/>
          <a:stretch/>
        </p:blipFill>
        <p:spPr>
          <a:xfrm>
            <a:off x="21" y="0"/>
            <a:ext cx="12191979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8"/>
          <p:cNvSpPr txBox="1"/>
          <p:nvPr>
            <p:ph type="title"/>
          </p:nvPr>
        </p:nvSpPr>
        <p:spPr>
          <a:xfrm>
            <a:off x="762000" y="339172"/>
            <a:ext cx="4629150" cy="76614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Computação em nuvem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1704976" y="4604716"/>
            <a:ext cx="4629150" cy="1924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200"/>
              <a:t>Cloud Computing</a:t>
            </a:r>
            <a:r>
              <a:rPr lang="pt-BR" sz="2200"/>
              <a:t>, refere-se à utilização de recursos como: memória, processamento, armazenamento, etc. de servidores compartilhados e interligados pela internet.</a:t>
            </a:r>
            <a:endParaRPr sz="2200"/>
          </a:p>
        </p:txBody>
      </p:sp>
      <p:pic>
        <p:nvPicPr>
          <p:cNvPr descr="Diagrama&#10;&#10;Descrição gerada automaticamente" id="134" name="Google Shape;13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0" y="1143000"/>
            <a:ext cx="1600200" cy="166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Descrição gerada automaticamente"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533400"/>
            <a:ext cx="5715000" cy="595347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 txBox="1"/>
          <p:nvPr/>
        </p:nvSpPr>
        <p:spPr>
          <a:xfrm>
            <a:off x="1066800" y="2667000"/>
            <a:ext cx="46482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“nuvem” da figura, representa um conceito usado na telefonia para se referir a dispositivos que não se encontravam localmente.</a:t>
            </a:r>
            <a:endParaRPr b="1"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Descrição gerada automaticamente" id="145" name="Google Shape;145;p10"/>
          <p:cNvPicPr preferRelativeResize="0"/>
          <p:nvPr/>
        </p:nvPicPr>
        <p:blipFill rotWithShape="1">
          <a:blip r:embed="rId3">
            <a:alphaModFix/>
          </a:blip>
          <a:srcRect b="-198" l="3264" r="4699" t="0"/>
          <a:stretch/>
        </p:blipFill>
        <p:spPr>
          <a:xfrm>
            <a:off x="1143000" y="13252"/>
            <a:ext cx="10439400" cy="6741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/>
        </p:nvSpPr>
        <p:spPr>
          <a:xfrm>
            <a:off x="990600" y="445637"/>
            <a:ext cx="8001000" cy="16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Computação em nuvem é a continuação de um modelo, onde se aluga a infraestrutura de computação, a qual é gerenciada por profissionais dedicados e especializados. </a:t>
            </a:r>
            <a:endParaRPr/>
          </a:p>
        </p:txBody>
      </p:sp>
      <p:pic>
        <p:nvPicPr>
          <p:cNvPr id="152" name="Google Shape;152;p11"/>
          <p:cNvPicPr preferRelativeResize="0"/>
          <p:nvPr/>
        </p:nvPicPr>
        <p:blipFill rotWithShape="1">
          <a:blip r:embed="rId3">
            <a:alphaModFix/>
          </a:blip>
          <a:srcRect b="0" l="0" r="0" t="16500"/>
          <a:stretch/>
        </p:blipFill>
        <p:spPr>
          <a:xfrm>
            <a:off x="457200" y="2133600"/>
            <a:ext cx="10605702" cy="4544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Descrição gerada automaticamente" id="157" name="Google Shape;1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600200"/>
            <a:ext cx="7467600" cy="49739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 txBox="1"/>
          <p:nvPr/>
        </p:nvSpPr>
        <p:spPr>
          <a:xfrm>
            <a:off x="228600" y="2667000"/>
            <a:ext cx="4953000" cy="2020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pt-B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IaaS – Infraestrutura como serviço;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pt-B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PaaS - Plataforma como serviço ;</a:t>
            </a:r>
            <a:endParaRPr/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pt-BR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SaaS - Software como serviço .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990600" y="685800"/>
            <a:ext cx="6096000" cy="5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PRINCIPAIS TIPOS DE NUVEM</a:t>
            </a:r>
            <a:endParaRPr sz="24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1066800" y="687660"/>
            <a:ext cx="10058400" cy="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latin typeface="Montserrat ExtraBold"/>
                <a:ea typeface="Montserrat ExtraBold"/>
                <a:cs typeface="Montserrat ExtraBold"/>
                <a:sym typeface="Montserrat ExtraBold"/>
              </a:rPr>
              <a:t>AMBIENTE DO CLOUD</a:t>
            </a:r>
            <a:endParaRPr/>
          </a:p>
        </p:txBody>
      </p:sp>
      <p:sp>
        <p:nvSpPr>
          <p:cNvPr id="165" name="Google Shape;165;p13"/>
          <p:cNvSpPr txBox="1"/>
          <p:nvPr>
            <p:ph idx="12" type="sldNum"/>
          </p:nvPr>
        </p:nvSpPr>
        <p:spPr>
          <a:xfrm>
            <a:off x="9290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</a:pPr>
            <a:fld id="{00000000-1234-1234-1234-123412341234}" type="slidenum">
              <a:rPr b="1" i="0" lang="pt-BR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66" name="Google Shape;1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526" y="1676400"/>
            <a:ext cx="7274949" cy="481973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3"/>
          <p:cNvSpPr txBox="1"/>
          <p:nvPr/>
        </p:nvSpPr>
        <p:spPr>
          <a:xfrm>
            <a:off x="7924800" y="2667000"/>
            <a:ext cx="4191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Empresas como: Amazon, </a:t>
            </a:r>
            <a:r>
              <a:rPr lang="pt-BR"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Google, IBM e Microsoft, foram as primeiras a iniciar uma grande ofensiva nessa “nuvem de informação”.</a:t>
            </a:r>
            <a:endParaRPr b="0" i="0" sz="24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3400" y="1752600"/>
            <a:ext cx="2580372" cy="473462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4"/>
          <p:cNvSpPr txBox="1"/>
          <p:nvPr>
            <p:ph idx="2" type="body"/>
          </p:nvPr>
        </p:nvSpPr>
        <p:spPr>
          <a:xfrm>
            <a:off x="701040" y="2412678"/>
            <a:ext cx="5394960" cy="3750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As organizações criam um ambiente em nuvem em seu datacenter.</a:t>
            </a:r>
            <a:endParaRPr/>
          </a:p>
          <a:p>
            <a:pPr indent="-279400" lvl="0" marL="342900" rtl="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A organização é responsável por operar os serviços que fornece.</a:t>
            </a:r>
            <a:endParaRPr/>
          </a:p>
          <a:p>
            <a:pPr indent="0" lvl="0" marL="0" rtl="0" algn="l">
              <a:spcBef>
                <a:spcPts val="98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Não fornece acesso aos usuários </a:t>
            </a:r>
            <a:b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</a:b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fora da organização. 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909929" y="694348"/>
            <a:ext cx="6096000" cy="5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PRINCIPAIS TIPOS DE NUVEM</a:t>
            </a:r>
            <a:endParaRPr sz="24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909929" y="1642574"/>
            <a:ext cx="6096000" cy="5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Nuvem Privada</a:t>
            </a:r>
            <a:endParaRPr sz="24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idx="1" type="body"/>
          </p:nvPr>
        </p:nvSpPr>
        <p:spPr>
          <a:xfrm>
            <a:off x="533400" y="2438400"/>
            <a:ext cx="5394960" cy="3137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>
                <a:latin typeface="Montserrat Light"/>
                <a:ea typeface="Montserrat Light"/>
                <a:cs typeface="Montserrat Light"/>
                <a:sym typeface="Montserrat Light"/>
              </a:rPr>
              <a:t>Pertencente a serviços de nuvem </a:t>
            </a:r>
            <a:br>
              <a:rPr lang="pt-BR" sz="2800">
                <a:latin typeface="Montserrat Light"/>
                <a:ea typeface="Montserrat Light"/>
                <a:cs typeface="Montserrat Light"/>
                <a:sym typeface="Montserrat Light"/>
              </a:rPr>
            </a:br>
            <a:r>
              <a:rPr lang="pt-BR" sz="2800">
                <a:latin typeface="Montserrat Light"/>
                <a:ea typeface="Montserrat Light"/>
                <a:cs typeface="Montserrat Light"/>
                <a:sym typeface="Montserrat Light"/>
              </a:rPr>
              <a:t>ou provedor de hosting.</a:t>
            </a:r>
            <a:endParaRPr/>
          </a:p>
          <a:p>
            <a:pPr indent="0" lvl="0" marL="0" rtl="0" algn="l">
              <a:spcBef>
                <a:spcPts val="98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>
                <a:latin typeface="Montserrat Light"/>
                <a:ea typeface="Montserrat Light"/>
                <a:cs typeface="Montserrat Light"/>
                <a:sym typeface="Montserrat Light"/>
              </a:rPr>
              <a:t>Fornece recursos e serviços a várias organizações e usuários.</a:t>
            </a:r>
            <a:endParaRPr/>
          </a:p>
          <a:p>
            <a:pPr indent="0" lvl="0" marL="0" rtl="0" algn="l">
              <a:spcBef>
                <a:spcPts val="98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42900" lvl="0" marL="342900" rtl="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>
                <a:latin typeface="Montserrat Light"/>
                <a:ea typeface="Montserrat Light"/>
                <a:cs typeface="Montserrat Light"/>
                <a:sym typeface="Montserrat Light"/>
              </a:rPr>
              <a:t>Acessado via conexão de rede segura (geralmente pela Internet).</a:t>
            </a:r>
            <a:endParaRPr/>
          </a:p>
        </p:txBody>
      </p:sp>
      <p:pic>
        <p:nvPicPr>
          <p:cNvPr descr="Várias mãos levam os dados até os servidores nas nuvens." id="189" name="Google Shape;189;p15"/>
          <p:cNvPicPr preferRelativeResize="0"/>
          <p:nvPr/>
        </p:nvPicPr>
        <p:blipFill rotWithShape="1">
          <a:blip r:embed="rId3">
            <a:alphaModFix/>
          </a:blip>
          <a:srcRect b="-2" l="0" r="0" t="0"/>
          <a:stretch/>
        </p:blipFill>
        <p:spPr>
          <a:xfrm>
            <a:off x="6364951" y="2286000"/>
            <a:ext cx="5394960" cy="313734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 txBox="1"/>
          <p:nvPr/>
        </p:nvSpPr>
        <p:spPr>
          <a:xfrm>
            <a:off x="909929" y="1642574"/>
            <a:ext cx="6096000" cy="5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Nuvem Pública</a:t>
            </a:r>
            <a:endParaRPr sz="24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09929" y="694348"/>
            <a:ext cx="6096000" cy="5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PRINCIPAIS TIPOS DE NUVEM</a:t>
            </a:r>
            <a:endParaRPr sz="24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imagem de nuvem pública e a imagem de nuvem privada são conectadas com um sinal de mais, demonstrando que uma nuvem híbrida é uma combinação das duas." id="200" name="Google Shape;2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2677" y="620382"/>
            <a:ext cx="7409667" cy="459504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6"/>
          <p:cNvSpPr txBox="1"/>
          <p:nvPr>
            <p:ph idx="1" type="body"/>
          </p:nvPr>
        </p:nvSpPr>
        <p:spPr>
          <a:xfrm>
            <a:off x="1371600" y="5324918"/>
            <a:ext cx="986926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46300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Combina as nuvens </a:t>
            </a:r>
            <a:r>
              <a:rPr b="1" lang="pt-BR">
                <a:latin typeface="Montserrat Light"/>
                <a:ea typeface="Montserrat Light"/>
                <a:cs typeface="Montserrat Light"/>
                <a:sym typeface="Montserrat Light"/>
              </a:rPr>
              <a:t>Pública</a:t>
            </a: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>
                <a:latin typeface="Montserrat Light"/>
                <a:ea typeface="Montserrat Light"/>
                <a:cs typeface="Montserrat Light"/>
                <a:sym typeface="Montserrat Light"/>
              </a:rPr>
              <a:t>Privada</a:t>
            </a: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 para permitir que os </a:t>
            </a:r>
            <a:b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</a:b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aplicativos sejam executados no local mais apropriado.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909929" y="1642574"/>
            <a:ext cx="6096000" cy="5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Nuvem Híbrida</a:t>
            </a:r>
            <a:endParaRPr sz="24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909929" y="694348"/>
            <a:ext cx="6096000" cy="5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PRINCIPAIS TIPOS DE NUVEM</a:t>
            </a:r>
            <a:endParaRPr sz="24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/>
          <p:nvPr>
            <p:ph type="title"/>
          </p:nvPr>
        </p:nvSpPr>
        <p:spPr>
          <a:xfrm>
            <a:off x="990600" y="685800"/>
            <a:ext cx="7988468" cy="680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ExtraBold"/>
                <a:ea typeface="Montserrat ExtraBold"/>
                <a:cs typeface="Montserrat ExtraBold"/>
                <a:sym typeface="Montserrat ExtraBold"/>
              </a:rPr>
              <a:t>Comparação do modelo de nuvem</a:t>
            </a:r>
            <a:endParaRPr/>
          </a:p>
        </p:txBody>
      </p:sp>
      <p:grpSp>
        <p:nvGrpSpPr>
          <p:cNvPr id="213" name="Google Shape;213;p17"/>
          <p:cNvGrpSpPr/>
          <p:nvPr/>
        </p:nvGrpSpPr>
        <p:grpSpPr>
          <a:xfrm>
            <a:off x="425450" y="1983167"/>
            <a:ext cx="11341100" cy="4025140"/>
            <a:chOff x="0" y="1967"/>
            <a:chExt cx="11341100" cy="4025140"/>
          </a:xfrm>
        </p:grpSpPr>
        <p:sp>
          <p:nvSpPr>
            <p:cNvPr id="214" name="Google Shape;214;p17"/>
            <p:cNvSpPr/>
            <p:nvPr/>
          </p:nvSpPr>
          <p:spPr>
            <a:xfrm rot="5400000">
              <a:off x="7192575" y="-2977968"/>
              <a:ext cx="1038745" cy="725830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DE5D0">
                <a:alpha val="89803"/>
              </a:srgbClr>
            </a:solidFill>
            <a:ln cap="flat" cmpd="sng" w="25400">
              <a:solidFill>
                <a:srgbClr val="DDE5D0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4082796" y="182518"/>
              <a:ext cx="7207597" cy="937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Nenhuma despesa de capital para escalar verticalmente.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Os aplicativos podem ser rapidamente provisionados e desprovisionados.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As organizações pagam apenas pelo que usam.</a:t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0" y="1967"/>
              <a:ext cx="4082796" cy="1298432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63384" y="65351"/>
              <a:ext cx="3956028" cy="117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Quattrocento Sans"/>
                <a:buNone/>
              </a:pPr>
              <a:r>
                <a:rPr b="0" lang="pt-BR" sz="24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Nuvem pública</a:t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 rot="5400000">
              <a:off x="7192575" y="-1614614"/>
              <a:ext cx="1038745" cy="725830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DE5D0">
                <a:alpha val="89803"/>
              </a:srgbClr>
            </a:solidFill>
            <a:ln cap="flat" cmpd="sng" w="25400">
              <a:solidFill>
                <a:srgbClr val="DDE5D0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4082796" y="1545872"/>
              <a:ext cx="7207597" cy="937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 hardware deve ser adquirido para inicialização e manutenção.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As organizações têm controle total sobre recursos e segurança. 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As organizações são responsáveis pelas atualizações e pela manutenção do hardware.</a:t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0" y="1365321"/>
              <a:ext cx="4082796" cy="1298432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63384" y="1428705"/>
              <a:ext cx="3956028" cy="117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Quattrocento Sans"/>
                <a:buNone/>
              </a:pPr>
              <a:r>
                <a:rPr b="0" lang="pt-BR" sz="24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Nuvem privada</a:t>
              </a: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 rot="5400000">
              <a:off x="7192575" y="-251260"/>
              <a:ext cx="1038745" cy="7258304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DE5D0">
                <a:alpha val="89803"/>
              </a:srgbClr>
            </a:solidFill>
            <a:ln cap="flat" cmpd="sng" w="25400">
              <a:solidFill>
                <a:srgbClr val="DDE5D0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4082796" y="2909226"/>
              <a:ext cx="7207597" cy="937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53325" spcFirstLastPara="1" rIns="53325" wrap="square" tIns="2665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Oferece a maior flexibilidade.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As organizações determinam onde executar seus aplicativos.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Quattrocento Sans"/>
                <a:buChar char="•"/>
              </a:pPr>
              <a:r>
                <a:rPr b="0" i="0" lang="pt-BR" sz="1400" u="none" cap="none" strike="noStrike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As organizações controlam os requisitos de segurança, conformidade ou jurídicos.</a:t>
              </a: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0" y="2728675"/>
              <a:ext cx="4082796" cy="1298432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 txBox="1"/>
            <p:nvPr/>
          </p:nvSpPr>
          <p:spPr>
            <a:xfrm>
              <a:off x="63384" y="2792059"/>
              <a:ext cx="3956028" cy="1171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137150" spcFirstLastPara="1" rIns="137150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Quattrocento Sans"/>
                <a:buNone/>
              </a:pPr>
              <a:r>
                <a:rPr b="0" lang="pt-BR" sz="240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Nuvem Híbrida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1066800" y="779563"/>
            <a:ext cx="6309218" cy="680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ExtraBold"/>
                <a:ea typeface="Montserrat ExtraBold"/>
                <a:cs typeface="Montserrat ExtraBold"/>
                <a:sym typeface="Montserrat ExtraBold"/>
              </a:rPr>
              <a:t>Tipos de Serviços de nuvem</a:t>
            </a:r>
            <a:endParaRPr/>
          </a:p>
        </p:txBody>
      </p:sp>
      <p:pic>
        <p:nvPicPr>
          <p:cNvPr descr="SaaS abrange PaaS, que abrange IaaS. Os ícones de IaaS são Servidores e Armazenamento, Firewalls e segurança de rede, Segurança e planta física do datacenter. Além dos ícones de IaaS, os ícones de PaaS incluem um ícone de sistemas operacionais e um ícone de ferramentas de desenvolvimento, gerenciamento de banco de dados e análise de negócios. O ícone de SaaS inclui todo o ícone de PaaS e um ícone de aplicativos hospedados e aplicativos." id="235" name="Google Shape;2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3861" y="2573360"/>
            <a:ext cx="9404278" cy="3686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aS que abrange todos os recursos de PaaS e IaaS do slide anterior e adiciona a capacidade de usar aplicativos hospedados em qualquer dispositivo." id="236" name="Google Shape;2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2657" y="2607773"/>
            <a:ext cx="9848537" cy="396286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>
            <p:ph idx="1" type="body"/>
          </p:nvPr>
        </p:nvSpPr>
        <p:spPr>
          <a:xfrm>
            <a:off x="891298" y="1459759"/>
            <a:ext cx="10351253" cy="1275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None/>
            </a:pP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Os serviços mais comuns de nuvem são :</a:t>
            </a:r>
            <a:endParaRPr/>
          </a:p>
          <a:p>
            <a:pPr indent="0" lvl="0" marL="0" rtl="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None/>
            </a:pPr>
            <a:r>
              <a:rPr b="1" lang="pt-BR">
                <a:latin typeface="Montserrat Light"/>
                <a:ea typeface="Montserrat Light"/>
                <a:cs typeface="Montserrat Light"/>
                <a:sym typeface="Montserrat Light"/>
              </a:rPr>
              <a:t>IaaS: </a:t>
            </a: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Infraestrutura como serviço, </a:t>
            </a:r>
            <a:r>
              <a:rPr b="1" lang="pt-BR">
                <a:latin typeface="Montserrat Light"/>
                <a:ea typeface="Montserrat Light"/>
                <a:cs typeface="Montserrat Light"/>
                <a:sym typeface="Montserrat Light"/>
              </a:rPr>
              <a:t>Paas: </a:t>
            </a: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Plataforma como serviço e </a:t>
            </a:r>
            <a:r>
              <a:rPr b="1" lang="pt-BR">
                <a:latin typeface="Montserrat Light"/>
                <a:ea typeface="Montserrat Light"/>
                <a:cs typeface="Montserrat Light"/>
                <a:sym typeface="Montserrat Light"/>
              </a:rPr>
              <a:t>SaaS: </a:t>
            </a:r>
            <a:r>
              <a:rPr lang="pt-BR">
                <a:latin typeface="Montserrat Light"/>
                <a:ea typeface="Montserrat Light"/>
                <a:cs typeface="Montserrat Light"/>
                <a:sym typeface="Montserrat Light"/>
              </a:rPr>
              <a:t>Software como serviço, mas existem muitos outros.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752600"/>
            <a:ext cx="7972698" cy="4257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>
            <p:ph type="title"/>
          </p:nvPr>
        </p:nvSpPr>
        <p:spPr>
          <a:xfrm>
            <a:off x="1143000" y="729072"/>
            <a:ext cx="659704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ExtraBold"/>
                <a:ea typeface="Montserrat ExtraBold"/>
                <a:cs typeface="Montserrat ExtraBold"/>
                <a:sym typeface="Montserrat ExtraBold"/>
              </a:rPr>
              <a:t>Comparação do serviço de nuvem</a:t>
            </a:r>
            <a:endParaRPr/>
          </a:p>
        </p:txBody>
      </p:sp>
      <p:grpSp>
        <p:nvGrpSpPr>
          <p:cNvPr id="253" name="Google Shape;253;p20"/>
          <p:cNvGrpSpPr/>
          <p:nvPr/>
        </p:nvGrpSpPr>
        <p:grpSpPr>
          <a:xfrm>
            <a:off x="413642" y="2667000"/>
            <a:ext cx="3629278" cy="2690702"/>
            <a:chOff x="295684" y="1457323"/>
            <a:chExt cx="3629278" cy="2690702"/>
          </a:xfrm>
        </p:grpSpPr>
        <p:sp>
          <p:nvSpPr>
            <p:cNvPr id="254" name="Google Shape;254;p20"/>
            <p:cNvSpPr txBox="1"/>
            <p:nvPr/>
          </p:nvSpPr>
          <p:spPr>
            <a:xfrm>
              <a:off x="295684" y="3194188"/>
              <a:ext cx="3618381" cy="953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Noto Sans Symbols"/>
                <a:buNone/>
              </a:pPr>
              <a: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Você configura e gerencia o hardware para o seu aplicativo.</a:t>
              </a:r>
              <a:endParaRPr/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95684" y="1457323"/>
              <a:ext cx="3629278" cy="680197"/>
            </a:xfrm>
            <a:prstGeom prst="rect">
              <a:avLst/>
            </a:prstGeom>
            <a:solidFill>
              <a:srgbClr val="243A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80"/>
                <a:buFont typeface="Noto Sans Symbols"/>
                <a:buNone/>
              </a:pPr>
              <a:r>
                <a:rPr lang="pt-BR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IaaS</a:t>
              </a:r>
              <a:endParaRPr/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295684" y="2285654"/>
              <a:ext cx="3618381" cy="77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Noto Sans Symbols"/>
                <a:buNone/>
              </a:pPr>
              <a: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 serviço de nuvem mais flexível.</a:t>
              </a:r>
              <a:endParaRPr/>
            </a:p>
          </p:txBody>
        </p:sp>
      </p:grpSp>
      <p:grpSp>
        <p:nvGrpSpPr>
          <p:cNvPr id="257" name="Google Shape;257;p20"/>
          <p:cNvGrpSpPr/>
          <p:nvPr/>
        </p:nvGrpSpPr>
        <p:grpSpPr>
          <a:xfrm>
            <a:off x="4277140" y="2667000"/>
            <a:ext cx="3629278" cy="2600154"/>
            <a:chOff x="4249061" y="1457323"/>
            <a:chExt cx="3629278" cy="2600154"/>
          </a:xfrm>
        </p:grpSpPr>
        <p:sp>
          <p:nvSpPr>
            <p:cNvPr id="258" name="Google Shape;258;p20"/>
            <p:cNvSpPr txBox="1"/>
            <p:nvPr/>
          </p:nvSpPr>
          <p:spPr>
            <a:xfrm>
              <a:off x="4249061" y="1457323"/>
              <a:ext cx="3629278" cy="680197"/>
            </a:xfrm>
            <a:prstGeom prst="rect">
              <a:avLst/>
            </a:prstGeom>
            <a:solidFill>
              <a:srgbClr val="243A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80"/>
                <a:buFont typeface="Noto Sans Symbols"/>
                <a:buNone/>
              </a:pPr>
              <a:r>
                <a:rPr lang="pt-BR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PaaS</a:t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4249061" y="2285653"/>
              <a:ext cx="3607487" cy="77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Noto Sans Symbols"/>
                <a:buNone/>
              </a:pPr>
              <a: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Foco no desenvolvimento de aplicativos.</a:t>
              </a:r>
              <a:endParaRPr/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4249061" y="3284734"/>
              <a:ext cx="3607487" cy="77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Noto Sans Symbols"/>
                <a:buNone/>
              </a:pPr>
              <a: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 gerenciamento da plataforma é manipulado pelo provedor de nuvem.</a:t>
              </a:r>
              <a:endParaRPr/>
            </a:p>
          </p:txBody>
        </p:sp>
      </p:grpSp>
      <p:grpSp>
        <p:nvGrpSpPr>
          <p:cNvPr id="261" name="Google Shape;261;p20"/>
          <p:cNvGrpSpPr/>
          <p:nvPr/>
        </p:nvGrpSpPr>
        <p:grpSpPr>
          <a:xfrm>
            <a:off x="8140638" y="2667000"/>
            <a:ext cx="3737231" cy="2635874"/>
            <a:chOff x="8022680" y="1457323"/>
            <a:chExt cx="3737231" cy="2635874"/>
          </a:xfrm>
        </p:grpSpPr>
        <p:sp>
          <p:nvSpPr>
            <p:cNvPr id="262" name="Google Shape;262;p20"/>
            <p:cNvSpPr txBox="1"/>
            <p:nvPr/>
          </p:nvSpPr>
          <p:spPr>
            <a:xfrm>
              <a:off x="8022680" y="2285653"/>
              <a:ext cx="3737231" cy="77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Noto Sans Symbols"/>
                <a:buNone/>
              </a:pPr>
              <a: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Modelo de preço de paga-mento conforme o uso.</a:t>
              </a:r>
              <a:endParaRPr/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8022680" y="1457323"/>
              <a:ext cx="3629278" cy="680197"/>
            </a:xfrm>
            <a:prstGeom prst="rect">
              <a:avLst/>
            </a:prstGeom>
            <a:solidFill>
              <a:srgbClr val="243A5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80"/>
                <a:buFont typeface="Noto Sans Symbols"/>
                <a:buNone/>
              </a:pPr>
              <a:r>
                <a:rPr lang="pt-BR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SaaS</a:t>
              </a:r>
              <a:endParaRPr/>
            </a:p>
          </p:txBody>
        </p:sp>
        <p:sp>
          <p:nvSpPr>
            <p:cNvPr id="264" name="Google Shape;264;p20"/>
            <p:cNvSpPr txBox="1"/>
            <p:nvPr/>
          </p:nvSpPr>
          <p:spPr>
            <a:xfrm>
              <a:off x="8022680" y="3320454"/>
              <a:ext cx="3607487" cy="772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Noto Sans Symbols"/>
                <a:buNone/>
              </a:pPr>
              <a: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Os usuários pagam pelo software que usam em </a:t>
              </a:r>
              <a:b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pt-BR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um modelo de assinatura.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ce gráfica do usuário&#10;&#10;Descrição gerada automaticamente" id="270" name="Google Shape;2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172497"/>
            <a:ext cx="9144000" cy="5585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1828800" y="803165"/>
            <a:ext cx="1904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ON-PREMISSE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/>
          <p:nvPr>
            <p:ph type="title"/>
          </p:nvPr>
        </p:nvSpPr>
        <p:spPr>
          <a:xfrm>
            <a:off x="762000" y="1225757"/>
            <a:ext cx="3200400" cy="44064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latin typeface="Montserrat ExtraBold"/>
                <a:ea typeface="Montserrat ExtraBold"/>
                <a:cs typeface="Montserrat ExtraBold"/>
                <a:sym typeface="Montserrat ExtraBold"/>
              </a:rPr>
              <a:t>Tudo, ou quase tudo que voce faz hoje está na nuvem !</a:t>
            </a:r>
            <a:endParaRPr/>
          </a:p>
        </p:txBody>
      </p:sp>
      <p:pic>
        <p:nvPicPr>
          <p:cNvPr descr="Interface gráfica do usuário&#10;&#10;Descrição gerada automaticamente" id="277" name="Google Shape;277;p22"/>
          <p:cNvPicPr preferRelativeResize="0"/>
          <p:nvPr/>
        </p:nvPicPr>
        <p:blipFill rotWithShape="1">
          <a:blip r:embed="rId3">
            <a:alphaModFix/>
          </a:blip>
          <a:srcRect b="-1" l="5231" r="12654" t="0"/>
          <a:stretch/>
        </p:blipFill>
        <p:spPr>
          <a:xfrm>
            <a:off x="4232496" y="10"/>
            <a:ext cx="7959505" cy="6857992"/>
          </a:xfrm>
          <a:custGeom>
            <a:rect b="b" l="l" r="r" t="t"/>
            <a:pathLst>
              <a:path extrusionOk="0" h="6858002" w="7959505">
                <a:moveTo>
                  <a:pt x="311551" y="6702976"/>
                </a:move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close/>
                <a:moveTo>
                  <a:pt x="328959" y="6564620"/>
                </a:move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70" y="6645552"/>
                </a:lnTo>
                <a:lnTo>
                  <a:pt x="296953" y="6662541"/>
                </a:lnTo>
                <a:lnTo>
                  <a:pt x="296953" y="6662542"/>
                </a:lnTo>
                <a:lnTo>
                  <a:pt x="308405" y="6683027"/>
                </a:lnTo>
                <a:cubicBezTo>
                  <a:pt x="306038" y="6676305"/>
                  <a:pt x="302287" y="6669495"/>
                  <a:pt x="296953" y="6662541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close/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166047" y="6392243"/>
                </a:moveTo>
                <a:lnTo>
                  <a:pt x="173364" y="6407333"/>
                </a:lnTo>
                <a:lnTo>
                  <a:pt x="173364" y="6407332"/>
                </a:lnTo>
                <a:close/>
                <a:moveTo>
                  <a:pt x="401733" y="4221391"/>
                </a:move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404114" y="4837703"/>
                  <a:pt x="397113" y="4847214"/>
                  <a:pt x="391971" y="4857317"/>
                </a:cubicBezTo>
                <a:lnTo>
                  <a:pt x="390221" y="4863342"/>
                </a:lnTo>
                <a:lnTo>
                  <a:pt x="387469" y="4867614"/>
                </a:ln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78247" y="4957453"/>
                </a:lnTo>
                <a:lnTo>
                  <a:pt x="360964" y="4987037"/>
                </a:lnTo>
                <a:cubicBezTo>
                  <a:pt x="349725" y="5003801"/>
                  <a:pt x="335627" y="5022852"/>
                  <a:pt x="334485" y="5041521"/>
                </a:cubicBezTo>
                <a:cubicBezTo>
                  <a:pt x="333556" y="5057381"/>
                  <a:pt x="327457" y="5072411"/>
                  <a:pt x="321371" y="5087423"/>
                </a:cubicBezTo>
                <a:lnTo>
                  <a:pt x="321364" y="5087450"/>
                </a:lnTo>
                <a:lnTo>
                  <a:pt x="315482" y="5102461"/>
                </a:lnTo>
                <a:lnTo>
                  <a:pt x="308338" y="5133220"/>
                </a:lnTo>
                <a:lnTo>
                  <a:pt x="308337" y="5133224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lnTo>
                  <a:pt x="335441" y="5272804"/>
                </a:lnTo>
                <a:lnTo>
                  <a:pt x="356854" y="5308181"/>
                </a:lnTo>
                <a:lnTo>
                  <a:pt x="359935" y="5317389"/>
                </a:ln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7324" y="5520422"/>
                </a:lnTo>
                <a:lnTo>
                  <a:pt x="345722" y="5531692"/>
                </a:lnTo>
                <a:lnTo>
                  <a:pt x="345723" y="5531694"/>
                </a:ln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lnTo>
                  <a:pt x="171979" y="5883756"/>
                </a:lnTo>
                <a:lnTo>
                  <a:pt x="160957" y="5909351"/>
                </a:lnTo>
                <a:lnTo>
                  <a:pt x="154076" y="5935946"/>
                </a:lnTo>
                <a:lnTo>
                  <a:pt x="154075" y="5935949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54076" y="5935946"/>
                </a:lnTo>
                <a:lnTo>
                  <a:pt x="171979" y="5883756"/>
                </a:lnTo>
                <a:lnTo>
                  <a:pt x="171981" y="5883752"/>
                </a:ln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lnTo>
                  <a:pt x="345722" y="5531692"/>
                </a:ln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2870" y="5326163"/>
                </a:lnTo>
                <a:lnTo>
                  <a:pt x="359935" y="5317389"/>
                </a:lnTo>
                <a:lnTo>
                  <a:pt x="359341" y="5312288"/>
                </a:lnTo>
                <a:lnTo>
                  <a:pt x="356854" y="5308181"/>
                </a:lnTo>
                <a:lnTo>
                  <a:pt x="353708" y="5298775"/>
                </a:lnTo>
                <a:lnTo>
                  <a:pt x="335441" y="5272804"/>
                </a:lnTo>
                <a:lnTo>
                  <a:pt x="335437" y="5272796"/>
                </a:ln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3"/>
                </a:lnTo>
                <a:lnTo>
                  <a:pt x="308337" y="5133225"/>
                </a:lnTo>
                <a:lnTo>
                  <a:pt x="308338" y="5133220"/>
                </a:lnTo>
                <a:lnTo>
                  <a:pt x="321364" y="5087450"/>
                </a:lnTo>
                <a:lnTo>
                  <a:pt x="327270" y="5072376"/>
                </a:lnTo>
                <a:cubicBezTo>
                  <a:pt x="330949" y="5062300"/>
                  <a:pt x="333866" y="5052096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66751" y="4978393"/>
                  <a:pt x="372457" y="4970097"/>
                  <a:pt x="376968" y="4961456"/>
                </a:cubicBezTo>
                <a:lnTo>
                  <a:pt x="378247" y="4957453"/>
                </a:lnTo>
                <a:lnTo>
                  <a:pt x="381039" y="4952673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90221" y="4863342"/>
                </a:lnTo>
                <a:lnTo>
                  <a:pt x="412401" y="4828917"/>
                </a:ln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close/>
                <a:moveTo>
                  <a:pt x="405543" y="4165383"/>
                </a:move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5543" y="4165384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lnTo>
                  <a:pt x="358165" y="2903546"/>
                </a:lnTo>
                <a:lnTo>
                  <a:pt x="366071" y="2947859"/>
                </a:ln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05543" y="4165382"/>
                </a:lnTo>
                <a:lnTo>
                  <a:pt x="414887" y="4134256"/>
                </a:ln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2"/>
                </a:lnTo>
                <a:lnTo>
                  <a:pt x="366071" y="2947859"/>
                </a:lnTo>
                <a:lnTo>
                  <a:pt x="361441" y="2914328"/>
                </a:lnTo>
                <a:lnTo>
                  <a:pt x="358165" y="2903546"/>
                </a:lnTo>
                <a:lnTo>
                  <a:pt x="357138" y="2897785"/>
                </a:lnTo>
                <a:cubicBezTo>
                  <a:pt x="352391" y="2881307"/>
                  <a:pt x="346533" y="2865010"/>
                  <a:pt x="341533" y="2848793"/>
                </a:cubicBezTo>
                <a:close/>
                <a:moveTo>
                  <a:pt x="296001" y="2745352"/>
                </a:move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close/>
                <a:moveTo>
                  <a:pt x="413278" y="2445328"/>
                </a:moveTo>
                <a:lnTo>
                  <a:pt x="409472" y="2463017"/>
                </a:lnTo>
                <a:lnTo>
                  <a:pt x="409472" y="2463018"/>
                </a:lnTo>
                <a:lnTo>
                  <a:pt x="411535" y="2490551"/>
                </a:lnTo>
                <a:lnTo>
                  <a:pt x="418114" y="2518262"/>
                </a:lnTo>
                <a:lnTo>
                  <a:pt x="418115" y="2518265"/>
                </a:ln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lnTo>
                  <a:pt x="418114" y="2518262"/>
                </a:lnTo>
                <a:lnTo>
                  <a:pt x="409472" y="2463018"/>
                </a:ln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24450" y="2418154"/>
                  <a:pt x="418938" y="2426977"/>
                  <a:pt x="415303" y="2435913"/>
                </a:cubicBezTo>
                <a:lnTo>
                  <a:pt x="432404" y="2409486"/>
                </a:ln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8723" y="1459073"/>
                </a:moveTo>
                <a:lnTo>
                  <a:pt x="807941" y="1481572"/>
                </a:lnTo>
                <a:lnTo>
                  <a:pt x="798724" y="1459074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83887" y="313533"/>
                </a:move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2874276" y="2"/>
                </a:lnTo>
                <a:lnTo>
                  <a:pt x="2874276" y="0"/>
                </a:lnTo>
                <a:lnTo>
                  <a:pt x="7959505" y="0"/>
                </a:lnTo>
                <a:lnTo>
                  <a:pt x="7959505" y="6858000"/>
                </a:lnTo>
                <a:lnTo>
                  <a:pt x="4543953" y="6858000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>
            <p:ph type="title"/>
          </p:nvPr>
        </p:nvSpPr>
        <p:spPr>
          <a:xfrm>
            <a:off x="838200" y="365126"/>
            <a:ext cx="10515600" cy="77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COMPUTAÇÃO EM NUVEM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381000" y="1752600"/>
            <a:ext cx="7006281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pt-BR" sz="2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ideia de armazenamento de dados/informações se alterou com o passar dos anos. Antes era necessário revelar uma foto e guardá-la em um álbum</a:t>
            </a:r>
            <a:r>
              <a:rPr lang="pt-BR" sz="2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para eterniza-la, agora, elas são arquivos digitais.</a:t>
            </a:r>
            <a:endParaRPr/>
          </a:p>
          <a:p>
            <a:pPr indent="-1778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pt-BR" sz="2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Graças à nuvem, assim que uma foto é tirada, ela já pode ser armazenada, seja no </a:t>
            </a:r>
            <a:r>
              <a:rPr lang="pt-BR" sz="2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OneDrive</a:t>
            </a:r>
            <a:r>
              <a:rPr b="0" i="0" lang="pt-BR" sz="2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ou no Google Drive, por exemplo.</a:t>
            </a:r>
            <a:endParaRPr/>
          </a:p>
          <a:p>
            <a:pPr indent="-1778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3825" y="2057400"/>
            <a:ext cx="4067175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>
            <p:ph type="title"/>
          </p:nvPr>
        </p:nvSpPr>
        <p:spPr>
          <a:xfrm>
            <a:off x="838200" y="365126"/>
            <a:ext cx="10515600" cy="77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COMPUTAÇÃO EM NUVEM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57200" y="2057400"/>
            <a:ext cx="6553200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pt-BR" sz="2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armazenamento de dados é feito em serviços que podem ser acessados em qualquer lugar do mundo.</a:t>
            </a:r>
            <a:endParaRPr b="0" i="0" sz="2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pt-BR" sz="2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acesso a programas, serviços e arquivos é remoto, através da internet, daí surge a alusão à nuvem.</a:t>
            </a:r>
            <a:endParaRPr b="0" i="0" sz="26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descr="Armazenar dados na nuvem é seguro? | E-RECOVERY" id="291" name="Google Shape;29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0" y="2057400"/>
            <a:ext cx="47752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>
            <p:ph type="title"/>
          </p:nvPr>
        </p:nvSpPr>
        <p:spPr>
          <a:xfrm>
            <a:off x="1066800" y="381000"/>
            <a:ext cx="7391400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latin typeface="Montserrat ExtraBold"/>
                <a:ea typeface="Montserrat ExtraBold"/>
                <a:cs typeface="Montserrat ExtraBold"/>
                <a:sym typeface="Montserrat ExtraBold"/>
              </a:rPr>
              <a:t>Por que as empresas querem nuvem ?</a:t>
            </a:r>
            <a:endParaRPr/>
          </a:p>
        </p:txBody>
      </p:sp>
      <p:grpSp>
        <p:nvGrpSpPr>
          <p:cNvPr id="297" name="Google Shape;297;p25"/>
          <p:cNvGrpSpPr/>
          <p:nvPr/>
        </p:nvGrpSpPr>
        <p:grpSpPr>
          <a:xfrm>
            <a:off x="1753520" y="1818484"/>
            <a:ext cx="7541958" cy="4668831"/>
            <a:chOff x="920" y="294484"/>
            <a:chExt cx="7541958" cy="4668831"/>
          </a:xfrm>
        </p:grpSpPr>
        <p:sp>
          <p:nvSpPr>
            <p:cNvPr id="298" name="Google Shape;298;p25"/>
            <p:cNvSpPr/>
            <p:nvPr/>
          </p:nvSpPr>
          <p:spPr>
            <a:xfrm>
              <a:off x="920" y="294484"/>
              <a:ext cx="3591408" cy="2154845"/>
            </a:xfrm>
            <a:prstGeom prst="rect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5"/>
            <p:cNvSpPr txBox="1"/>
            <p:nvPr/>
          </p:nvSpPr>
          <p:spPr>
            <a:xfrm>
              <a:off x="920" y="294484"/>
              <a:ext cx="3591408" cy="21548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700"/>
                <a:buFont typeface="Arial"/>
                <a:buNone/>
              </a:pPr>
              <a:r>
                <a:rPr lang="pt-BR" sz="3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Mais Seguro</a:t>
              </a:r>
              <a:endParaRPr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3951470" y="294484"/>
              <a:ext cx="3591408" cy="2154845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5"/>
            <p:cNvSpPr txBox="1"/>
            <p:nvPr/>
          </p:nvSpPr>
          <p:spPr>
            <a:xfrm>
              <a:off x="3951470" y="294484"/>
              <a:ext cx="3591408" cy="21548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700"/>
                <a:buFont typeface="Arial"/>
                <a:buNone/>
              </a:pPr>
              <a:r>
                <a:rPr lang="pt-BR" sz="3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Mais facil de Administrar</a:t>
              </a: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920" y="2808470"/>
              <a:ext cx="3591408" cy="2154845"/>
            </a:xfrm>
            <a:prstGeom prst="rect">
              <a:avLst/>
            </a:prstGeom>
            <a:solidFill>
              <a:schemeClr val="accent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 txBox="1"/>
            <p:nvPr/>
          </p:nvSpPr>
          <p:spPr>
            <a:xfrm>
              <a:off x="920" y="2808470"/>
              <a:ext cx="3591408" cy="21548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700"/>
                <a:buFont typeface="Arial"/>
                <a:buNone/>
              </a:pPr>
              <a:r>
                <a:rPr lang="pt-BR" sz="3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Diminui Custos </a:t>
              </a:r>
              <a:endParaRPr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3951470" y="2808470"/>
              <a:ext cx="3591408" cy="2154845"/>
            </a:xfrm>
            <a:prstGeom prst="rect">
              <a:avLst/>
            </a:prstGeom>
            <a:solidFill>
              <a:srgbClr val="49ACC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5"/>
            <p:cNvSpPr txBox="1"/>
            <p:nvPr/>
          </p:nvSpPr>
          <p:spPr>
            <a:xfrm>
              <a:off x="3951470" y="2808470"/>
              <a:ext cx="3591408" cy="21548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700"/>
                <a:buFont typeface="Arial"/>
                <a:buNone/>
              </a:pPr>
              <a:r>
                <a:rPr lang="pt-BR" sz="3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Integração com IoT e Machine Learning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/>
        </p:nvSpPr>
        <p:spPr>
          <a:xfrm>
            <a:off x="816077" y="1905000"/>
            <a:ext cx="8930196" cy="4278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Não precisa se preocupar com S.O. e Hardware do computador para acessar os dados na nuvem;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As atualizações são feitas automaticamente pelo provedor de serviço;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trabalho corporativo e o compartilhamento de arquivos fica mais fácil e centralizado;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Os dados podem ser acessados de qualquer lugar, desde que tenha acesso a internet, independente do dispositivo computacional.</a:t>
            </a:r>
            <a:endParaRPr b="1"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838200" y="787257"/>
            <a:ext cx="609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Vantagens</a:t>
            </a:r>
            <a:endParaRPr b="1"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/>
        </p:nvSpPr>
        <p:spPr>
          <a:xfrm>
            <a:off x="835241" y="2057400"/>
            <a:ext cx="8930196" cy="3211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Diminui a necessidade de manutenção da infraestrutura física de redes locais cliente/servidor;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infraestrutura é bem mais enxuta do que a tradicional, consome menos energia, não precisa de espaço físico e nem refrigeração para os dispositivos;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838200" y="787257"/>
            <a:ext cx="609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Vantagens</a:t>
            </a:r>
            <a:endParaRPr b="1"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/>
          <p:nvPr/>
        </p:nvSpPr>
        <p:spPr>
          <a:xfrm>
            <a:off x="1066800" y="2438400"/>
            <a:ext cx="81534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C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cliente paga conforme o uso, além disso, pode aumentar a capacidade do sistema rápidamente e diminuir de forma automática quando não for mais necessário ou quando a demanda diminuir.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838200" y="787257"/>
            <a:ext cx="609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Vantagens</a:t>
            </a:r>
            <a:endParaRPr b="1"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/>
        </p:nvSpPr>
        <p:spPr>
          <a:xfrm>
            <a:off x="838200" y="2057400"/>
            <a:ext cx="8930196" cy="3847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velocidade de processamento é prejudicada se a internet oscilar;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Assim como todo tipo de serviço é custeado;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maior desvantagem da computação em nuvem é a perda de acesso a internet, pois comprometerá todos os sistemas embarcados;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custo pode ser alto se não tiver um controle rigoroso dos serviços contratados.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838200" y="787257"/>
            <a:ext cx="609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Desvantagens</a:t>
            </a:r>
            <a:endParaRPr b="1"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/>
        </p:nvSpPr>
        <p:spPr>
          <a:xfrm>
            <a:off x="838200" y="2057400"/>
            <a:ext cx="8930196" cy="4914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Quando se fala de nuvem muitas vezes não se fala dos provedores de serviços de nuvem.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Ascenty é um provedor brasileiro que se destaca cada dia mais, sendo </a:t>
            </a:r>
            <a:r>
              <a:rPr b="1" i="1" lang="pt-BR" sz="2800">
                <a:solidFill>
                  <a:srgbClr val="C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Líder da América Latina em Data Center e Conectividade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i="1" lang="pt-BR" sz="2800" u="sng">
                <a:solidFill>
                  <a:srgbClr val="C00000"/>
                </a:solidFill>
                <a:latin typeface="Montserrat Light"/>
                <a:ea typeface="Montserrat Light"/>
                <a:cs typeface="Montserrat Light"/>
                <a:sym typeface="Montserrat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https://www.youtube.com/results?search_query=data+center+ascenty</a:t>
            </a:r>
            <a:endParaRPr b="1" i="1" sz="2800">
              <a:solidFill>
                <a:srgbClr val="C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i="1" sz="2800">
              <a:solidFill>
                <a:srgbClr val="C00000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838200" y="787257"/>
            <a:ext cx="6094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Mas como são as nuvens</a:t>
            </a:r>
            <a:endParaRPr b="1" sz="1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/>
        </p:nvSpPr>
        <p:spPr>
          <a:xfrm>
            <a:off x="3072191" y="2774115"/>
            <a:ext cx="604761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Obrigado pela atenção !!!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33"/>
          <p:cNvGrpSpPr/>
          <p:nvPr/>
        </p:nvGrpSpPr>
        <p:grpSpPr>
          <a:xfrm>
            <a:off x="428" y="0"/>
            <a:ext cx="12191144" cy="6857519"/>
            <a:chOff x="0" y="0"/>
            <a:chExt cx="20104100" cy="11308556"/>
          </a:xfrm>
        </p:grpSpPr>
        <p:pic>
          <p:nvPicPr>
            <p:cNvPr id="350" name="Google Shape;35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100" cy="11308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1" name="Google Shape;351;p33"/>
            <p:cNvSpPr/>
            <p:nvPr/>
          </p:nvSpPr>
          <p:spPr>
            <a:xfrm>
              <a:off x="2912068" y="4985450"/>
              <a:ext cx="5242560" cy="1337945"/>
            </a:xfrm>
            <a:custGeom>
              <a:rect b="b" l="l" r="r" t="t"/>
              <a:pathLst>
                <a:path extrusionOk="0" h="1337945" w="5242559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2911983" y="5156523"/>
              <a:ext cx="5242560" cy="993775"/>
            </a:xfrm>
            <a:custGeom>
              <a:rect b="b" l="l" r="r" t="t"/>
              <a:pathLst>
                <a:path extrusionOk="0" h="993775" w="5242559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extrusionOk="0" h="993775" w="5242559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extrusionOk="0" h="993775" w="5242559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extrusionOk="0" h="993775" w="5242559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extrusionOk="0" h="993775" w="5242559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extrusionOk="0" h="993775" w="5242559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extrusionOk="0" h="993775" w="5242559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extrusionOk="0" h="993775" w="5242559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extrusionOk="0" h="993775" w="5242559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extrusionOk="0" h="993775" w="5242559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extrusionOk="0" h="993775" w="5242559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extrusionOk="0" h="993775" w="5242559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extrusionOk="0" h="993775" w="5242559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extrusionOk="0" h="993775" w="5242559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extrusionOk="0" h="993775" w="5242559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33"/>
          <p:cNvSpPr txBox="1"/>
          <p:nvPr>
            <p:ph type="title"/>
          </p:nvPr>
        </p:nvSpPr>
        <p:spPr>
          <a:xfrm>
            <a:off x="6207291" y="2811234"/>
            <a:ext cx="3101695" cy="269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770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98">
                <a:solidFill>
                  <a:srgbClr val="FFFFFF"/>
                </a:solidFill>
              </a:rPr>
              <a:t>DEPARTAMENTO REGIONAL</a:t>
            </a:r>
            <a:endParaRPr sz="1698"/>
          </a:p>
        </p:txBody>
      </p:sp>
      <p:sp>
        <p:nvSpPr>
          <p:cNvPr id="354" name="Google Shape;354;p33"/>
          <p:cNvSpPr txBox="1"/>
          <p:nvPr/>
        </p:nvSpPr>
        <p:spPr>
          <a:xfrm>
            <a:off x="6204638" y="3097065"/>
            <a:ext cx="4229164" cy="8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10012" marR="0" rtl="0" algn="l">
              <a:lnSpc>
                <a:spcPct val="1167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98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 SÃO PAULO</a:t>
            </a:r>
            <a:endParaRPr sz="1698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7701" marR="0" rtl="0" algn="l">
              <a:lnSpc>
                <a:spcPct val="118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93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www.sp.senai.br</a:t>
            </a:r>
            <a:endParaRPr sz="4093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5" name="Google Shape;355;p33"/>
          <p:cNvGrpSpPr/>
          <p:nvPr/>
        </p:nvGrpSpPr>
        <p:grpSpPr>
          <a:xfrm>
            <a:off x="428" y="2519035"/>
            <a:ext cx="12191144" cy="4338736"/>
            <a:chOff x="0" y="4154076"/>
            <a:chExt cx="20104100" cy="7154896"/>
          </a:xfrm>
        </p:grpSpPr>
        <p:sp>
          <p:nvSpPr>
            <p:cNvPr id="356" name="Google Shape;356;p33"/>
            <p:cNvSpPr/>
            <p:nvPr/>
          </p:nvSpPr>
          <p:spPr>
            <a:xfrm>
              <a:off x="9201187" y="4154076"/>
              <a:ext cx="0" cy="3001010"/>
            </a:xfrm>
            <a:custGeom>
              <a:rect b="b" l="l" r="r" t="t"/>
              <a:pathLst>
                <a:path extrusionOk="0" h="3001009" w="120000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noFill/>
            <a:ln cap="flat" cmpd="sng" w="27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3"/>
            <p:cNvSpPr/>
            <p:nvPr/>
          </p:nvSpPr>
          <p:spPr>
            <a:xfrm>
              <a:off x="0" y="11151492"/>
              <a:ext cx="20104100" cy="157480"/>
            </a:xfrm>
            <a:custGeom>
              <a:rect b="b" l="l" r="r" t="t"/>
              <a:pathLst>
                <a:path extrusionOk="0" h="157479" w="20104100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2023-01-13T23:18:52Z</dcterms:created>
  <dc:creator>Dora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2023-01-13T00:00:00Z</vt:filetime>
  </property>
</Properties>
</file>