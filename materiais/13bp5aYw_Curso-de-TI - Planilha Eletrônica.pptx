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15" r:id="rId15"/>
    <p:sldId id="269" r:id="rId16"/>
    <p:sldId id="316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317" r:id="rId47"/>
    <p:sldId id="303" r:id="rId48"/>
    <p:sldId id="304" r:id="rId49"/>
    <p:sldId id="305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06" r:id="rId5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3214DE-AAE5-468B-AA97-E7C670A2D994}" v="3" dt="2025-05-30T17:05:35.64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533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Flavio Diniz" userId="dedd31532088e5ff" providerId="LiveId" clId="{B0FE047B-2B75-4D2C-8431-327A447C681E}"/>
    <pc:docChg chg="custSel addSld modSld">
      <pc:chgData name="João Flavio Diniz" userId="dedd31532088e5ff" providerId="LiveId" clId="{B0FE047B-2B75-4D2C-8431-327A447C681E}" dt="2025-03-31T08:54:51.310" v="27" actId="1076"/>
      <pc:docMkLst>
        <pc:docMk/>
      </pc:docMkLst>
      <pc:sldChg chg="addSp delSp modSp add mod">
        <pc:chgData name="João Flavio Diniz" userId="dedd31532088e5ff" providerId="LiveId" clId="{B0FE047B-2B75-4D2C-8431-327A447C681E}" dt="2025-03-31T08:52:20.479" v="14" actId="14100"/>
        <pc:sldMkLst>
          <pc:docMk/>
          <pc:sldMk cId="485702440" sldId="307"/>
        </pc:sldMkLst>
        <pc:picChg chg="add mod">
          <ac:chgData name="João Flavio Diniz" userId="dedd31532088e5ff" providerId="LiveId" clId="{B0FE047B-2B75-4D2C-8431-327A447C681E}" dt="2025-03-31T08:52:20.479" v="14" actId="14100"/>
          <ac:picMkLst>
            <pc:docMk/>
            <pc:sldMk cId="485702440" sldId="307"/>
            <ac:picMk id="3" creationId="{04103FE3-660F-93D0-CEAD-03824F1F7025}"/>
          </ac:picMkLst>
        </pc:picChg>
      </pc:sldChg>
      <pc:sldChg chg="addSp modSp add mod">
        <pc:chgData name="João Flavio Diniz" userId="dedd31532088e5ff" providerId="LiveId" clId="{B0FE047B-2B75-4D2C-8431-327A447C681E}" dt="2025-03-31T08:53:26.531" v="19" actId="1076"/>
        <pc:sldMkLst>
          <pc:docMk/>
          <pc:sldMk cId="928634420" sldId="308"/>
        </pc:sldMkLst>
        <pc:picChg chg="add mod">
          <ac:chgData name="João Flavio Diniz" userId="dedd31532088e5ff" providerId="LiveId" clId="{B0FE047B-2B75-4D2C-8431-327A447C681E}" dt="2025-03-31T08:53:26.531" v="19" actId="1076"/>
          <ac:picMkLst>
            <pc:docMk/>
            <pc:sldMk cId="928634420" sldId="308"/>
            <ac:picMk id="3" creationId="{2318AF0A-780A-E54A-8DBF-31832875CEDA}"/>
          </ac:picMkLst>
        </pc:picChg>
      </pc:sldChg>
      <pc:sldChg chg="addSp modSp add mod">
        <pc:chgData name="João Flavio Diniz" userId="dedd31532088e5ff" providerId="LiveId" clId="{B0FE047B-2B75-4D2C-8431-327A447C681E}" dt="2025-03-31T08:54:25.337" v="22" actId="1076"/>
        <pc:sldMkLst>
          <pc:docMk/>
          <pc:sldMk cId="2173833953" sldId="309"/>
        </pc:sldMkLst>
        <pc:picChg chg="add mod">
          <ac:chgData name="João Flavio Diniz" userId="dedd31532088e5ff" providerId="LiveId" clId="{B0FE047B-2B75-4D2C-8431-327A447C681E}" dt="2025-03-31T08:54:25.337" v="22" actId="1076"/>
          <ac:picMkLst>
            <pc:docMk/>
            <pc:sldMk cId="2173833953" sldId="309"/>
            <ac:picMk id="3" creationId="{B292C6E8-6685-EF85-8195-9875ACC7586A}"/>
          </ac:picMkLst>
        </pc:picChg>
      </pc:sldChg>
      <pc:sldChg chg="addSp modSp add mod replId">
        <pc:chgData name="João Flavio Diniz" userId="dedd31532088e5ff" providerId="LiveId" clId="{B0FE047B-2B75-4D2C-8431-327A447C681E}" dt="2025-03-31T08:54:51.310" v="27" actId="1076"/>
        <pc:sldMkLst>
          <pc:docMk/>
          <pc:sldMk cId="2009781251" sldId="310"/>
        </pc:sldMkLst>
        <pc:picChg chg="add mod">
          <ac:chgData name="João Flavio Diniz" userId="dedd31532088e5ff" providerId="LiveId" clId="{B0FE047B-2B75-4D2C-8431-327A447C681E}" dt="2025-03-31T08:54:51.310" v="27" actId="1076"/>
          <ac:picMkLst>
            <pc:docMk/>
            <pc:sldMk cId="2009781251" sldId="310"/>
            <ac:picMk id="3" creationId="{D3845AFB-5197-0FA5-CF9B-EE6F202DC5D3}"/>
          </ac:picMkLst>
        </pc:picChg>
      </pc:sldChg>
      <pc:sldChg chg="add">
        <pc:chgData name="João Flavio Diniz" userId="dedd31532088e5ff" providerId="LiveId" clId="{B0FE047B-2B75-4D2C-8431-327A447C681E}" dt="2025-03-31T08:51:22.399" v="7" actId="2890"/>
        <pc:sldMkLst>
          <pc:docMk/>
          <pc:sldMk cId="2718230210" sldId="311"/>
        </pc:sldMkLst>
      </pc:sldChg>
      <pc:sldChg chg="add replId">
        <pc:chgData name="João Flavio Diniz" userId="dedd31532088e5ff" providerId="LiveId" clId="{B0FE047B-2B75-4D2C-8431-327A447C681E}" dt="2025-03-31T08:51:22.399" v="7" actId="2890"/>
        <pc:sldMkLst>
          <pc:docMk/>
          <pc:sldMk cId="3338860272" sldId="312"/>
        </pc:sldMkLst>
      </pc:sldChg>
      <pc:sldChg chg="add replId">
        <pc:chgData name="João Flavio Diniz" userId="dedd31532088e5ff" providerId="LiveId" clId="{B0FE047B-2B75-4D2C-8431-327A447C681E}" dt="2025-03-31T08:51:22.399" v="7" actId="2890"/>
        <pc:sldMkLst>
          <pc:docMk/>
          <pc:sldMk cId="2153235519" sldId="313"/>
        </pc:sldMkLst>
      </pc:sldChg>
      <pc:sldChg chg="add replId">
        <pc:chgData name="João Flavio Diniz" userId="dedd31532088e5ff" providerId="LiveId" clId="{B0FE047B-2B75-4D2C-8431-327A447C681E}" dt="2025-03-31T08:51:22.399" v="7" actId="2890"/>
        <pc:sldMkLst>
          <pc:docMk/>
          <pc:sldMk cId="656999532" sldId="314"/>
        </pc:sldMkLst>
      </pc:sldChg>
    </pc:docChg>
  </pc:docChgLst>
  <pc:docChgLst>
    <pc:chgData name="João Flavio Diniz" userId="dedd31532088e5ff" providerId="LiveId" clId="{743214DE-AAE5-468B-AA97-E7C670A2D994}"/>
    <pc:docChg chg="undo custSel modSld">
      <pc:chgData name="João Flavio Diniz" userId="dedd31532088e5ff" providerId="LiveId" clId="{743214DE-AAE5-468B-AA97-E7C670A2D994}" dt="2025-05-30T17:05:51.516" v="36" actId="1076"/>
      <pc:docMkLst>
        <pc:docMk/>
      </pc:docMkLst>
      <pc:sldChg chg="addSp modSp mod">
        <pc:chgData name="João Flavio Diniz" userId="dedd31532088e5ff" providerId="LiveId" clId="{743214DE-AAE5-468B-AA97-E7C670A2D994}" dt="2025-05-30T17:05:51.516" v="36" actId="1076"/>
        <pc:sldMkLst>
          <pc:docMk/>
          <pc:sldMk cId="0" sldId="259"/>
        </pc:sldMkLst>
        <pc:spChg chg="add mod">
          <ac:chgData name="João Flavio Diniz" userId="dedd31532088e5ff" providerId="LiveId" clId="{743214DE-AAE5-468B-AA97-E7C670A2D994}" dt="2025-05-30T17:05:24.825" v="12" actId="767"/>
          <ac:spMkLst>
            <pc:docMk/>
            <pc:sldMk cId="0" sldId="259"/>
            <ac:spMk id="9" creationId="{78EA202E-6D00-A13B-8F96-481ABF36564E}"/>
          </ac:spMkLst>
        </pc:spChg>
        <pc:spChg chg="add mod">
          <ac:chgData name="João Flavio Diniz" userId="dedd31532088e5ff" providerId="LiveId" clId="{743214DE-AAE5-468B-AA97-E7C670A2D994}" dt="2025-05-30T17:05:51.516" v="36" actId="1076"/>
          <ac:spMkLst>
            <pc:docMk/>
            <pc:sldMk cId="0" sldId="259"/>
            <ac:spMk id="10" creationId="{ACD4FFCE-11AA-A4B3-4F37-27838F9D2BA6}"/>
          </ac:spMkLst>
        </pc:spChg>
        <pc:picChg chg="mod">
          <ac:chgData name="João Flavio Diniz" userId="dedd31532088e5ff" providerId="LiveId" clId="{743214DE-AAE5-468B-AA97-E7C670A2D994}" dt="2025-05-30T17:05:10.809" v="0" actId="1076"/>
          <ac:picMkLst>
            <pc:docMk/>
            <pc:sldMk cId="0" sldId="259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82038" y="997965"/>
            <a:ext cx="6882130" cy="100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47701E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287777" y="3570303"/>
            <a:ext cx="6703059" cy="941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47701E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47701E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47701E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3117"/>
            <a:ext cx="12192000" cy="62248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9339" y="315468"/>
            <a:ext cx="8024495" cy="10540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47701E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60701" y="1522900"/>
            <a:ext cx="7728584" cy="2215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6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7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.senai.br/" TargetMode="External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127753" y="2926778"/>
              <a:ext cx="3936365" cy="1004569"/>
            </a:xfrm>
            <a:custGeom>
              <a:avLst/>
              <a:gdLst/>
              <a:ahLst/>
              <a:cxnLst/>
              <a:rect l="l" t="t" r="r" b="b"/>
              <a:pathLst>
                <a:path w="3936365" h="1004570">
                  <a:moveTo>
                    <a:pt x="3936238" y="0"/>
                  </a:moveTo>
                  <a:lnTo>
                    <a:pt x="0" y="0"/>
                  </a:lnTo>
                  <a:lnTo>
                    <a:pt x="0" y="1004252"/>
                  </a:lnTo>
                  <a:lnTo>
                    <a:pt x="3936238" y="1004252"/>
                  </a:lnTo>
                  <a:lnTo>
                    <a:pt x="3936238" y="0"/>
                  </a:lnTo>
                  <a:close/>
                </a:path>
              </a:pathLst>
            </a:custGeom>
            <a:solidFill>
              <a:srgbClr val="E10F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27754" y="3054857"/>
              <a:ext cx="3936365" cy="746125"/>
            </a:xfrm>
            <a:custGeom>
              <a:avLst/>
              <a:gdLst/>
              <a:ahLst/>
              <a:cxnLst/>
              <a:rect l="l" t="t" r="r" b="b"/>
              <a:pathLst>
                <a:path w="3936365" h="746125">
                  <a:moveTo>
                    <a:pt x="211429" y="704316"/>
                  </a:moveTo>
                  <a:lnTo>
                    <a:pt x="0" y="704316"/>
                  </a:lnTo>
                  <a:lnTo>
                    <a:pt x="0" y="730758"/>
                  </a:lnTo>
                  <a:lnTo>
                    <a:pt x="211429" y="730758"/>
                  </a:lnTo>
                  <a:lnTo>
                    <a:pt x="211429" y="704316"/>
                  </a:lnTo>
                  <a:close/>
                </a:path>
                <a:path w="3936365" h="746125">
                  <a:moveTo>
                    <a:pt x="211429" y="535165"/>
                  </a:moveTo>
                  <a:lnTo>
                    <a:pt x="0" y="535165"/>
                  </a:lnTo>
                  <a:lnTo>
                    <a:pt x="0" y="561594"/>
                  </a:lnTo>
                  <a:lnTo>
                    <a:pt x="211429" y="561594"/>
                  </a:lnTo>
                  <a:lnTo>
                    <a:pt x="211429" y="535165"/>
                  </a:lnTo>
                  <a:close/>
                </a:path>
                <a:path w="3936365" h="746125">
                  <a:moveTo>
                    <a:pt x="211429" y="359651"/>
                  </a:moveTo>
                  <a:lnTo>
                    <a:pt x="0" y="359651"/>
                  </a:lnTo>
                  <a:lnTo>
                    <a:pt x="0" y="386080"/>
                  </a:lnTo>
                  <a:lnTo>
                    <a:pt x="211429" y="386080"/>
                  </a:lnTo>
                  <a:lnTo>
                    <a:pt x="211429" y="359651"/>
                  </a:lnTo>
                  <a:close/>
                </a:path>
                <a:path w="3936365" h="746125">
                  <a:moveTo>
                    <a:pt x="211429" y="186512"/>
                  </a:moveTo>
                  <a:lnTo>
                    <a:pt x="0" y="186512"/>
                  </a:lnTo>
                  <a:lnTo>
                    <a:pt x="0" y="212979"/>
                  </a:lnTo>
                  <a:lnTo>
                    <a:pt x="211429" y="212979"/>
                  </a:lnTo>
                  <a:lnTo>
                    <a:pt x="211429" y="186512"/>
                  </a:lnTo>
                  <a:close/>
                </a:path>
                <a:path w="3936365" h="746125">
                  <a:moveTo>
                    <a:pt x="211429" y="17894"/>
                  </a:moveTo>
                  <a:lnTo>
                    <a:pt x="0" y="17894"/>
                  </a:lnTo>
                  <a:lnTo>
                    <a:pt x="0" y="44323"/>
                  </a:lnTo>
                  <a:lnTo>
                    <a:pt x="211429" y="44323"/>
                  </a:lnTo>
                  <a:lnTo>
                    <a:pt x="211429" y="17894"/>
                  </a:lnTo>
                  <a:close/>
                </a:path>
                <a:path w="3936365" h="746125">
                  <a:moveTo>
                    <a:pt x="968756" y="162306"/>
                  </a:moveTo>
                  <a:lnTo>
                    <a:pt x="960882" y="111379"/>
                  </a:lnTo>
                  <a:lnTo>
                    <a:pt x="921766" y="55118"/>
                  </a:lnTo>
                  <a:lnTo>
                    <a:pt x="881380" y="29591"/>
                  </a:lnTo>
                  <a:lnTo>
                    <a:pt x="832358" y="12446"/>
                  </a:lnTo>
                  <a:lnTo>
                    <a:pt x="777367" y="2921"/>
                  </a:lnTo>
                  <a:lnTo>
                    <a:pt x="719074" y="0"/>
                  </a:lnTo>
                  <a:lnTo>
                    <a:pt x="690880" y="508"/>
                  </a:lnTo>
                  <a:lnTo>
                    <a:pt x="634746" y="5461"/>
                  </a:lnTo>
                  <a:lnTo>
                    <a:pt x="579755" y="16002"/>
                  </a:lnTo>
                  <a:lnTo>
                    <a:pt x="527685" y="33147"/>
                  </a:lnTo>
                  <a:lnTo>
                    <a:pt x="479806" y="57785"/>
                  </a:lnTo>
                  <a:lnTo>
                    <a:pt x="437642" y="90932"/>
                  </a:lnTo>
                  <a:lnTo>
                    <a:pt x="402590" y="133223"/>
                  </a:lnTo>
                  <a:lnTo>
                    <a:pt x="376174" y="185801"/>
                  </a:lnTo>
                  <a:lnTo>
                    <a:pt x="361950" y="248539"/>
                  </a:lnTo>
                  <a:lnTo>
                    <a:pt x="362077" y="279019"/>
                  </a:lnTo>
                  <a:lnTo>
                    <a:pt x="376936" y="333121"/>
                  </a:lnTo>
                  <a:lnTo>
                    <a:pt x="412115" y="375158"/>
                  </a:lnTo>
                  <a:lnTo>
                    <a:pt x="470154" y="405003"/>
                  </a:lnTo>
                  <a:lnTo>
                    <a:pt x="534670" y="426466"/>
                  </a:lnTo>
                  <a:lnTo>
                    <a:pt x="621538" y="448818"/>
                  </a:lnTo>
                  <a:lnTo>
                    <a:pt x="645922" y="456057"/>
                  </a:lnTo>
                  <a:lnTo>
                    <a:pt x="684911" y="473329"/>
                  </a:lnTo>
                  <a:lnTo>
                    <a:pt x="707390" y="498348"/>
                  </a:lnTo>
                  <a:lnTo>
                    <a:pt x="711200" y="515124"/>
                  </a:lnTo>
                  <a:lnTo>
                    <a:pt x="709295" y="535559"/>
                  </a:lnTo>
                  <a:lnTo>
                    <a:pt x="676148" y="581279"/>
                  </a:lnTo>
                  <a:lnTo>
                    <a:pt x="618998" y="604139"/>
                  </a:lnTo>
                  <a:lnTo>
                    <a:pt x="589915" y="606933"/>
                  </a:lnTo>
                  <a:lnTo>
                    <a:pt x="556895" y="603885"/>
                  </a:lnTo>
                  <a:lnTo>
                    <a:pt x="529463" y="594995"/>
                  </a:lnTo>
                  <a:lnTo>
                    <a:pt x="508508" y="580136"/>
                  </a:lnTo>
                  <a:lnTo>
                    <a:pt x="494792" y="559816"/>
                  </a:lnTo>
                  <a:lnTo>
                    <a:pt x="489077" y="533908"/>
                  </a:lnTo>
                  <a:lnTo>
                    <a:pt x="492125" y="502793"/>
                  </a:lnTo>
                  <a:lnTo>
                    <a:pt x="293751" y="502793"/>
                  </a:lnTo>
                  <a:lnTo>
                    <a:pt x="288671" y="535698"/>
                  </a:lnTo>
                  <a:lnTo>
                    <a:pt x="287147" y="565531"/>
                  </a:lnTo>
                  <a:lnTo>
                    <a:pt x="288925" y="592709"/>
                  </a:lnTo>
                  <a:lnTo>
                    <a:pt x="301498" y="639064"/>
                  </a:lnTo>
                  <a:lnTo>
                    <a:pt x="325120" y="675640"/>
                  </a:lnTo>
                  <a:lnTo>
                    <a:pt x="358394" y="703453"/>
                  </a:lnTo>
                  <a:lnTo>
                    <a:pt x="399669" y="723519"/>
                  </a:lnTo>
                  <a:lnTo>
                    <a:pt x="447802" y="736600"/>
                  </a:lnTo>
                  <a:lnTo>
                    <a:pt x="501269" y="743839"/>
                  </a:lnTo>
                  <a:lnTo>
                    <a:pt x="558546" y="745998"/>
                  </a:lnTo>
                  <a:lnTo>
                    <a:pt x="589534" y="745109"/>
                  </a:lnTo>
                  <a:lnTo>
                    <a:pt x="650748" y="738378"/>
                  </a:lnTo>
                  <a:lnTo>
                    <a:pt x="709422" y="724789"/>
                  </a:lnTo>
                  <a:lnTo>
                    <a:pt x="764159" y="704215"/>
                  </a:lnTo>
                  <a:lnTo>
                    <a:pt x="813308" y="676656"/>
                  </a:lnTo>
                  <a:lnTo>
                    <a:pt x="855599" y="641985"/>
                  </a:lnTo>
                  <a:lnTo>
                    <a:pt x="889254" y="600202"/>
                  </a:lnTo>
                  <a:lnTo>
                    <a:pt x="912749" y="550938"/>
                  </a:lnTo>
                  <a:lnTo>
                    <a:pt x="925576" y="489458"/>
                  </a:lnTo>
                  <a:lnTo>
                    <a:pt x="926211" y="459232"/>
                  </a:lnTo>
                  <a:lnTo>
                    <a:pt x="922655" y="432689"/>
                  </a:lnTo>
                  <a:lnTo>
                    <a:pt x="890905" y="372110"/>
                  </a:lnTo>
                  <a:lnTo>
                    <a:pt x="855980" y="344678"/>
                  </a:lnTo>
                  <a:lnTo>
                    <a:pt x="813816" y="324866"/>
                  </a:lnTo>
                  <a:lnTo>
                    <a:pt x="767715" y="310261"/>
                  </a:lnTo>
                  <a:lnTo>
                    <a:pt x="697738" y="293243"/>
                  </a:lnTo>
                  <a:lnTo>
                    <a:pt x="675767" y="287528"/>
                  </a:lnTo>
                  <a:lnTo>
                    <a:pt x="616585" y="267462"/>
                  </a:lnTo>
                  <a:lnTo>
                    <a:pt x="578612" y="231775"/>
                  </a:lnTo>
                  <a:lnTo>
                    <a:pt x="577342" y="204343"/>
                  </a:lnTo>
                  <a:lnTo>
                    <a:pt x="589661" y="178943"/>
                  </a:lnTo>
                  <a:lnTo>
                    <a:pt x="612775" y="158115"/>
                  </a:lnTo>
                  <a:lnTo>
                    <a:pt x="642874" y="144018"/>
                  </a:lnTo>
                  <a:lnTo>
                    <a:pt x="676656" y="138811"/>
                  </a:lnTo>
                  <a:lnTo>
                    <a:pt x="700151" y="140335"/>
                  </a:lnTo>
                  <a:lnTo>
                    <a:pt x="735965" y="151892"/>
                  </a:lnTo>
                  <a:lnTo>
                    <a:pt x="757301" y="173990"/>
                  </a:lnTo>
                  <a:lnTo>
                    <a:pt x="763651" y="205613"/>
                  </a:lnTo>
                  <a:lnTo>
                    <a:pt x="760603" y="225171"/>
                  </a:lnTo>
                  <a:lnTo>
                    <a:pt x="958977" y="225171"/>
                  </a:lnTo>
                  <a:lnTo>
                    <a:pt x="966216" y="192151"/>
                  </a:lnTo>
                  <a:lnTo>
                    <a:pt x="968756" y="162306"/>
                  </a:lnTo>
                  <a:close/>
                </a:path>
                <a:path w="3936365" h="746125">
                  <a:moveTo>
                    <a:pt x="1685163" y="14859"/>
                  </a:moveTo>
                  <a:lnTo>
                    <a:pt x="1139571" y="14859"/>
                  </a:lnTo>
                  <a:lnTo>
                    <a:pt x="987298" y="730885"/>
                  </a:lnTo>
                  <a:lnTo>
                    <a:pt x="1532890" y="730885"/>
                  </a:lnTo>
                  <a:lnTo>
                    <a:pt x="1562481" y="592074"/>
                  </a:lnTo>
                  <a:lnTo>
                    <a:pt x="1215263" y="592074"/>
                  </a:lnTo>
                  <a:lnTo>
                    <a:pt x="1247521" y="440309"/>
                  </a:lnTo>
                  <a:lnTo>
                    <a:pt x="1566926" y="440309"/>
                  </a:lnTo>
                  <a:lnTo>
                    <a:pt x="1596390" y="301498"/>
                  </a:lnTo>
                  <a:lnTo>
                    <a:pt x="1276985" y="301498"/>
                  </a:lnTo>
                  <a:lnTo>
                    <a:pt x="1308354" y="153670"/>
                  </a:lnTo>
                  <a:lnTo>
                    <a:pt x="1655572" y="153670"/>
                  </a:lnTo>
                  <a:lnTo>
                    <a:pt x="1685163" y="14859"/>
                  </a:lnTo>
                  <a:close/>
                </a:path>
                <a:path w="3936365" h="746125">
                  <a:moveTo>
                    <a:pt x="2495550" y="14859"/>
                  </a:moveTo>
                  <a:lnTo>
                    <a:pt x="2316988" y="14859"/>
                  </a:lnTo>
                  <a:lnTo>
                    <a:pt x="2203958" y="546481"/>
                  </a:lnTo>
                  <a:lnTo>
                    <a:pt x="2201672" y="548525"/>
                  </a:lnTo>
                  <a:lnTo>
                    <a:pt x="2075053" y="14859"/>
                  </a:lnTo>
                  <a:lnTo>
                    <a:pt x="1797177" y="14859"/>
                  </a:lnTo>
                  <a:lnTo>
                    <a:pt x="1644904" y="730885"/>
                  </a:lnTo>
                  <a:lnTo>
                    <a:pt x="1823593" y="730885"/>
                  </a:lnTo>
                  <a:lnTo>
                    <a:pt x="1940052" y="182499"/>
                  </a:lnTo>
                  <a:lnTo>
                    <a:pt x="1942084" y="182499"/>
                  </a:lnTo>
                  <a:lnTo>
                    <a:pt x="2068576" y="730885"/>
                  </a:lnTo>
                  <a:lnTo>
                    <a:pt x="2343404" y="730885"/>
                  </a:lnTo>
                  <a:lnTo>
                    <a:pt x="2495550" y="14859"/>
                  </a:lnTo>
                  <a:close/>
                </a:path>
                <a:path w="3936365" h="746125">
                  <a:moveTo>
                    <a:pt x="3224276" y="730885"/>
                  </a:moveTo>
                  <a:lnTo>
                    <a:pt x="3198749" y="591058"/>
                  </a:lnTo>
                  <a:lnTo>
                    <a:pt x="3173476" y="452247"/>
                  </a:lnTo>
                  <a:lnTo>
                    <a:pt x="3119247" y="154686"/>
                  </a:lnTo>
                  <a:lnTo>
                    <a:pt x="3093847" y="14859"/>
                  </a:lnTo>
                  <a:lnTo>
                    <a:pt x="2963037" y="14859"/>
                  </a:lnTo>
                  <a:lnTo>
                    <a:pt x="2963037" y="452247"/>
                  </a:lnTo>
                  <a:lnTo>
                    <a:pt x="2771521" y="452247"/>
                  </a:lnTo>
                  <a:lnTo>
                    <a:pt x="2932049" y="154686"/>
                  </a:lnTo>
                  <a:lnTo>
                    <a:pt x="2935097" y="154686"/>
                  </a:lnTo>
                  <a:lnTo>
                    <a:pt x="2963037" y="452247"/>
                  </a:lnTo>
                  <a:lnTo>
                    <a:pt x="2963037" y="14859"/>
                  </a:lnTo>
                  <a:lnTo>
                    <a:pt x="2851785" y="14859"/>
                  </a:lnTo>
                  <a:lnTo>
                    <a:pt x="2416670" y="730885"/>
                  </a:lnTo>
                  <a:lnTo>
                    <a:pt x="2615184" y="730885"/>
                  </a:lnTo>
                  <a:lnTo>
                    <a:pt x="2691511" y="591058"/>
                  </a:lnTo>
                  <a:lnTo>
                    <a:pt x="2982214" y="591058"/>
                  </a:lnTo>
                  <a:lnTo>
                    <a:pt x="3000121" y="730885"/>
                  </a:lnTo>
                  <a:lnTo>
                    <a:pt x="3224276" y="730885"/>
                  </a:lnTo>
                  <a:close/>
                </a:path>
                <a:path w="3936365" h="746125">
                  <a:moveTo>
                    <a:pt x="3650234" y="14859"/>
                  </a:moveTo>
                  <a:lnTo>
                    <a:pt x="3451860" y="14859"/>
                  </a:lnTo>
                  <a:lnTo>
                    <a:pt x="3299587" y="730885"/>
                  </a:lnTo>
                  <a:lnTo>
                    <a:pt x="3498088" y="730885"/>
                  </a:lnTo>
                  <a:lnTo>
                    <a:pt x="3650234" y="14859"/>
                  </a:lnTo>
                  <a:close/>
                </a:path>
                <a:path w="3936365" h="746125">
                  <a:moveTo>
                    <a:pt x="3936212" y="704316"/>
                  </a:moveTo>
                  <a:lnTo>
                    <a:pt x="3724783" y="704316"/>
                  </a:lnTo>
                  <a:lnTo>
                    <a:pt x="3724783" y="730758"/>
                  </a:lnTo>
                  <a:lnTo>
                    <a:pt x="3936212" y="730758"/>
                  </a:lnTo>
                  <a:lnTo>
                    <a:pt x="3936212" y="704316"/>
                  </a:lnTo>
                  <a:close/>
                </a:path>
                <a:path w="3936365" h="746125">
                  <a:moveTo>
                    <a:pt x="3936212" y="535165"/>
                  </a:moveTo>
                  <a:lnTo>
                    <a:pt x="3724783" y="535165"/>
                  </a:lnTo>
                  <a:lnTo>
                    <a:pt x="3724783" y="561594"/>
                  </a:lnTo>
                  <a:lnTo>
                    <a:pt x="3936212" y="561594"/>
                  </a:lnTo>
                  <a:lnTo>
                    <a:pt x="3936212" y="535165"/>
                  </a:lnTo>
                  <a:close/>
                </a:path>
                <a:path w="3936365" h="746125">
                  <a:moveTo>
                    <a:pt x="3936212" y="359651"/>
                  </a:moveTo>
                  <a:lnTo>
                    <a:pt x="3724783" y="359651"/>
                  </a:lnTo>
                  <a:lnTo>
                    <a:pt x="3724783" y="386080"/>
                  </a:lnTo>
                  <a:lnTo>
                    <a:pt x="3936212" y="386080"/>
                  </a:lnTo>
                  <a:lnTo>
                    <a:pt x="3936212" y="359651"/>
                  </a:lnTo>
                  <a:close/>
                </a:path>
                <a:path w="3936365" h="746125">
                  <a:moveTo>
                    <a:pt x="3936212" y="186512"/>
                  </a:moveTo>
                  <a:lnTo>
                    <a:pt x="3724783" y="186512"/>
                  </a:lnTo>
                  <a:lnTo>
                    <a:pt x="3724783" y="212979"/>
                  </a:lnTo>
                  <a:lnTo>
                    <a:pt x="3936212" y="212979"/>
                  </a:lnTo>
                  <a:lnTo>
                    <a:pt x="3936212" y="186512"/>
                  </a:lnTo>
                  <a:close/>
                </a:path>
                <a:path w="3936365" h="746125">
                  <a:moveTo>
                    <a:pt x="3936212" y="17894"/>
                  </a:moveTo>
                  <a:lnTo>
                    <a:pt x="3724783" y="17894"/>
                  </a:lnTo>
                  <a:lnTo>
                    <a:pt x="3724783" y="44323"/>
                  </a:lnTo>
                  <a:lnTo>
                    <a:pt x="3936212" y="44323"/>
                  </a:lnTo>
                  <a:lnTo>
                    <a:pt x="3936212" y="178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" y="6761988"/>
              <a:ext cx="12190730" cy="95885"/>
            </a:xfrm>
            <a:custGeom>
              <a:avLst/>
              <a:gdLst/>
              <a:ahLst/>
              <a:cxnLst/>
              <a:rect l="l" t="t" r="r" b="b"/>
              <a:pathLst>
                <a:path w="12190730" h="95884">
                  <a:moveTo>
                    <a:pt x="12190476" y="0"/>
                  </a:moveTo>
                  <a:lnTo>
                    <a:pt x="0" y="0"/>
                  </a:lnTo>
                  <a:lnTo>
                    <a:pt x="0" y="95758"/>
                  </a:lnTo>
                  <a:lnTo>
                    <a:pt x="12190476" y="95758"/>
                  </a:lnTo>
                  <a:lnTo>
                    <a:pt x="12190476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03605">
              <a:lnSpc>
                <a:spcPct val="100000"/>
              </a:lnSpc>
              <a:spcBef>
                <a:spcPts val="95"/>
              </a:spcBef>
            </a:pPr>
            <a:r>
              <a:rPr sz="3200" spc="-35" dirty="0">
                <a:solidFill>
                  <a:srgbClr val="000000"/>
                </a:solidFill>
                <a:latin typeface="Calibri"/>
                <a:cs typeface="Calibri"/>
              </a:rPr>
              <a:t>INSTALADOR</a:t>
            </a:r>
            <a:r>
              <a:rPr sz="32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z="3200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000000"/>
                </a:solidFill>
                <a:latin typeface="Calibri"/>
                <a:cs typeface="Calibri"/>
              </a:rPr>
              <a:t>REPARADOR</a:t>
            </a:r>
            <a:r>
              <a:rPr sz="32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000000"/>
                </a:solidFill>
                <a:latin typeface="Calibri"/>
                <a:cs typeface="Calibri"/>
              </a:rPr>
              <a:t>DE </a:t>
            </a:r>
            <a:r>
              <a:rPr sz="3200" spc="-40" dirty="0">
                <a:solidFill>
                  <a:srgbClr val="000000"/>
                </a:solidFill>
                <a:latin typeface="Calibri"/>
                <a:cs typeface="Calibri"/>
              </a:rPr>
              <a:t>EQUIPAMENTOS</a:t>
            </a:r>
            <a:r>
              <a:rPr sz="32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DE</a:t>
            </a:r>
            <a:r>
              <a:rPr sz="320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Calibri"/>
                <a:cs typeface="Calibri"/>
              </a:rPr>
              <a:t>TELECOMUNICAÇÕES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1610" marR="5080" indent="-1438910">
              <a:lnSpc>
                <a:spcPct val="107200"/>
              </a:lnSpc>
              <a:spcBef>
                <a:spcPts val="100"/>
              </a:spcBef>
              <a:tabLst>
                <a:tab pos="3567429" algn="l"/>
              </a:tabLst>
            </a:pPr>
            <a:r>
              <a:rPr sz="2800" dirty="0"/>
              <a:t>UNIDADE</a:t>
            </a:r>
            <a:r>
              <a:rPr sz="2800" spc="-100" dirty="0"/>
              <a:t> </a:t>
            </a:r>
            <a:r>
              <a:rPr sz="2800" dirty="0"/>
              <a:t>CURRICULAR:</a:t>
            </a:r>
            <a:r>
              <a:rPr sz="2800" spc="-90" dirty="0"/>
              <a:t> </a:t>
            </a:r>
            <a:r>
              <a:rPr sz="2800" spc="-10" dirty="0"/>
              <a:t>Tecnologia</a:t>
            </a:r>
            <a:r>
              <a:rPr sz="2800" spc="-90" dirty="0"/>
              <a:t> </a:t>
            </a:r>
            <a:r>
              <a:rPr sz="2800" spc="-25" dirty="0"/>
              <a:t>da </a:t>
            </a:r>
            <a:r>
              <a:rPr sz="2800" spc="-10" dirty="0"/>
              <a:t>Informação</a:t>
            </a:r>
            <a:r>
              <a:rPr sz="2800" dirty="0"/>
              <a:t>	-</a:t>
            </a:r>
            <a:r>
              <a:rPr sz="2800" spc="-20" dirty="0"/>
              <a:t> </a:t>
            </a:r>
            <a:r>
              <a:rPr sz="2800" dirty="0"/>
              <a:t>80</a:t>
            </a:r>
            <a:r>
              <a:rPr sz="2800" spc="-20" dirty="0"/>
              <a:t> </a:t>
            </a:r>
            <a:r>
              <a:rPr sz="2800" spc="-10" dirty="0"/>
              <a:t>horas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247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Objetivo</a:t>
            </a:r>
            <a:r>
              <a:rPr sz="2400" b="1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Geral:</a:t>
            </a:r>
            <a:r>
              <a:rPr sz="2400" b="1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0000"/>
                </a:solidFill>
                <a:latin typeface="Arial"/>
                <a:cs typeface="Arial"/>
              </a:rPr>
              <a:t>Tecnologia</a:t>
            </a:r>
            <a:r>
              <a:rPr sz="2400" b="1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da</a:t>
            </a:r>
            <a:r>
              <a:rPr sz="2400" b="1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0000"/>
                </a:solidFill>
                <a:latin typeface="Arial"/>
                <a:cs typeface="Arial"/>
              </a:rPr>
              <a:t>Informação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5060" y="1439925"/>
            <a:ext cx="3186430" cy="3542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090" indent="-199390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12090" algn="l"/>
              </a:tabLst>
            </a:pPr>
            <a:r>
              <a:rPr sz="1600" dirty="0">
                <a:latin typeface="Calibri"/>
                <a:cs typeface="Calibri"/>
              </a:rPr>
              <a:t>Planilhas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eletrônicas</a:t>
            </a:r>
            <a:endParaRPr sz="1600">
              <a:latin typeface="Calibri"/>
              <a:cs typeface="Calibri"/>
            </a:endParaRPr>
          </a:p>
          <a:p>
            <a:pPr marL="777240" lvl="1" indent="-353060">
              <a:lnSpc>
                <a:spcPct val="100000"/>
              </a:lnSpc>
              <a:spcBef>
                <a:spcPts val="1764"/>
              </a:spcBef>
              <a:buAutoNum type="arabicPeriod"/>
              <a:tabLst>
                <a:tab pos="777240" algn="l"/>
              </a:tabLst>
            </a:pPr>
            <a:r>
              <a:rPr sz="1600" spc="-10" dirty="0">
                <a:latin typeface="Calibri"/>
                <a:cs typeface="Calibri"/>
              </a:rPr>
              <a:t>Organização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dados</a:t>
            </a:r>
            <a:endParaRPr sz="1600">
              <a:latin typeface="Calibri"/>
              <a:cs typeface="Calibri"/>
            </a:endParaRPr>
          </a:p>
          <a:p>
            <a:pPr marL="1387475" lvl="2" indent="-506095">
              <a:lnSpc>
                <a:spcPct val="100000"/>
              </a:lnSpc>
              <a:spcBef>
                <a:spcPts val="1755"/>
              </a:spcBef>
              <a:buAutoNum type="arabicPeriod"/>
              <a:tabLst>
                <a:tab pos="1387475" algn="l"/>
              </a:tabLst>
            </a:pPr>
            <a:r>
              <a:rPr sz="1600" spc="-10" dirty="0">
                <a:latin typeface="Calibri"/>
                <a:cs typeface="Calibri"/>
              </a:rPr>
              <a:t>Tabelas</a:t>
            </a:r>
            <a:endParaRPr sz="1600">
              <a:latin typeface="Calibri"/>
              <a:cs typeface="Calibri"/>
            </a:endParaRPr>
          </a:p>
          <a:p>
            <a:pPr marL="1387475" lvl="2" indent="-506095">
              <a:lnSpc>
                <a:spcPct val="100000"/>
              </a:lnSpc>
              <a:spcBef>
                <a:spcPts val="1760"/>
              </a:spcBef>
              <a:buAutoNum type="arabicPeriod"/>
              <a:tabLst>
                <a:tab pos="1387475" algn="l"/>
              </a:tabLst>
            </a:pPr>
            <a:r>
              <a:rPr sz="1600" spc="-10" dirty="0">
                <a:latin typeface="Calibri"/>
                <a:cs typeface="Calibri"/>
              </a:rPr>
              <a:t>Gráficos</a:t>
            </a:r>
            <a:endParaRPr sz="1600">
              <a:latin typeface="Calibri"/>
              <a:cs typeface="Calibri"/>
            </a:endParaRPr>
          </a:p>
          <a:p>
            <a:pPr marL="777240" lvl="1" indent="-353060">
              <a:lnSpc>
                <a:spcPct val="100000"/>
              </a:lnSpc>
              <a:spcBef>
                <a:spcPts val="1764"/>
              </a:spcBef>
              <a:buAutoNum type="arabicPeriod"/>
              <a:tabLst>
                <a:tab pos="777240" algn="l"/>
              </a:tabLst>
            </a:pPr>
            <a:r>
              <a:rPr sz="1600" spc="-10" dirty="0">
                <a:latin typeface="Calibri"/>
                <a:cs typeface="Calibri"/>
              </a:rPr>
              <a:t>Recursos</a:t>
            </a:r>
            <a:endParaRPr sz="1600">
              <a:latin typeface="Calibri"/>
              <a:cs typeface="Calibri"/>
            </a:endParaRPr>
          </a:p>
          <a:p>
            <a:pPr marL="1387475" lvl="2" indent="-506095">
              <a:lnSpc>
                <a:spcPct val="100000"/>
              </a:lnSpc>
              <a:spcBef>
                <a:spcPts val="1760"/>
              </a:spcBef>
              <a:buAutoNum type="arabicPeriod"/>
              <a:tabLst>
                <a:tab pos="1387475" algn="l"/>
              </a:tabLst>
            </a:pPr>
            <a:r>
              <a:rPr sz="1600" dirty="0">
                <a:latin typeface="Calibri"/>
                <a:cs typeface="Calibri"/>
              </a:rPr>
              <a:t>Funções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lógicas</a:t>
            </a:r>
            <a:endParaRPr sz="1600">
              <a:latin typeface="Calibri"/>
              <a:cs typeface="Calibri"/>
            </a:endParaRPr>
          </a:p>
          <a:p>
            <a:pPr marL="1387475" lvl="2" indent="-506095">
              <a:lnSpc>
                <a:spcPct val="100000"/>
              </a:lnSpc>
              <a:spcBef>
                <a:spcPts val="1760"/>
              </a:spcBef>
              <a:buAutoNum type="arabicPeriod"/>
              <a:tabLst>
                <a:tab pos="1387475" algn="l"/>
              </a:tabLst>
            </a:pPr>
            <a:r>
              <a:rPr sz="1600" dirty="0">
                <a:latin typeface="Calibri"/>
                <a:cs typeface="Calibri"/>
              </a:rPr>
              <a:t>Funções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matemáticas</a:t>
            </a:r>
            <a:endParaRPr sz="1600">
              <a:latin typeface="Calibri"/>
              <a:cs typeface="Calibri"/>
            </a:endParaRPr>
          </a:p>
          <a:p>
            <a:pPr marL="777240" lvl="1" indent="-353060">
              <a:lnSpc>
                <a:spcPct val="100000"/>
              </a:lnSpc>
              <a:spcBef>
                <a:spcPts val="1760"/>
              </a:spcBef>
              <a:buAutoNum type="arabicPeriod"/>
              <a:tabLst>
                <a:tab pos="777240" algn="l"/>
              </a:tabLst>
            </a:pPr>
            <a:r>
              <a:rPr sz="1600" spc="-10" dirty="0">
                <a:latin typeface="Calibri"/>
                <a:cs typeface="Calibri"/>
              </a:rPr>
              <a:t>Impressão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9058" y="1684020"/>
            <a:ext cx="6012941" cy="38244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8" y="2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5539" y="1915413"/>
            <a:ext cx="7310755" cy="215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indent="4572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Excel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editor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planilhas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desenvolvido </a:t>
            </a:r>
            <a:r>
              <a:rPr sz="2800" dirty="0">
                <a:latin typeface="Calibri"/>
                <a:cs typeface="Calibri"/>
              </a:rPr>
              <a:t>pela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Microsoft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meados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1985.</a:t>
            </a:r>
            <a:endParaRPr sz="2800">
              <a:latin typeface="Calibri"/>
              <a:cs typeface="Calibri"/>
            </a:endParaRPr>
          </a:p>
          <a:p>
            <a:pPr marL="12700" marR="5080" indent="457200">
              <a:lnSpc>
                <a:spcPct val="100000"/>
              </a:lnSpc>
              <a:spcBef>
                <a:spcPts val="3360"/>
              </a:spcBef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história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Excel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começa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final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década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1970,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equipe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engenheiros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539" y="4049267"/>
            <a:ext cx="7309484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647825" algn="l"/>
                <a:tab pos="1715135" algn="l"/>
                <a:tab pos="2590165" algn="l"/>
                <a:tab pos="3191510" algn="l"/>
                <a:tab pos="3996054" algn="l"/>
                <a:tab pos="4878705" algn="l"/>
                <a:tab pos="6245860" algn="l"/>
                <a:tab pos="6728459" algn="l"/>
              </a:tabLst>
            </a:pPr>
            <a:r>
              <a:rPr sz="2800" spc="-10" dirty="0">
                <a:latin typeface="Calibri"/>
                <a:cs typeface="Calibri"/>
              </a:rPr>
              <a:t>Microsoft</a:t>
            </a:r>
            <a:r>
              <a:rPr sz="2800" dirty="0">
                <a:latin typeface="Calibri"/>
                <a:cs typeface="Calibri"/>
              </a:rPr>
              <a:t>		</a:t>
            </a:r>
            <a:r>
              <a:rPr sz="2800" spc="-10" dirty="0">
                <a:latin typeface="Calibri"/>
                <a:cs typeface="Calibri"/>
              </a:rPr>
              <a:t>liderada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por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Dan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Bricklin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Bob </a:t>
            </a:r>
            <a:r>
              <a:rPr sz="2800" spc="-10" dirty="0">
                <a:latin typeface="Calibri"/>
                <a:cs typeface="Calibri"/>
              </a:rPr>
              <a:t>Frankston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criou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926" y="4475988"/>
            <a:ext cx="43472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45895" algn="l"/>
                <a:tab pos="2802890" algn="l"/>
              </a:tabLst>
            </a:pPr>
            <a:r>
              <a:rPr sz="2800" spc="-10" dirty="0">
                <a:latin typeface="Calibri"/>
                <a:cs typeface="Calibri"/>
              </a:rPr>
              <a:t>primeira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planilha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eletrônica,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5539" y="4902708"/>
            <a:ext cx="26111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chamada </a:t>
            </a:r>
            <a:r>
              <a:rPr sz="2800" spc="-10" dirty="0">
                <a:latin typeface="Calibri"/>
                <a:cs typeface="Calibri"/>
              </a:rPr>
              <a:t>VisiCalc.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736594" y="685037"/>
            <a:ext cx="389001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000000"/>
                </a:solidFill>
                <a:latin typeface="Calibri"/>
                <a:cs typeface="Calibri"/>
              </a:rPr>
              <a:t>Microsoft</a:t>
            </a:r>
            <a:r>
              <a:rPr sz="4800" b="1" spc="-1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800" b="1" spc="-10" dirty="0">
                <a:solidFill>
                  <a:srgbClr val="000000"/>
                </a:solidFill>
                <a:latin typeface="Calibri"/>
                <a:cs typeface="Calibri"/>
              </a:rPr>
              <a:t>Excel</a:t>
            </a:r>
            <a:endParaRPr sz="4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200" y="749045"/>
            <a:ext cx="1123950" cy="71475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CD4FFCE-11AA-A4B3-4F37-27838F9D2BA6}"/>
              </a:ext>
            </a:extLst>
          </p:cNvPr>
          <p:cNvSpPr txBox="1"/>
          <p:nvPr/>
        </p:nvSpPr>
        <p:spPr>
          <a:xfrm>
            <a:off x="4344354" y="4998705"/>
            <a:ext cx="1197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Lotus 123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150" y="315468"/>
            <a:ext cx="580771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9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pc="-345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575" dirty="0">
                <a:solidFill>
                  <a:srgbClr val="000000"/>
                </a:solidFill>
                <a:latin typeface="Calibri"/>
                <a:cs typeface="Calibri"/>
              </a:rPr>
              <a:t>n</a:t>
            </a:r>
            <a:r>
              <a:rPr spc="-530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pc="-135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-145" dirty="0">
                <a:solidFill>
                  <a:srgbClr val="000000"/>
                </a:solidFill>
                <a:latin typeface="Calibri"/>
                <a:cs typeface="Calibri"/>
              </a:rPr>
              <a:t>i</a:t>
            </a:r>
            <a:r>
              <a:rPr spc="-135" dirty="0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r>
              <a:rPr spc="-509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pc="-45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315" dirty="0">
                <a:solidFill>
                  <a:srgbClr val="000000"/>
                </a:solidFill>
                <a:latin typeface="Calibri"/>
                <a:cs typeface="Calibri"/>
              </a:rPr>
              <a:t>básicos</a:t>
            </a:r>
            <a:r>
              <a:rPr spc="-25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de</a:t>
            </a:r>
            <a:r>
              <a:rPr spc="-1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0" dirty="0">
                <a:solidFill>
                  <a:srgbClr val="000000"/>
                </a:solidFill>
                <a:latin typeface="Calibri"/>
                <a:cs typeface="Calibri"/>
              </a:rPr>
              <a:t>planilha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501" y="1602486"/>
            <a:ext cx="7317105" cy="14230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32740" marR="5080" indent="-320040">
              <a:lnSpc>
                <a:spcPct val="100499"/>
              </a:lnSpc>
              <a:spcBef>
                <a:spcPts val="85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b="1" spc="-120" dirty="0">
                <a:latin typeface="Arial"/>
                <a:cs typeface="Arial"/>
              </a:rPr>
              <a:t>Célula</a:t>
            </a:r>
            <a:r>
              <a:rPr sz="2000" spc="-120" dirty="0">
                <a:latin typeface="Microsoft Sans Serif"/>
                <a:cs typeface="Microsoft Sans Serif"/>
              </a:rPr>
              <a:t>: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é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-155" dirty="0">
                <a:latin typeface="Microsoft Sans Serif"/>
                <a:cs typeface="Microsoft Sans Serif"/>
              </a:rPr>
              <a:t>um</a:t>
            </a:r>
            <a:r>
              <a:rPr sz="2000" spc="-254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quadrado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55" dirty="0">
                <a:latin typeface="Microsoft Sans Serif"/>
                <a:cs typeface="Microsoft Sans Serif"/>
              </a:rPr>
              <a:t>uma</a:t>
            </a:r>
            <a:r>
              <a:rPr sz="2000" spc="-135" dirty="0">
                <a:latin typeface="Microsoft Sans Serif"/>
                <a:cs typeface="Microsoft Sans Serif"/>
              </a:rPr>
              <a:t> </a:t>
            </a:r>
            <a:r>
              <a:rPr sz="2000" spc="-90" dirty="0">
                <a:latin typeface="Microsoft Sans Serif"/>
                <a:cs typeface="Microsoft Sans Serif"/>
              </a:rPr>
              <a:t>planilha,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-114" dirty="0">
                <a:latin typeface="Microsoft Sans Serif"/>
                <a:cs typeface="Microsoft Sans Serif"/>
              </a:rPr>
              <a:t>onde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150" dirty="0">
                <a:latin typeface="Microsoft Sans Serif"/>
                <a:cs typeface="Microsoft Sans Serif"/>
              </a:rPr>
              <a:t>podemos</a:t>
            </a:r>
            <a:r>
              <a:rPr sz="2000" spc="-110" dirty="0">
                <a:latin typeface="Microsoft Sans Serif"/>
                <a:cs typeface="Microsoft Sans Serif"/>
              </a:rPr>
              <a:t> </a:t>
            </a:r>
            <a:r>
              <a:rPr sz="2000" spc="-100" dirty="0">
                <a:latin typeface="Microsoft Sans Serif"/>
                <a:cs typeface="Microsoft Sans Serif"/>
              </a:rPr>
              <a:t>inserir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texto, </a:t>
            </a:r>
            <a:r>
              <a:rPr sz="2000" spc="-180" dirty="0">
                <a:latin typeface="Microsoft Sans Serif"/>
                <a:cs typeface="Microsoft Sans Serif"/>
              </a:rPr>
              <a:t>números</a:t>
            </a:r>
            <a:r>
              <a:rPr sz="2000" spc="-3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fórmulas;</a:t>
            </a:r>
            <a:endParaRPr sz="200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690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b="1" spc="-155" dirty="0">
                <a:latin typeface="Arial"/>
                <a:cs typeface="Arial"/>
              </a:rPr>
              <a:t>Linha:</a:t>
            </a:r>
            <a:r>
              <a:rPr sz="2000" b="1" spc="-145" dirty="0">
                <a:latin typeface="Arial"/>
                <a:cs typeface="Arial"/>
              </a:rPr>
              <a:t> </a:t>
            </a:r>
            <a:r>
              <a:rPr sz="2000" spc="-155" dirty="0">
                <a:latin typeface="Microsoft Sans Serif"/>
                <a:cs typeface="Microsoft Sans Serif"/>
              </a:rPr>
              <a:t>São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05" dirty="0">
                <a:latin typeface="Microsoft Sans Serif"/>
                <a:cs typeface="Microsoft Sans Serif"/>
              </a:rPr>
              <a:t>representadas</a:t>
            </a:r>
            <a:r>
              <a:rPr sz="2000" spc="-2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por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45" dirty="0">
                <a:latin typeface="Microsoft Sans Serif"/>
                <a:cs typeface="Microsoft Sans Serif"/>
              </a:rPr>
              <a:t>números;</a:t>
            </a:r>
            <a:endParaRPr sz="200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b="1" spc="-160" dirty="0">
                <a:latin typeface="Arial"/>
                <a:cs typeface="Arial"/>
              </a:rPr>
              <a:t>Colunas</a:t>
            </a:r>
            <a:r>
              <a:rPr sz="2000" spc="-160" dirty="0">
                <a:latin typeface="Microsoft Sans Serif"/>
                <a:cs typeface="Microsoft Sans Serif"/>
              </a:rPr>
              <a:t>: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155" dirty="0">
                <a:latin typeface="Microsoft Sans Serif"/>
                <a:cs typeface="Microsoft Sans Serif"/>
              </a:rPr>
              <a:t>São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80" dirty="0">
                <a:latin typeface="Microsoft Sans Serif"/>
                <a:cs typeface="Microsoft Sans Serif"/>
              </a:rPr>
              <a:t>representadospor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letras.</a:t>
            </a:r>
            <a:endParaRPr sz="200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8832" y="3100577"/>
            <a:ext cx="4931664" cy="34198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150" y="315468"/>
            <a:ext cx="580771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9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pc="-345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575" dirty="0">
                <a:solidFill>
                  <a:srgbClr val="000000"/>
                </a:solidFill>
                <a:latin typeface="Calibri"/>
                <a:cs typeface="Calibri"/>
              </a:rPr>
              <a:t>n</a:t>
            </a:r>
            <a:r>
              <a:rPr spc="-530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pc="-135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-145" dirty="0">
                <a:solidFill>
                  <a:srgbClr val="000000"/>
                </a:solidFill>
                <a:latin typeface="Calibri"/>
                <a:cs typeface="Calibri"/>
              </a:rPr>
              <a:t>i</a:t>
            </a:r>
            <a:r>
              <a:rPr spc="-135" dirty="0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r>
              <a:rPr spc="-509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pc="-45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315" dirty="0">
                <a:solidFill>
                  <a:srgbClr val="000000"/>
                </a:solidFill>
                <a:latin typeface="Calibri"/>
                <a:cs typeface="Calibri"/>
              </a:rPr>
              <a:t>básicos</a:t>
            </a:r>
            <a:r>
              <a:rPr spc="-25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de</a:t>
            </a:r>
            <a:r>
              <a:rPr spc="-1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0" dirty="0">
                <a:solidFill>
                  <a:srgbClr val="000000"/>
                </a:solidFill>
                <a:latin typeface="Calibri"/>
                <a:cs typeface="Calibri"/>
              </a:rPr>
              <a:t>planilha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701" y="1480261"/>
            <a:ext cx="6207760" cy="199707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25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b="1" dirty="0">
                <a:latin typeface="Verdana"/>
                <a:cs typeface="Verdana"/>
              </a:rPr>
              <a:t>A</a:t>
            </a:r>
            <a:r>
              <a:rPr sz="2000" b="1" spc="-320" dirty="0">
                <a:latin typeface="Verdana"/>
                <a:cs typeface="Verdana"/>
              </a:rPr>
              <a:t> </a:t>
            </a:r>
            <a:r>
              <a:rPr sz="2000" b="1" spc="-535" dirty="0">
                <a:latin typeface="Verdana"/>
                <a:cs typeface="Verdana"/>
              </a:rPr>
              <a:t>P</a:t>
            </a:r>
            <a:r>
              <a:rPr sz="2000" b="1" spc="-325" dirty="0">
                <a:latin typeface="Verdana"/>
                <a:cs typeface="Verdana"/>
              </a:rPr>
              <a:t>a</a:t>
            </a:r>
            <a:r>
              <a:rPr sz="2000" b="1" spc="-165" dirty="0">
                <a:latin typeface="Verdana"/>
                <a:cs typeface="Verdana"/>
              </a:rPr>
              <a:t>l</a:t>
            </a:r>
            <a:r>
              <a:rPr sz="2000" b="1" spc="-355" dirty="0">
                <a:latin typeface="Verdana"/>
                <a:cs typeface="Verdana"/>
              </a:rPr>
              <a:t>av</a:t>
            </a:r>
            <a:r>
              <a:rPr sz="2000" b="1" spc="-240" dirty="0">
                <a:latin typeface="Verdana"/>
                <a:cs typeface="Verdana"/>
              </a:rPr>
              <a:t>r</a:t>
            </a:r>
            <a:r>
              <a:rPr sz="2000" b="1" spc="-15" dirty="0">
                <a:latin typeface="Verdana"/>
                <a:cs typeface="Verdana"/>
              </a:rPr>
              <a:t>a</a:t>
            </a:r>
            <a:r>
              <a:rPr sz="2000" b="1" spc="-415" dirty="0">
                <a:latin typeface="Verdana"/>
                <a:cs typeface="Verdana"/>
              </a:rPr>
              <a:t> </a:t>
            </a:r>
            <a:r>
              <a:rPr sz="2000" b="1" spc="-254" dirty="0">
                <a:latin typeface="Verdana"/>
                <a:cs typeface="Verdana"/>
              </a:rPr>
              <a:t>“Maçã”</a:t>
            </a:r>
            <a:r>
              <a:rPr sz="2000" b="1" spc="-350" dirty="0">
                <a:latin typeface="Verdana"/>
                <a:cs typeface="Verdana"/>
              </a:rPr>
              <a:t> </a:t>
            </a:r>
            <a:r>
              <a:rPr sz="2000" b="1" spc="145" dirty="0">
                <a:latin typeface="Verdana"/>
                <a:cs typeface="Verdana"/>
              </a:rPr>
              <a:t>é</a:t>
            </a:r>
            <a:r>
              <a:rPr sz="2000" b="1" spc="-180" dirty="0">
                <a:latin typeface="Verdana"/>
                <a:cs typeface="Verdana"/>
              </a:rPr>
              <a:t>l</a:t>
            </a:r>
            <a:r>
              <a:rPr sz="2000" b="1" spc="-385" dirty="0">
                <a:latin typeface="Verdana"/>
                <a:cs typeface="Verdana"/>
              </a:rPr>
              <a:t>o</a:t>
            </a:r>
            <a:r>
              <a:rPr sz="2000" b="1" spc="-325" dirty="0">
                <a:latin typeface="Verdana"/>
                <a:cs typeface="Verdana"/>
              </a:rPr>
              <a:t>c</a:t>
            </a:r>
            <a:r>
              <a:rPr sz="2000" b="1" spc="-320" dirty="0">
                <a:latin typeface="Verdana"/>
                <a:cs typeface="Verdana"/>
              </a:rPr>
              <a:t>a</a:t>
            </a:r>
            <a:r>
              <a:rPr sz="2000" b="1" spc="-160" dirty="0">
                <a:latin typeface="Verdana"/>
                <a:cs typeface="Verdana"/>
              </a:rPr>
              <a:t>l</a:t>
            </a:r>
            <a:r>
              <a:rPr sz="2000" b="1" spc="-180" dirty="0">
                <a:latin typeface="Verdana"/>
                <a:cs typeface="Verdana"/>
              </a:rPr>
              <a:t>i</a:t>
            </a:r>
            <a:r>
              <a:rPr sz="2000" b="1" spc="-265" dirty="0">
                <a:latin typeface="Verdana"/>
                <a:cs typeface="Verdana"/>
              </a:rPr>
              <a:t>z</a:t>
            </a:r>
            <a:r>
              <a:rPr sz="2000" b="1" spc="-295" dirty="0">
                <a:latin typeface="Verdana"/>
                <a:cs typeface="Verdana"/>
              </a:rPr>
              <a:t>a</a:t>
            </a:r>
            <a:r>
              <a:rPr sz="2000" b="1" spc="-330" dirty="0">
                <a:latin typeface="Verdana"/>
                <a:cs typeface="Verdana"/>
              </a:rPr>
              <a:t>d</a:t>
            </a:r>
            <a:r>
              <a:rPr sz="2000" b="1" spc="-10" dirty="0">
                <a:latin typeface="Verdana"/>
                <a:cs typeface="Verdana"/>
              </a:rPr>
              <a:t>a</a:t>
            </a:r>
            <a:r>
              <a:rPr sz="2000" b="1" spc="-434" dirty="0">
                <a:latin typeface="Verdana"/>
                <a:cs typeface="Verdana"/>
              </a:rPr>
              <a:t> </a:t>
            </a:r>
            <a:r>
              <a:rPr sz="2000" b="1" spc="-190" dirty="0">
                <a:latin typeface="Verdana"/>
                <a:cs typeface="Verdana"/>
              </a:rPr>
              <a:t>na</a:t>
            </a:r>
            <a:r>
              <a:rPr sz="2000" b="1" spc="-470" dirty="0">
                <a:latin typeface="Verdana"/>
                <a:cs typeface="Verdana"/>
              </a:rPr>
              <a:t> </a:t>
            </a:r>
            <a:r>
              <a:rPr sz="2000" b="1" spc="-260" dirty="0">
                <a:latin typeface="Verdana"/>
                <a:cs typeface="Verdana"/>
              </a:rPr>
              <a:t>Coluna</a:t>
            </a:r>
            <a:r>
              <a:rPr sz="2000" b="1" spc="-40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A</a:t>
            </a:r>
            <a:r>
              <a:rPr sz="2000" b="1" spc="345" dirty="0">
                <a:latin typeface="Verdana"/>
                <a:cs typeface="Verdana"/>
              </a:rPr>
              <a:t> </a:t>
            </a:r>
            <a:r>
              <a:rPr sz="2000" b="1" spc="140" dirty="0">
                <a:latin typeface="Verdana"/>
                <a:cs typeface="Verdana"/>
              </a:rPr>
              <a:t>e</a:t>
            </a:r>
            <a:r>
              <a:rPr sz="2000" b="1" spc="-455" dirty="0">
                <a:latin typeface="Verdana"/>
                <a:cs typeface="Verdana"/>
              </a:rPr>
              <a:t>L</a:t>
            </a:r>
            <a:r>
              <a:rPr sz="2000" b="1" spc="-185" dirty="0">
                <a:latin typeface="Verdana"/>
                <a:cs typeface="Verdana"/>
              </a:rPr>
              <a:t>i</a:t>
            </a:r>
            <a:r>
              <a:rPr sz="2000" b="1" spc="-365" dirty="0">
                <a:latin typeface="Verdana"/>
                <a:cs typeface="Verdana"/>
              </a:rPr>
              <a:t>nh</a:t>
            </a:r>
            <a:r>
              <a:rPr sz="2000" b="1" spc="-15" dirty="0">
                <a:latin typeface="Verdana"/>
                <a:cs typeface="Verdana"/>
              </a:rPr>
              <a:t>a</a:t>
            </a:r>
            <a:r>
              <a:rPr sz="2000" b="1" spc="-445" dirty="0">
                <a:latin typeface="Verdana"/>
                <a:cs typeface="Verdana"/>
              </a:rPr>
              <a:t> </a:t>
            </a:r>
            <a:r>
              <a:rPr sz="2000" b="1" spc="-25" dirty="0">
                <a:latin typeface="Verdana"/>
                <a:cs typeface="Verdana"/>
              </a:rPr>
              <a:t>2</a:t>
            </a:r>
            <a:r>
              <a:rPr sz="2000" spc="-25" dirty="0">
                <a:latin typeface="Microsoft Sans Serif"/>
                <a:cs typeface="Microsoft Sans Serif"/>
              </a:rPr>
              <a:t>.</a:t>
            </a:r>
            <a:endParaRPr sz="200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25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b="1" spc="-495" dirty="0">
                <a:latin typeface="Verdana"/>
                <a:cs typeface="Verdana"/>
              </a:rPr>
              <a:t>E</a:t>
            </a:r>
            <a:r>
              <a:rPr sz="2000" b="1" spc="40" dirty="0">
                <a:latin typeface="Verdana"/>
                <a:cs typeface="Verdana"/>
              </a:rPr>
              <a:t>m</a:t>
            </a:r>
            <a:r>
              <a:rPr sz="2000" b="1" spc="-315" dirty="0">
                <a:latin typeface="Verdana"/>
                <a:cs typeface="Verdana"/>
              </a:rPr>
              <a:t>qu</a:t>
            </a:r>
            <a:r>
              <a:rPr sz="2000" b="1" spc="-320" dirty="0">
                <a:latin typeface="Verdana"/>
                <a:cs typeface="Verdana"/>
              </a:rPr>
              <a:t>a</a:t>
            </a:r>
            <a:r>
              <a:rPr sz="2000" b="1" spc="-15" dirty="0">
                <a:latin typeface="Verdana"/>
                <a:cs typeface="Verdana"/>
              </a:rPr>
              <a:t>l</a:t>
            </a:r>
            <a:r>
              <a:rPr sz="2000" b="1" spc="-390" dirty="0">
                <a:latin typeface="Verdana"/>
                <a:cs typeface="Verdana"/>
              </a:rPr>
              <a:t> </a:t>
            </a:r>
            <a:r>
              <a:rPr sz="2000" b="1" spc="-254" dirty="0">
                <a:latin typeface="Verdana"/>
                <a:cs typeface="Verdana"/>
              </a:rPr>
              <a:t>célula</a:t>
            </a:r>
            <a:r>
              <a:rPr sz="2000" b="1" spc="-395" dirty="0">
                <a:latin typeface="Verdana"/>
                <a:cs typeface="Verdana"/>
              </a:rPr>
              <a:t> </a:t>
            </a:r>
            <a:r>
              <a:rPr sz="2000" b="1" spc="-285" dirty="0">
                <a:latin typeface="Verdana"/>
                <a:cs typeface="Verdana"/>
              </a:rPr>
              <a:t>está</a:t>
            </a:r>
            <a:r>
              <a:rPr sz="2000" b="1" spc="-409" dirty="0">
                <a:latin typeface="Verdana"/>
                <a:cs typeface="Verdana"/>
              </a:rPr>
              <a:t> </a:t>
            </a:r>
            <a:r>
              <a:rPr sz="2000" b="1" spc="-250" dirty="0">
                <a:latin typeface="Verdana"/>
                <a:cs typeface="Verdana"/>
              </a:rPr>
              <a:t>localizada</a:t>
            </a:r>
            <a:r>
              <a:rPr sz="2000" b="1" spc="-425" dirty="0">
                <a:latin typeface="Verdana"/>
                <a:cs typeface="Verdana"/>
              </a:rPr>
              <a:t> </a:t>
            </a:r>
            <a:r>
              <a:rPr sz="2000" b="1" spc="-20" dirty="0">
                <a:latin typeface="Verdana"/>
                <a:cs typeface="Verdana"/>
              </a:rPr>
              <a:t>a</a:t>
            </a:r>
            <a:r>
              <a:rPr sz="2000" b="1" spc="-400" dirty="0">
                <a:latin typeface="Verdana"/>
                <a:cs typeface="Verdana"/>
              </a:rPr>
              <a:t> </a:t>
            </a:r>
            <a:r>
              <a:rPr sz="2000" b="1" spc="-254" dirty="0">
                <a:latin typeface="Verdana"/>
                <a:cs typeface="Verdana"/>
              </a:rPr>
              <a:t>palavra</a:t>
            </a:r>
            <a:r>
              <a:rPr sz="2000" b="1" spc="-385" dirty="0">
                <a:latin typeface="Verdana"/>
                <a:cs typeface="Verdana"/>
              </a:rPr>
              <a:t> </a:t>
            </a:r>
            <a:r>
              <a:rPr sz="2000" b="1" spc="-265" dirty="0">
                <a:latin typeface="Verdana"/>
                <a:cs typeface="Verdana"/>
              </a:rPr>
              <a:t>“Maçã”?</a:t>
            </a:r>
            <a:endParaRPr sz="2000" dirty="0">
              <a:latin typeface="Verdana"/>
              <a:cs typeface="Verdana"/>
            </a:endParaRPr>
          </a:p>
          <a:p>
            <a:pPr marL="332105" indent="-319405">
              <a:lnSpc>
                <a:spcPct val="100000"/>
              </a:lnSpc>
              <a:spcBef>
                <a:spcPts val="665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spc="-509" dirty="0">
                <a:latin typeface="Microsoft Sans Serif"/>
                <a:cs typeface="Microsoft Sans Serif"/>
              </a:rPr>
              <a:t>R</a:t>
            </a:r>
            <a:r>
              <a:rPr sz="2000" spc="-125" dirty="0">
                <a:latin typeface="Microsoft Sans Serif"/>
                <a:cs typeface="Microsoft Sans Serif"/>
              </a:rPr>
              <a:t>e</a:t>
            </a:r>
            <a:r>
              <a:rPr sz="2000" spc="-350" dirty="0">
                <a:latin typeface="Microsoft Sans Serif"/>
                <a:cs typeface="Microsoft Sans Serif"/>
              </a:rPr>
              <a:t>s</a:t>
            </a:r>
            <a:r>
              <a:rPr sz="2000" spc="-85" dirty="0">
                <a:latin typeface="Microsoft Sans Serif"/>
                <a:cs typeface="Microsoft Sans Serif"/>
              </a:rPr>
              <a:t>p</a:t>
            </a:r>
            <a:r>
              <a:rPr sz="2000" spc="-75" dirty="0">
                <a:latin typeface="Microsoft Sans Serif"/>
                <a:cs typeface="Microsoft Sans Serif"/>
              </a:rPr>
              <a:t>o</a:t>
            </a:r>
            <a:r>
              <a:rPr sz="2000" spc="-350" dirty="0">
                <a:latin typeface="Microsoft Sans Serif"/>
                <a:cs typeface="Microsoft Sans Serif"/>
              </a:rPr>
              <a:t>s</a:t>
            </a:r>
            <a:r>
              <a:rPr sz="2000" spc="-20" dirty="0">
                <a:latin typeface="Microsoft Sans Serif"/>
                <a:cs typeface="Microsoft Sans Serif"/>
              </a:rPr>
              <a:t>t</a:t>
            </a:r>
            <a:r>
              <a:rPr sz="2000" spc="-85" dirty="0">
                <a:latin typeface="Microsoft Sans Serif"/>
                <a:cs typeface="Microsoft Sans Serif"/>
              </a:rPr>
              <a:t>a</a:t>
            </a:r>
            <a:r>
              <a:rPr sz="2000" spc="-10" dirty="0">
                <a:latin typeface="Microsoft Sans Serif"/>
                <a:cs typeface="Microsoft Sans Serif"/>
              </a:rPr>
              <a:t>: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A2</a:t>
            </a:r>
            <a:endParaRPr sz="200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690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b="1" dirty="0">
                <a:latin typeface="Arial"/>
                <a:cs typeface="Arial"/>
              </a:rPr>
              <a:t>O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spc="-135" dirty="0">
                <a:latin typeface="Arial"/>
                <a:cs typeface="Arial"/>
              </a:rPr>
              <a:t>que</a:t>
            </a:r>
            <a:r>
              <a:rPr sz="2000" b="1" spc="-165" dirty="0">
                <a:latin typeface="Arial"/>
                <a:cs typeface="Arial"/>
              </a:rPr>
              <a:t> </a:t>
            </a:r>
            <a:r>
              <a:rPr sz="2000" b="1" spc="-160" dirty="0">
                <a:latin typeface="Arial"/>
                <a:cs typeface="Arial"/>
              </a:rPr>
              <a:t>está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170" dirty="0">
                <a:latin typeface="Arial"/>
                <a:cs typeface="Arial"/>
              </a:rPr>
              <a:t>escrito </a:t>
            </a:r>
            <a:r>
              <a:rPr sz="2000" b="1" spc="-75" dirty="0">
                <a:latin typeface="Arial"/>
                <a:cs typeface="Arial"/>
              </a:rPr>
              <a:t>na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spc="-125" dirty="0">
                <a:latin typeface="Arial"/>
                <a:cs typeface="Arial"/>
              </a:rPr>
              <a:t>célula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B1?</a:t>
            </a:r>
            <a:endParaRPr sz="2000" dirty="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720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spc="-509" dirty="0">
                <a:latin typeface="Microsoft Sans Serif"/>
                <a:cs typeface="Microsoft Sans Serif"/>
              </a:rPr>
              <a:t>R</a:t>
            </a:r>
            <a:r>
              <a:rPr sz="2000" spc="-125" dirty="0">
                <a:latin typeface="Microsoft Sans Serif"/>
                <a:cs typeface="Microsoft Sans Serif"/>
              </a:rPr>
              <a:t>e</a:t>
            </a:r>
            <a:r>
              <a:rPr sz="2000" spc="-350" dirty="0">
                <a:latin typeface="Microsoft Sans Serif"/>
                <a:cs typeface="Microsoft Sans Serif"/>
              </a:rPr>
              <a:t>s</a:t>
            </a:r>
            <a:r>
              <a:rPr sz="2000" spc="-85" dirty="0">
                <a:latin typeface="Microsoft Sans Serif"/>
                <a:cs typeface="Microsoft Sans Serif"/>
              </a:rPr>
              <a:t>p</a:t>
            </a:r>
            <a:r>
              <a:rPr sz="2000" spc="-75" dirty="0">
                <a:latin typeface="Microsoft Sans Serif"/>
                <a:cs typeface="Microsoft Sans Serif"/>
              </a:rPr>
              <a:t>o</a:t>
            </a:r>
            <a:r>
              <a:rPr sz="2000" spc="-350" dirty="0">
                <a:latin typeface="Microsoft Sans Serif"/>
                <a:cs typeface="Microsoft Sans Serif"/>
              </a:rPr>
              <a:t>s</a:t>
            </a:r>
            <a:r>
              <a:rPr sz="2000" spc="-20" dirty="0">
                <a:latin typeface="Microsoft Sans Serif"/>
                <a:cs typeface="Microsoft Sans Serif"/>
              </a:rPr>
              <a:t>t</a:t>
            </a:r>
            <a:r>
              <a:rPr sz="2000" spc="-85" dirty="0">
                <a:latin typeface="Microsoft Sans Serif"/>
                <a:cs typeface="Microsoft Sans Serif"/>
              </a:rPr>
              <a:t>a</a:t>
            </a:r>
            <a:r>
              <a:rPr sz="2000" spc="-10" dirty="0">
                <a:latin typeface="Microsoft Sans Serif"/>
                <a:cs typeface="Microsoft Sans Serif"/>
              </a:rPr>
              <a:t>: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Empresa</a:t>
            </a:r>
            <a:endParaRPr sz="200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3800288"/>
            <a:ext cx="4102608" cy="249631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26236A5-BCAC-452B-86D7-D22EACE28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00288"/>
            <a:ext cx="4102608" cy="27548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150" y="315468"/>
            <a:ext cx="32111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5" dirty="0">
                <a:solidFill>
                  <a:srgbClr val="000000"/>
                </a:solidFill>
                <a:latin typeface="Calibri"/>
                <a:cs typeface="Calibri"/>
              </a:rPr>
              <a:t>Inserindo</a:t>
            </a:r>
            <a:r>
              <a:rPr spc="-3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45" dirty="0">
                <a:solidFill>
                  <a:srgbClr val="000000"/>
                </a:solidFill>
                <a:latin typeface="Calibri"/>
                <a:cs typeface="Calibri"/>
              </a:rPr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701" y="1482547"/>
            <a:ext cx="5113655" cy="81343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0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spc="-150" dirty="0">
                <a:latin typeface="Microsoft Sans Serif"/>
                <a:cs typeface="Microsoft Sans Serif"/>
              </a:rPr>
              <a:t>Selecione</a:t>
            </a:r>
            <a:r>
              <a:rPr sz="2000" spc="-1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35" dirty="0">
                <a:latin typeface="Microsoft Sans Serif"/>
                <a:cs typeface="Microsoft Sans Serif"/>
              </a:rPr>
              <a:t> </a:t>
            </a:r>
            <a:r>
              <a:rPr sz="2000" spc="-114" dirty="0">
                <a:latin typeface="Microsoft Sans Serif"/>
                <a:cs typeface="Microsoft Sans Serif"/>
              </a:rPr>
              <a:t>célula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“A1”.</a:t>
            </a:r>
            <a:endParaRPr sz="200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spc="-20" dirty="0">
                <a:latin typeface="Microsoft Sans Serif"/>
                <a:cs typeface="Microsoft Sans Serif"/>
              </a:rPr>
              <a:t>A</a:t>
            </a:r>
            <a:r>
              <a:rPr sz="2000" spc="-110" dirty="0">
                <a:latin typeface="Microsoft Sans Serif"/>
                <a:cs typeface="Microsoft Sans Serif"/>
              </a:rPr>
              <a:t> </a:t>
            </a:r>
            <a:r>
              <a:rPr sz="2000" spc="-105" dirty="0">
                <a:latin typeface="Microsoft Sans Serif"/>
                <a:cs typeface="Microsoft Sans Serif"/>
              </a:rPr>
              <a:t>célula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spc="-120" dirty="0">
                <a:latin typeface="Microsoft Sans Serif"/>
                <a:cs typeface="Microsoft Sans Serif"/>
              </a:rPr>
              <a:t>selecionada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-130" dirty="0">
                <a:latin typeface="Microsoft Sans Serif"/>
                <a:cs typeface="Microsoft Sans Serif"/>
              </a:rPr>
              <a:t>se</a:t>
            </a:r>
            <a:r>
              <a:rPr sz="2000" spc="-200" dirty="0">
                <a:latin typeface="Microsoft Sans Serif"/>
                <a:cs typeface="Microsoft Sans Serif"/>
              </a:rPr>
              <a:t> </a:t>
            </a:r>
            <a:r>
              <a:rPr sz="2000" spc="-145" dirty="0">
                <a:latin typeface="Microsoft Sans Serif"/>
                <a:cs typeface="Microsoft Sans Serif"/>
              </a:rPr>
              <a:t>chama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40" dirty="0">
                <a:latin typeface="Microsoft Sans Serif"/>
                <a:cs typeface="Microsoft Sans Serif"/>
              </a:rPr>
              <a:t> </a:t>
            </a:r>
            <a:r>
              <a:rPr sz="2000" spc="-100" dirty="0">
                <a:latin typeface="Microsoft Sans Serif"/>
                <a:cs typeface="Microsoft Sans Serif"/>
              </a:rPr>
              <a:t>"célula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ativa".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43000" y="3307004"/>
            <a:ext cx="4070985" cy="2583180"/>
            <a:chOff x="2343911" y="2862072"/>
            <a:chExt cx="4070985" cy="25831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3911" y="2862072"/>
              <a:ext cx="3998976" cy="25085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3535" y="2898648"/>
              <a:ext cx="3995928" cy="251155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3921" y="2940558"/>
              <a:ext cx="3990594" cy="2504693"/>
            </a:xfrm>
            <a:prstGeom prst="rect">
              <a:avLst/>
            </a:prstGeom>
          </p:spPr>
        </p:pic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149AAF1E-A994-4DD4-9347-854EB18EB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3730" y="3307004"/>
            <a:ext cx="4495800" cy="23567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150" y="315468"/>
            <a:ext cx="32111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5" dirty="0">
                <a:solidFill>
                  <a:srgbClr val="000000"/>
                </a:solidFill>
                <a:latin typeface="Calibri"/>
                <a:cs typeface="Calibri"/>
              </a:rPr>
              <a:t>Inserindo</a:t>
            </a:r>
            <a:r>
              <a:rPr spc="-3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45" dirty="0">
                <a:solidFill>
                  <a:srgbClr val="000000"/>
                </a:solidFill>
                <a:latin typeface="Calibri"/>
                <a:cs typeface="Calibri"/>
              </a:rPr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8800" y="1344439"/>
            <a:ext cx="7960359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indent="-319405">
              <a:lnSpc>
                <a:spcPts val="2850"/>
              </a:lnSpc>
              <a:spcBef>
                <a:spcPts val="100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500" spc="-85" dirty="0">
                <a:latin typeface="Microsoft Sans Serif"/>
                <a:cs typeface="Microsoft Sans Serif"/>
              </a:rPr>
              <a:t>Digite</a:t>
            </a:r>
            <a:r>
              <a:rPr sz="2500" spc="-65" dirty="0">
                <a:latin typeface="Microsoft Sans Serif"/>
                <a:cs typeface="Microsoft Sans Serif"/>
              </a:rPr>
              <a:t> </a:t>
            </a:r>
            <a:r>
              <a:rPr sz="2500" spc="125" dirty="0">
                <a:latin typeface="Microsoft Sans Serif"/>
                <a:cs typeface="Microsoft Sans Serif"/>
              </a:rPr>
              <a:t>“</a:t>
            </a:r>
            <a:r>
              <a:rPr sz="2500" b="1" spc="-480" dirty="0">
                <a:latin typeface="Arial"/>
                <a:cs typeface="Arial"/>
              </a:rPr>
              <a:t>L</a:t>
            </a:r>
            <a:r>
              <a:rPr sz="2500" b="1" spc="-140" dirty="0">
                <a:latin typeface="Arial"/>
                <a:cs typeface="Arial"/>
              </a:rPr>
              <a:t>i</a:t>
            </a:r>
            <a:r>
              <a:rPr sz="2500" b="1" spc="-265" dirty="0">
                <a:latin typeface="Arial"/>
                <a:cs typeface="Arial"/>
              </a:rPr>
              <a:t>s</a:t>
            </a:r>
            <a:r>
              <a:rPr sz="2500" b="1" spc="-145" dirty="0">
                <a:latin typeface="Arial"/>
                <a:cs typeface="Arial"/>
              </a:rPr>
              <a:t>t</a:t>
            </a:r>
            <a:r>
              <a:rPr sz="2500" b="1" spc="-5" dirty="0">
                <a:latin typeface="Arial"/>
                <a:cs typeface="Arial"/>
              </a:rPr>
              <a:t>a</a:t>
            </a:r>
            <a:r>
              <a:rPr sz="2500" b="1" spc="-95" dirty="0">
                <a:latin typeface="Arial"/>
                <a:cs typeface="Arial"/>
              </a:rPr>
              <a:t> </a:t>
            </a:r>
            <a:r>
              <a:rPr sz="2500" b="1" spc="-100" dirty="0">
                <a:latin typeface="Arial"/>
                <a:cs typeface="Arial"/>
              </a:rPr>
              <a:t>de</a:t>
            </a:r>
            <a:r>
              <a:rPr sz="2500" b="1" spc="-220" dirty="0">
                <a:latin typeface="Arial"/>
                <a:cs typeface="Arial"/>
              </a:rPr>
              <a:t> </a:t>
            </a:r>
            <a:r>
              <a:rPr sz="2500" b="1" spc="-170" dirty="0">
                <a:latin typeface="Arial"/>
                <a:cs typeface="Arial"/>
              </a:rPr>
              <a:t>participantes</a:t>
            </a:r>
            <a:r>
              <a:rPr sz="2500" b="1" spc="-180" dirty="0">
                <a:latin typeface="Arial"/>
                <a:cs typeface="Arial"/>
              </a:rPr>
              <a:t> </a:t>
            </a:r>
            <a:r>
              <a:rPr sz="2500" b="1" spc="-110" dirty="0">
                <a:latin typeface="Arial"/>
                <a:cs typeface="Arial"/>
              </a:rPr>
              <a:t>do</a:t>
            </a:r>
            <a:r>
              <a:rPr sz="2500" b="1" spc="-210" dirty="0">
                <a:latin typeface="Arial"/>
                <a:cs typeface="Arial"/>
              </a:rPr>
              <a:t> </a:t>
            </a:r>
            <a:r>
              <a:rPr sz="2500" b="1" spc="-170" dirty="0">
                <a:latin typeface="Arial"/>
                <a:cs typeface="Arial"/>
              </a:rPr>
              <a:t>tour</a:t>
            </a:r>
            <a:r>
              <a:rPr sz="2500" b="1" spc="-190" dirty="0">
                <a:latin typeface="Arial"/>
                <a:cs typeface="Arial"/>
              </a:rPr>
              <a:t> </a:t>
            </a:r>
            <a:r>
              <a:rPr sz="2500" b="1" spc="-110" dirty="0">
                <a:latin typeface="Arial"/>
                <a:cs typeface="Arial"/>
              </a:rPr>
              <a:t>do</a:t>
            </a:r>
            <a:r>
              <a:rPr sz="2500" b="1" spc="-215" dirty="0">
                <a:latin typeface="Arial"/>
                <a:cs typeface="Arial"/>
              </a:rPr>
              <a:t> </a:t>
            </a:r>
            <a:r>
              <a:rPr sz="2500" b="1" spc="-175" dirty="0">
                <a:latin typeface="Arial"/>
                <a:cs typeface="Arial"/>
              </a:rPr>
              <a:t>ônibus</a:t>
            </a:r>
            <a:r>
              <a:rPr sz="2500" b="1" spc="-254" dirty="0">
                <a:latin typeface="Arial"/>
                <a:cs typeface="Arial"/>
              </a:rPr>
              <a:t> </a:t>
            </a:r>
            <a:r>
              <a:rPr sz="2500" b="1" spc="-110" dirty="0">
                <a:latin typeface="Arial"/>
                <a:cs typeface="Arial"/>
              </a:rPr>
              <a:t>do</a:t>
            </a:r>
            <a:r>
              <a:rPr sz="2500" b="1" spc="-185" dirty="0">
                <a:latin typeface="Arial"/>
                <a:cs typeface="Arial"/>
              </a:rPr>
              <a:t> </a:t>
            </a:r>
            <a:r>
              <a:rPr sz="2500" b="1" spc="-85" dirty="0">
                <a:latin typeface="Arial"/>
                <a:cs typeface="Arial"/>
              </a:rPr>
              <a:t>Nikko</a:t>
            </a:r>
            <a:r>
              <a:rPr sz="2500" b="1" spc="-85" dirty="0">
                <a:latin typeface="Verdana"/>
                <a:cs typeface="Verdana"/>
              </a:rPr>
              <a:t>”</a:t>
            </a:r>
            <a:endParaRPr sz="2500" dirty="0">
              <a:latin typeface="Verdana"/>
              <a:cs typeface="Verdana"/>
            </a:endParaRPr>
          </a:p>
          <a:p>
            <a:pPr marL="332740">
              <a:lnSpc>
                <a:spcPts val="2850"/>
              </a:lnSpc>
            </a:pPr>
            <a:r>
              <a:rPr sz="2500" dirty="0">
                <a:latin typeface="Microsoft Sans Serif"/>
                <a:cs typeface="Microsoft Sans Serif"/>
              </a:rPr>
              <a:t>e</a:t>
            </a:r>
            <a:r>
              <a:rPr sz="2500" spc="-130" dirty="0">
                <a:latin typeface="Microsoft Sans Serif"/>
                <a:cs typeface="Microsoft Sans Serif"/>
              </a:rPr>
              <a:t> </a:t>
            </a:r>
            <a:r>
              <a:rPr sz="2500" spc="-170" dirty="0">
                <a:latin typeface="Microsoft Sans Serif"/>
                <a:cs typeface="Microsoft Sans Serif"/>
              </a:rPr>
              <a:t>pressione</a:t>
            </a:r>
            <a:r>
              <a:rPr sz="2500" spc="-140" dirty="0">
                <a:latin typeface="Microsoft Sans Serif"/>
                <a:cs typeface="Microsoft Sans Serif"/>
              </a:rPr>
              <a:t> </a:t>
            </a:r>
            <a:r>
              <a:rPr sz="2500" spc="-425" dirty="0">
                <a:latin typeface="Microsoft Sans Serif"/>
                <a:cs typeface="Microsoft Sans Serif"/>
              </a:rPr>
              <a:t>ENTER.</a:t>
            </a:r>
            <a:endParaRPr sz="25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10079" y="3693040"/>
            <a:ext cx="7797800" cy="827791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32740" marR="5080" indent="-320040">
              <a:lnSpc>
                <a:spcPct val="80200"/>
              </a:lnSpc>
              <a:spcBef>
                <a:spcPts val="695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b="1" spc="-114" dirty="0">
                <a:latin typeface="Arial"/>
                <a:cs typeface="Arial"/>
              </a:rPr>
              <a:t>Se</a:t>
            </a:r>
            <a:r>
              <a:rPr lang="pt-BR" sz="2000" b="1" spc="-114" dirty="0">
                <a:latin typeface="Arial"/>
                <a:cs typeface="Arial"/>
              </a:rPr>
              <a:t> </a:t>
            </a:r>
            <a:r>
              <a:rPr sz="2000" b="1" spc="-114" dirty="0">
                <a:latin typeface="Arial"/>
                <a:cs typeface="Arial"/>
              </a:rPr>
              <a:t>o</a:t>
            </a:r>
            <a:r>
              <a:rPr sz="2000" b="1" spc="-385" dirty="0">
                <a:latin typeface="Arial"/>
                <a:cs typeface="Arial"/>
              </a:rPr>
              <a:t> </a:t>
            </a:r>
            <a:r>
              <a:rPr sz="2000" b="1" spc="-150" dirty="0">
                <a:latin typeface="Arial"/>
                <a:cs typeface="Arial"/>
              </a:rPr>
              <a:t>texto</a:t>
            </a:r>
            <a:r>
              <a:rPr sz="2000" b="1" spc="-340" dirty="0">
                <a:latin typeface="Arial"/>
                <a:cs typeface="Arial"/>
              </a:rPr>
              <a:t> </a:t>
            </a:r>
            <a:r>
              <a:rPr sz="2000" b="1" spc="-140" dirty="0">
                <a:latin typeface="Arial"/>
                <a:cs typeface="Arial"/>
              </a:rPr>
              <a:t>digitado</a:t>
            </a:r>
            <a:r>
              <a:rPr sz="2000" b="1" spc="-280" dirty="0">
                <a:latin typeface="Arial"/>
                <a:cs typeface="Arial"/>
              </a:rPr>
              <a:t> </a:t>
            </a:r>
            <a:r>
              <a:rPr sz="2000" b="1" spc="-120" dirty="0">
                <a:latin typeface="Arial"/>
                <a:cs typeface="Arial"/>
              </a:rPr>
              <a:t>for</a:t>
            </a:r>
            <a:r>
              <a:rPr sz="2000" b="1" spc="-275" dirty="0">
                <a:latin typeface="Arial"/>
                <a:cs typeface="Arial"/>
              </a:rPr>
              <a:t> </a:t>
            </a:r>
            <a:r>
              <a:rPr sz="2000" b="1" spc="-135" dirty="0">
                <a:latin typeface="Arial"/>
                <a:cs typeface="Arial"/>
              </a:rPr>
              <a:t>maior</a:t>
            </a:r>
            <a:r>
              <a:rPr sz="2000" b="1" spc="-280" dirty="0">
                <a:latin typeface="Arial"/>
                <a:cs typeface="Arial"/>
              </a:rPr>
              <a:t> </a:t>
            </a:r>
            <a:r>
              <a:rPr sz="2000" b="1" spc="-145" dirty="0">
                <a:latin typeface="Arial"/>
                <a:cs typeface="Arial"/>
              </a:rPr>
              <a:t>que</a:t>
            </a:r>
            <a:r>
              <a:rPr sz="2000" b="1" spc="-3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</a:t>
            </a:r>
            <a:r>
              <a:rPr sz="2000" b="1" spc="-380" dirty="0">
                <a:latin typeface="Arial"/>
                <a:cs typeface="Arial"/>
              </a:rPr>
              <a:t> </a:t>
            </a:r>
            <a:r>
              <a:rPr sz="2000" b="1" spc="-160" dirty="0">
                <a:latin typeface="Arial"/>
                <a:cs typeface="Arial"/>
              </a:rPr>
              <a:t>tamanho</a:t>
            </a:r>
            <a:r>
              <a:rPr sz="2000" b="1" spc="-315" dirty="0">
                <a:latin typeface="Arial"/>
                <a:cs typeface="Arial"/>
              </a:rPr>
              <a:t> </a:t>
            </a:r>
            <a:r>
              <a:rPr sz="2000" b="1" spc="-80" dirty="0">
                <a:latin typeface="Arial"/>
                <a:cs typeface="Arial"/>
              </a:rPr>
              <a:t>da</a:t>
            </a:r>
            <a:r>
              <a:rPr sz="2000" b="1" spc="-25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célula? </a:t>
            </a:r>
            <a:r>
              <a:rPr sz="2000" spc="-170" dirty="0" err="1">
                <a:latin typeface="Microsoft Sans Serif"/>
                <a:cs typeface="Microsoft Sans Serif"/>
              </a:rPr>
              <a:t>Posicione</a:t>
            </a:r>
            <a:r>
              <a:rPr lang="pt-BR" sz="2000" spc="-170" dirty="0">
                <a:latin typeface="Microsoft Sans Serif"/>
                <a:cs typeface="Microsoft Sans Serif"/>
              </a:rPr>
              <a:t> </a:t>
            </a:r>
            <a:r>
              <a:rPr sz="2000" spc="-170" dirty="0">
                <a:latin typeface="Microsoft Sans Serif"/>
                <a:cs typeface="Microsoft Sans Serif"/>
              </a:rPr>
              <a:t>o</a:t>
            </a:r>
            <a:r>
              <a:rPr sz="2000" spc="-300" dirty="0">
                <a:latin typeface="Microsoft Sans Serif"/>
                <a:cs typeface="Microsoft Sans Serif"/>
              </a:rPr>
              <a:t> </a:t>
            </a:r>
            <a:r>
              <a:rPr sz="2000" spc="-175" dirty="0">
                <a:latin typeface="Microsoft Sans Serif"/>
                <a:cs typeface="Microsoft Sans Serif"/>
              </a:rPr>
              <a:t>cursor</a:t>
            </a:r>
            <a:r>
              <a:rPr sz="2000" spc="-380" dirty="0">
                <a:latin typeface="Microsoft Sans Serif"/>
                <a:cs typeface="Microsoft Sans Serif"/>
              </a:rPr>
              <a:t> </a:t>
            </a:r>
            <a:r>
              <a:rPr sz="2000" spc="-105" dirty="0">
                <a:latin typeface="Microsoft Sans Serif"/>
                <a:cs typeface="Microsoft Sans Serif"/>
              </a:rPr>
              <a:t>entre</a:t>
            </a:r>
            <a:r>
              <a:rPr sz="2000" spc="-2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-125" dirty="0">
                <a:latin typeface="Microsoft Sans Serif"/>
                <a:cs typeface="Microsoft Sans Serif"/>
              </a:rPr>
              <a:t>coluna</a:t>
            </a:r>
            <a:r>
              <a:rPr sz="2000" spc="9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16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</a:t>
            </a:r>
            <a:r>
              <a:rPr sz="2000" spc="-30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125" dirty="0">
                <a:latin typeface="Microsoft Sans Serif"/>
                <a:cs typeface="Microsoft Sans Serif"/>
              </a:rPr>
              <a:t>coluna</a:t>
            </a:r>
            <a:r>
              <a:rPr sz="2000" spc="100" dirty="0">
                <a:latin typeface="Microsoft Sans Serif"/>
                <a:cs typeface="Microsoft Sans Serif"/>
              </a:rPr>
              <a:t> </a:t>
            </a:r>
            <a:r>
              <a:rPr sz="2000" spc="-160" dirty="0">
                <a:latin typeface="Microsoft Sans Serif"/>
                <a:cs typeface="Microsoft Sans Serif"/>
              </a:rPr>
              <a:t>B.</a:t>
            </a:r>
            <a:r>
              <a:rPr sz="2000" spc="-30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Quando </a:t>
            </a:r>
            <a:r>
              <a:rPr sz="2000" spc="-150" dirty="0">
                <a:latin typeface="Microsoft Sans Serif"/>
                <a:cs typeface="Microsoft Sans Serif"/>
              </a:rPr>
              <a:t>você</a:t>
            </a:r>
            <a:r>
              <a:rPr sz="2000" spc="-370" dirty="0">
                <a:latin typeface="Microsoft Sans Serif"/>
                <a:cs typeface="Microsoft Sans Serif"/>
              </a:rPr>
              <a:t> </a:t>
            </a:r>
            <a:r>
              <a:rPr sz="2000" spc="-30" dirty="0">
                <a:latin typeface="Microsoft Sans Serif"/>
                <a:cs typeface="Microsoft Sans Serif"/>
              </a:rPr>
              <a:t>fizer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40" dirty="0" err="1">
                <a:latin typeface="Microsoft Sans Serif"/>
                <a:cs typeface="Microsoft Sans Serif"/>
              </a:rPr>
              <a:t>isso,ele</a:t>
            </a:r>
            <a:r>
              <a:rPr sz="2000" spc="-175" dirty="0">
                <a:latin typeface="Microsoft Sans Serif"/>
                <a:cs typeface="Microsoft Sans Serif"/>
              </a:rPr>
              <a:t> </a:t>
            </a:r>
            <a:r>
              <a:rPr sz="2000" spc="-110" dirty="0">
                <a:latin typeface="Microsoft Sans Serif"/>
                <a:cs typeface="Microsoft Sans Serif"/>
              </a:rPr>
              <a:t>se</a:t>
            </a:r>
            <a:r>
              <a:rPr lang="pt-BR" sz="2000" spc="-110" dirty="0">
                <a:latin typeface="Microsoft Sans Serif"/>
                <a:cs typeface="Microsoft Sans Serif"/>
              </a:rPr>
              <a:t> </a:t>
            </a:r>
            <a:r>
              <a:rPr sz="2000" spc="-110" dirty="0" err="1">
                <a:latin typeface="Microsoft Sans Serif"/>
                <a:cs typeface="Microsoft Sans Serif"/>
              </a:rPr>
              <a:t>transformará</a:t>
            </a:r>
            <a:r>
              <a:rPr sz="2000" spc="-140" dirty="0">
                <a:latin typeface="Microsoft Sans Serif"/>
                <a:cs typeface="Microsoft Sans Serif"/>
              </a:rPr>
              <a:t> </a:t>
            </a:r>
            <a:r>
              <a:rPr sz="2000" spc="-130" dirty="0" err="1">
                <a:latin typeface="Microsoft Sans Serif"/>
                <a:cs typeface="Microsoft Sans Serif"/>
              </a:rPr>
              <a:t>em</a:t>
            </a:r>
            <a:r>
              <a:rPr lang="pt-BR" sz="2000" spc="-130" dirty="0">
                <a:latin typeface="Microsoft Sans Serif"/>
                <a:cs typeface="Microsoft Sans Serif"/>
              </a:rPr>
              <a:t> </a:t>
            </a:r>
            <a:r>
              <a:rPr sz="2000" spc="-130" dirty="0" err="1">
                <a:latin typeface="Microsoft Sans Serif"/>
                <a:cs typeface="Microsoft Sans Serif"/>
              </a:rPr>
              <a:t>uma</a:t>
            </a:r>
            <a:r>
              <a:rPr lang="pt-BR" sz="2000" spc="-130" dirty="0">
                <a:latin typeface="Microsoft Sans Serif"/>
                <a:cs typeface="Microsoft Sans Serif"/>
              </a:rPr>
              <a:t> </a:t>
            </a:r>
            <a:r>
              <a:rPr sz="2000" spc="-130" dirty="0" err="1">
                <a:latin typeface="Microsoft Sans Serif"/>
                <a:cs typeface="Microsoft Sans Serif"/>
              </a:rPr>
              <a:t>cruz</a:t>
            </a:r>
            <a:r>
              <a:rPr sz="2000" spc="-130" dirty="0">
                <a:latin typeface="Microsoft Sans Serif"/>
                <a:cs typeface="Microsoft Sans Serif"/>
              </a:rPr>
              <a:t>.</a:t>
            </a:r>
            <a:r>
              <a:rPr sz="2000" spc="-295" dirty="0">
                <a:latin typeface="Microsoft Sans Serif"/>
                <a:cs typeface="Microsoft Sans Serif"/>
              </a:rPr>
              <a:t> </a:t>
            </a:r>
            <a:r>
              <a:rPr sz="2000" spc="-125" dirty="0">
                <a:latin typeface="Microsoft Sans Serif"/>
                <a:cs typeface="Microsoft Sans Serif"/>
              </a:rPr>
              <a:t>Clique</a:t>
            </a:r>
            <a:r>
              <a:rPr sz="2000" spc="-235" dirty="0">
                <a:latin typeface="Microsoft Sans Serif"/>
                <a:cs typeface="Microsoft Sans Serif"/>
              </a:rPr>
              <a:t> </a:t>
            </a:r>
            <a:r>
              <a:rPr sz="2000" spc="-80" dirty="0">
                <a:latin typeface="Microsoft Sans Serif"/>
                <a:cs typeface="Microsoft Sans Serif"/>
              </a:rPr>
              <a:t>duas </a:t>
            </a:r>
            <a:r>
              <a:rPr sz="2000" spc="-165" dirty="0">
                <a:latin typeface="Microsoft Sans Serif"/>
                <a:cs typeface="Microsoft Sans Serif"/>
              </a:rPr>
              <a:t>vezes</a:t>
            </a:r>
            <a:r>
              <a:rPr sz="2000" spc="-295" dirty="0">
                <a:latin typeface="Microsoft Sans Serif"/>
                <a:cs typeface="Microsoft Sans Serif"/>
              </a:rPr>
              <a:t> </a:t>
            </a:r>
            <a:r>
              <a:rPr sz="2000" spc="-155" dirty="0">
                <a:latin typeface="Microsoft Sans Serif"/>
                <a:cs typeface="Microsoft Sans Serif"/>
              </a:rPr>
              <a:t>no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local.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47876" y="6067900"/>
            <a:ext cx="7047865" cy="58221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32740" marR="5080" indent="-320040">
              <a:lnSpc>
                <a:spcPct val="80000"/>
              </a:lnSpc>
              <a:spcBef>
                <a:spcPts val="700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spc="-135" dirty="0">
                <a:latin typeface="Microsoft Sans Serif"/>
                <a:cs typeface="Microsoft Sans Serif"/>
              </a:rPr>
              <a:t>Clicando</a:t>
            </a:r>
            <a:r>
              <a:rPr sz="2000" spc="-140" dirty="0">
                <a:latin typeface="Microsoft Sans Serif"/>
                <a:cs typeface="Microsoft Sans Serif"/>
              </a:rPr>
              <a:t> </a:t>
            </a:r>
            <a:r>
              <a:rPr sz="2000" spc="-95" dirty="0">
                <a:latin typeface="Microsoft Sans Serif"/>
                <a:cs typeface="Microsoft Sans Serif"/>
              </a:rPr>
              <a:t>duas</a:t>
            </a:r>
            <a:r>
              <a:rPr sz="2000" spc="-400" dirty="0">
                <a:latin typeface="Microsoft Sans Serif"/>
                <a:cs typeface="Microsoft Sans Serif"/>
              </a:rPr>
              <a:t> </a:t>
            </a:r>
            <a:r>
              <a:rPr sz="2000" spc="-165" dirty="0">
                <a:latin typeface="Microsoft Sans Serif"/>
                <a:cs typeface="Microsoft Sans Serif"/>
              </a:rPr>
              <a:t>vezes</a:t>
            </a:r>
            <a:r>
              <a:rPr sz="2000" spc="-280" dirty="0">
                <a:latin typeface="Microsoft Sans Serif"/>
                <a:cs typeface="Microsoft Sans Serif"/>
              </a:rPr>
              <a:t> </a:t>
            </a:r>
            <a:r>
              <a:rPr sz="2000" spc="-135" dirty="0">
                <a:latin typeface="Microsoft Sans Serif"/>
                <a:cs typeface="Microsoft Sans Serif"/>
              </a:rPr>
              <a:t>ajusta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35" dirty="0">
                <a:latin typeface="Microsoft Sans Serif"/>
                <a:cs typeface="Microsoft Sans Serif"/>
              </a:rPr>
              <a:t>célula</a:t>
            </a:r>
            <a:r>
              <a:rPr sz="2000" dirty="0">
                <a:latin typeface="Microsoft Sans Serif"/>
                <a:cs typeface="Microsoft Sans Serif"/>
              </a:rPr>
              <a:t> de</a:t>
            </a:r>
            <a:r>
              <a:rPr sz="2000" spc="-55" dirty="0">
                <a:latin typeface="Microsoft Sans Serif"/>
                <a:cs typeface="Microsoft Sans Serif"/>
              </a:rPr>
              <a:t> </a:t>
            </a:r>
            <a:r>
              <a:rPr sz="2000" spc="-90" dirty="0">
                <a:latin typeface="Microsoft Sans Serif"/>
                <a:cs typeface="Microsoft Sans Serif"/>
              </a:rPr>
              <a:t>acordo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210" dirty="0">
                <a:latin typeface="Microsoft Sans Serif"/>
                <a:cs typeface="Microsoft Sans Serif"/>
              </a:rPr>
              <a:t>com</a:t>
            </a:r>
            <a:r>
              <a:rPr sz="2000" spc="-254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a </a:t>
            </a:r>
            <a:r>
              <a:rPr sz="2000" spc="-55" dirty="0">
                <a:latin typeface="Microsoft Sans Serif"/>
                <a:cs typeface="Microsoft Sans Serif"/>
              </a:rPr>
              <a:t>largura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-165" dirty="0">
                <a:latin typeface="Microsoft Sans Serif"/>
                <a:cs typeface="Microsoft Sans Serif"/>
              </a:rPr>
              <a:t>mais</a:t>
            </a:r>
            <a:r>
              <a:rPr sz="2000" spc="-27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apropriada</a:t>
            </a:r>
            <a:endParaRPr sz="2000" dirty="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03421" y="2144872"/>
            <a:ext cx="3459479" cy="3759835"/>
            <a:chOff x="4008120" y="2336292"/>
            <a:chExt cx="3459479" cy="37598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8120" y="2336292"/>
              <a:ext cx="3386328" cy="13243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47744" y="2371344"/>
              <a:ext cx="3383279" cy="1325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88130" y="2411730"/>
              <a:ext cx="3379470" cy="13220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16552" y="4997196"/>
              <a:ext cx="2502407" cy="10256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53128" y="5032248"/>
              <a:ext cx="2505455" cy="10271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95800" y="5073396"/>
              <a:ext cx="2497074" cy="1022603"/>
            </a:xfrm>
            <a:prstGeom prst="rect">
              <a:avLst/>
            </a:prstGeom>
          </p:spPr>
        </p:pic>
      </p:grpSp>
      <p:pic>
        <p:nvPicPr>
          <p:cNvPr id="13" name="Imagem 12">
            <a:extLst>
              <a:ext uri="{FF2B5EF4-FFF2-40B4-BE49-F238E27FC236}">
                <a16:creationId xmlns:a16="http://schemas.microsoft.com/office/drawing/2014/main" id="{92ED65E5-4C4C-4D61-B1D7-31AFD45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3790" y="1990046"/>
            <a:ext cx="4495800" cy="149542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4D87907-11BE-4EA9-8F30-71F5F20B7C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8963" y="4623180"/>
            <a:ext cx="4620270" cy="13908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150" y="315468"/>
            <a:ext cx="64541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10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pc="-305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-315" dirty="0">
                <a:solidFill>
                  <a:srgbClr val="000000"/>
                </a:solidFill>
                <a:latin typeface="Calibri"/>
                <a:cs typeface="Calibri"/>
              </a:rPr>
              <a:t>l</a:t>
            </a:r>
            <a:r>
              <a:rPr spc="-305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-310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pc="-315" dirty="0">
                <a:solidFill>
                  <a:srgbClr val="000000"/>
                </a:solidFill>
                <a:latin typeface="Calibri"/>
                <a:cs typeface="Calibri"/>
              </a:rPr>
              <a:t>i</a:t>
            </a:r>
            <a:r>
              <a:rPr spc="-310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315" dirty="0">
                <a:solidFill>
                  <a:srgbClr val="000000"/>
                </a:solidFill>
                <a:latin typeface="Calibri"/>
                <a:cs typeface="Calibri"/>
              </a:rPr>
              <a:t>n</a:t>
            </a:r>
            <a:r>
              <a:rPr spc="-31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pc="-695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,</a:t>
            </a:r>
            <a:r>
              <a:rPr spc="-2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254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pc="-220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215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pc="-270" dirty="0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r>
              <a:rPr spc="-22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pc="-600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,</a:t>
            </a:r>
            <a:r>
              <a:rPr spc="-1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45" dirty="0">
                <a:solidFill>
                  <a:srgbClr val="000000"/>
                </a:solidFill>
                <a:latin typeface="Calibri"/>
                <a:cs typeface="Calibri"/>
              </a:rPr>
              <a:t>copiar</a:t>
            </a:r>
            <a:r>
              <a:rPr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-1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80" dirty="0">
                <a:solidFill>
                  <a:srgbClr val="000000"/>
                </a:solidFill>
                <a:latin typeface="Calibri"/>
                <a:cs typeface="Calibri"/>
              </a:rPr>
              <a:t>colar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2336" y="2077720"/>
            <a:ext cx="47625" cy="1333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60701" y="1484071"/>
            <a:ext cx="7616825" cy="109537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10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b="1" spc="-80" dirty="0">
                <a:latin typeface="Arial"/>
                <a:cs typeface="Arial"/>
              </a:rPr>
              <a:t>Selecionando:</a:t>
            </a:r>
            <a:endParaRPr sz="2000">
              <a:latin typeface="Arial"/>
              <a:cs typeface="Arial"/>
            </a:endParaRPr>
          </a:p>
          <a:p>
            <a:pPr marL="652780" marR="8890" indent="-104775">
              <a:lnSpc>
                <a:spcPct val="100000"/>
              </a:lnSpc>
              <a:spcBef>
                <a:spcPts val="615"/>
              </a:spcBef>
            </a:pPr>
            <a:r>
              <a:rPr sz="2000" spc="-100" dirty="0">
                <a:latin typeface="Microsoft Sans Serif"/>
                <a:cs typeface="Microsoft Sans Serif"/>
              </a:rPr>
              <a:t>clique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180" dirty="0">
                <a:latin typeface="Microsoft Sans Serif"/>
                <a:cs typeface="Microsoft Sans Serif"/>
              </a:rPr>
              <a:t>numa</a:t>
            </a:r>
            <a:r>
              <a:rPr sz="2000" spc="-140" dirty="0">
                <a:latin typeface="Microsoft Sans Serif"/>
                <a:cs typeface="Microsoft Sans Serif"/>
              </a:rPr>
              <a:t> </a:t>
            </a:r>
            <a:r>
              <a:rPr sz="2000" spc="-105" dirty="0">
                <a:latin typeface="Microsoft Sans Serif"/>
                <a:cs typeface="Microsoft Sans Serif"/>
              </a:rPr>
              <a:t>célula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spc="-85" dirty="0">
                <a:latin typeface="Microsoft Sans Serif"/>
                <a:cs typeface="Microsoft Sans Serif"/>
              </a:rPr>
              <a:t>e,</a:t>
            </a:r>
            <a:r>
              <a:rPr sz="2000" spc="-145" dirty="0">
                <a:latin typeface="Microsoft Sans Serif"/>
                <a:cs typeface="Microsoft Sans Serif"/>
              </a:rPr>
              <a:t> </a:t>
            </a:r>
            <a:r>
              <a:rPr sz="2000" spc="-190" dirty="0">
                <a:latin typeface="Microsoft Sans Serif"/>
                <a:cs typeface="Microsoft Sans Serif"/>
              </a:rPr>
              <a:t>sem</a:t>
            </a:r>
            <a:r>
              <a:rPr sz="2000" spc="-24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largar </a:t>
            </a:r>
            <a:r>
              <a:rPr sz="2000" dirty="0">
                <a:latin typeface="Microsoft Sans Serif"/>
                <a:cs typeface="Microsoft Sans Serif"/>
              </a:rPr>
              <a:t>o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-200" dirty="0">
                <a:latin typeface="Microsoft Sans Serif"/>
                <a:cs typeface="Microsoft Sans Serif"/>
              </a:rPr>
              <a:t>mouse,</a:t>
            </a:r>
            <a:r>
              <a:rPr sz="2000" spc="-204" dirty="0">
                <a:latin typeface="Microsoft Sans Serif"/>
                <a:cs typeface="Microsoft Sans Serif"/>
              </a:rPr>
              <a:t> </a:t>
            </a:r>
            <a:r>
              <a:rPr sz="2000" spc="-80" dirty="0">
                <a:latin typeface="Microsoft Sans Serif"/>
                <a:cs typeface="Microsoft Sans Serif"/>
              </a:rPr>
              <a:t>arraste-</a:t>
            </a:r>
            <a:r>
              <a:rPr sz="2000" dirty="0">
                <a:latin typeface="Microsoft Sans Serif"/>
                <a:cs typeface="Microsoft Sans Serif"/>
              </a:rPr>
              <a:t>o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spc="-85" dirty="0">
                <a:latin typeface="Microsoft Sans Serif"/>
                <a:cs typeface="Microsoft Sans Serif"/>
              </a:rPr>
              <a:t>na</a:t>
            </a:r>
            <a:r>
              <a:rPr sz="2000" spc="-95" dirty="0">
                <a:latin typeface="Microsoft Sans Serif"/>
                <a:cs typeface="Microsoft Sans Serif"/>
              </a:rPr>
              <a:t> horizontal</a:t>
            </a:r>
            <a:r>
              <a:rPr sz="2000" spc="-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na </a:t>
            </a:r>
            <a:r>
              <a:rPr sz="2000" spc="-80" dirty="0">
                <a:latin typeface="Microsoft Sans Serif"/>
                <a:cs typeface="Microsoft Sans Serif"/>
              </a:rPr>
              <a:t>vertical,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de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65" dirty="0">
                <a:latin typeface="Microsoft Sans Serif"/>
                <a:cs typeface="Microsoft Sans Serif"/>
              </a:rPr>
              <a:t>forma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125" dirty="0">
                <a:latin typeface="Microsoft Sans Serif"/>
                <a:cs typeface="Microsoft Sans Serif"/>
              </a:rPr>
              <a:t>selecionar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área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-105" dirty="0">
                <a:latin typeface="Microsoft Sans Serif"/>
                <a:cs typeface="Microsoft Sans Serif"/>
              </a:rPr>
              <a:t>que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pretende.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800" y="2804719"/>
            <a:ext cx="3240023" cy="360121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053A7AD-E127-4E07-9291-3AAACEF73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9724" y="2667000"/>
            <a:ext cx="3343366" cy="40499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150" y="315468"/>
            <a:ext cx="64541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10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pc="-305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-315" dirty="0">
                <a:solidFill>
                  <a:srgbClr val="000000"/>
                </a:solidFill>
                <a:latin typeface="Calibri"/>
                <a:cs typeface="Calibri"/>
              </a:rPr>
              <a:t>l</a:t>
            </a:r>
            <a:r>
              <a:rPr spc="-305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-310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pc="-315" dirty="0">
                <a:solidFill>
                  <a:srgbClr val="000000"/>
                </a:solidFill>
                <a:latin typeface="Calibri"/>
                <a:cs typeface="Calibri"/>
              </a:rPr>
              <a:t>i</a:t>
            </a:r>
            <a:r>
              <a:rPr spc="-310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315" dirty="0">
                <a:solidFill>
                  <a:srgbClr val="000000"/>
                </a:solidFill>
                <a:latin typeface="Calibri"/>
                <a:cs typeface="Calibri"/>
              </a:rPr>
              <a:t>n</a:t>
            </a:r>
            <a:r>
              <a:rPr spc="-31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pc="-695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,</a:t>
            </a:r>
            <a:r>
              <a:rPr spc="-2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254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pc="-220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215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pc="-270" dirty="0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r>
              <a:rPr spc="-22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pc="-600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,</a:t>
            </a:r>
            <a:r>
              <a:rPr spc="-1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45" dirty="0">
                <a:solidFill>
                  <a:srgbClr val="000000"/>
                </a:solidFill>
                <a:latin typeface="Calibri"/>
                <a:cs typeface="Calibri"/>
              </a:rPr>
              <a:t>copiar</a:t>
            </a:r>
            <a:r>
              <a:rPr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-1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80" dirty="0">
                <a:solidFill>
                  <a:srgbClr val="000000"/>
                </a:solidFill>
                <a:latin typeface="Calibri"/>
                <a:cs typeface="Calibri"/>
              </a:rPr>
              <a:t>colar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89682" y="2657855"/>
            <a:ext cx="47625" cy="1124585"/>
            <a:chOff x="2289682" y="2657855"/>
            <a:chExt cx="47625" cy="11245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9682" y="2657855"/>
              <a:ext cx="47625" cy="1333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9682" y="3648709"/>
              <a:ext cx="47625" cy="13335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38200" y="1776095"/>
            <a:ext cx="4449445" cy="330581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33375" indent="-320675">
              <a:lnSpc>
                <a:spcPct val="100000"/>
              </a:lnSpc>
              <a:spcBef>
                <a:spcPts val="710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3375" algn="l"/>
              </a:tabLst>
            </a:pPr>
            <a:r>
              <a:rPr sz="2000" b="1" spc="-170" dirty="0">
                <a:latin typeface="Arial"/>
                <a:cs typeface="Arial"/>
              </a:rPr>
              <a:t>Selecionando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spc="-140" dirty="0">
                <a:latin typeface="Arial"/>
                <a:cs typeface="Arial"/>
              </a:rPr>
              <a:t>células</a:t>
            </a:r>
            <a:r>
              <a:rPr sz="2000" b="1" spc="-160" dirty="0">
                <a:latin typeface="Arial"/>
                <a:cs typeface="Arial"/>
              </a:rPr>
              <a:t> </a:t>
            </a:r>
            <a:r>
              <a:rPr sz="2000" b="1" spc="-105" dirty="0">
                <a:latin typeface="Arial"/>
                <a:cs typeface="Arial"/>
              </a:rPr>
              <a:t>não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45" dirty="0">
                <a:latin typeface="Arial"/>
                <a:cs typeface="Arial"/>
              </a:rPr>
              <a:t>contínuas:</a:t>
            </a:r>
            <a:endParaRPr sz="2000" dirty="0">
              <a:latin typeface="Arial"/>
              <a:cs typeface="Arial"/>
            </a:endParaRPr>
          </a:p>
          <a:p>
            <a:pPr marL="653415" marR="5080" indent="-113030">
              <a:lnSpc>
                <a:spcPct val="100000"/>
              </a:lnSpc>
              <a:spcBef>
                <a:spcPts val="615"/>
              </a:spcBef>
            </a:pPr>
            <a:r>
              <a:rPr sz="2000" spc="-80" dirty="0">
                <a:latin typeface="Microsoft Sans Serif"/>
                <a:cs typeface="Microsoft Sans Serif"/>
              </a:rPr>
              <a:t>basta,</a:t>
            </a:r>
            <a:r>
              <a:rPr sz="2000" spc="-114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ao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80" dirty="0">
                <a:latin typeface="Microsoft Sans Serif"/>
                <a:cs typeface="Microsoft Sans Serif"/>
              </a:rPr>
              <a:t>realizarmos</a:t>
            </a:r>
            <a:r>
              <a:rPr sz="2000" spc="-32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as</a:t>
            </a:r>
            <a:r>
              <a:rPr sz="2000" spc="-310" dirty="0">
                <a:latin typeface="Microsoft Sans Serif"/>
                <a:cs typeface="Microsoft Sans Serif"/>
              </a:rPr>
              <a:t> </a:t>
            </a:r>
            <a:r>
              <a:rPr sz="2000" spc="-145" dirty="0">
                <a:latin typeface="Microsoft Sans Serif"/>
                <a:cs typeface="Microsoft Sans Serif"/>
              </a:rPr>
              <a:t>seleções</a:t>
            </a:r>
            <a:r>
              <a:rPr sz="2000" spc="-315" dirty="0">
                <a:latin typeface="Microsoft Sans Serif"/>
                <a:cs typeface="Microsoft Sans Serif"/>
              </a:rPr>
              <a:t> </a:t>
            </a:r>
            <a:r>
              <a:rPr sz="2000" spc="-45" dirty="0">
                <a:latin typeface="Microsoft Sans Serif"/>
                <a:cs typeface="Microsoft Sans Serif"/>
              </a:rPr>
              <a:t>com </a:t>
            </a:r>
            <a:r>
              <a:rPr sz="2000" dirty="0">
                <a:latin typeface="Microsoft Sans Serif"/>
                <a:cs typeface="Microsoft Sans Serif"/>
              </a:rPr>
              <a:t>o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spc="-215" dirty="0">
                <a:latin typeface="Microsoft Sans Serif"/>
                <a:cs typeface="Microsoft Sans Serif"/>
              </a:rPr>
              <a:t>mouse,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spc="-135" dirty="0">
                <a:latin typeface="Microsoft Sans Serif"/>
                <a:cs typeface="Microsoft Sans Serif"/>
              </a:rPr>
              <a:t>pressionar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65" dirty="0">
                <a:latin typeface="Microsoft Sans Serif"/>
                <a:cs typeface="Microsoft Sans Serif"/>
              </a:rPr>
              <a:t>tecla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spc="-45" dirty="0">
                <a:latin typeface="Microsoft Sans Serif"/>
                <a:cs typeface="Microsoft Sans Serif"/>
              </a:rPr>
              <a:t>Ctrl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do </a:t>
            </a:r>
            <a:r>
              <a:rPr sz="2000" spc="-10" dirty="0">
                <a:latin typeface="Microsoft Sans Serif"/>
                <a:cs typeface="Microsoft Sans Serif"/>
              </a:rPr>
              <a:t>teclado.</a:t>
            </a:r>
            <a:endParaRPr sz="2000" dirty="0">
              <a:latin typeface="Microsoft Sans Serif"/>
              <a:cs typeface="Microsoft Sans Serif"/>
            </a:endParaRPr>
          </a:p>
          <a:p>
            <a:pPr marL="653415" marR="100330" indent="-113030">
              <a:lnSpc>
                <a:spcPct val="100000"/>
              </a:lnSpc>
              <a:spcBef>
                <a:spcPts val="600"/>
              </a:spcBef>
            </a:pPr>
            <a:r>
              <a:rPr sz="2000" spc="-130" dirty="0">
                <a:latin typeface="Microsoft Sans Serif"/>
                <a:cs typeface="Microsoft Sans Serif"/>
              </a:rPr>
              <a:t>Neste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spc="-120" dirty="0">
                <a:latin typeface="Microsoft Sans Serif"/>
                <a:cs typeface="Microsoft Sans Serif"/>
              </a:rPr>
              <a:t>exemplo,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spc="-155" dirty="0">
                <a:latin typeface="Microsoft Sans Serif"/>
                <a:cs typeface="Microsoft Sans Serif"/>
              </a:rPr>
              <a:t>selecionamos</a:t>
            </a:r>
            <a:r>
              <a:rPr sz="2000" spc="-28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apenas </a:t>
            </a:r>
            <a:r>
              <a:rPr sz="2000" spc="-90" dirty="0">
                <a:latin typeface="Microsoft Sans Serif"/>
                <a:cs typeface="Microsoft Sans Serif"/>
              </a:rPr>
              <a:t>ascélulas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de</a:t>
            </a:r>
            <a:r>
              <a:rPr sz="2000" spc="-114" dirty="0">
                <a:latin typeface="Microsoft Sans Serif"/>
                <a:cs typeface="Microsoft Sans Serif"/>
              </a:rPr>
              <a:t> </a:t>
            </a:r>
            <a:r>
              <a:rPr sz="2000" spc="-180" dirty="0">
                <a:latin typeface="Microsoft Sans Serif"/>
                <a:cs typeface="Microsoft Sans Serif"/>
              </a:rPr>
              <a:t>B5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até</a:t>
            </a:r>
            <a:r>
              <a:rPr sz="2000" spc="-110" dirty="0">
                <a:latin typeface="Microsoft Sans Serif"/>
                <a:cs typeface="Microsoft Sans Serif"/>
              </a:rPr>
              <a:t> </a:t>
            </a:r>
            <a:r>
              <a:rPr sz="2000" spc="-90" dirty="0">
                <a:latin typeface="Microsoft Sans Serif"/>
                <a:cs typeface="Microsoft Sans Serif"/>
              </a:rPr>
              <a:t>D5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</a:t>
            </a:r>
            <a:r>
              <a:rPr sz="2000" spc="-1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175" dirty="0">
                <a:latin typeface="Microsoft Sans Serif"/>
                <a:cs typeface="Microsoft Sans Serif"/>
              </a:rPr>
              <a:t>B8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até </a:t>
            </a:r>
            <a:r>
              <a:rPr sz="2000" spc="-105" dirty="0">
                <a:latin typeface="Microsoft Sans Serif"/>
                <a:cs typeface="Microsoft Sans Serif"/>
              </a:rPr>
              <a:t>D8.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spc="-80" dirty="0">
                <a:latin typeface="Microsoft Sans Serif"/>
                <a:cs typeface="Microsoft Sans Serif"/>
              </a:rPr>
              <a:t>Note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spc="-190" dirty="0">
                <a:latin typeface="Microsoft Sans Serif"/>
                <a:cs typeface="Microsoft Sans Serif"/>
              </a:rPr>
              <a:t>como</a:t>
            </a:r>
            <a:r>
              <a:rPr sz="2000" spc="-55" dirty="0">
                <a:latin typeface="Microsoft Sans Serif"/>
                <a:cs typeface="Microsoft Sans Serif"/>
              </a:rPr>
              <a:t> </a:t>
            </a:r>
            <a:r>
              <a:rPr sz="2000" spc="-150" dirty="0">
                <a:latin typeface="Microsoft Sans Serif"/>
                <a:cs typeface="Microsoft Sans Serif"/>
              </a:rPr>
              <a:t>nas</a:t>
            </a:r>
            <a:r>
              <a:rPr sz="2000" spc="-145" dirty="0">
                <a:latin typeface="Microsoft Sans Serif"/>
                <a:cs typeface="Microsoft Sans Serif"/>
              </a:rPr>
              <a:t> </a:t>
            </a:r>
            <a:r>
              <a:rPr sz="2000" spc="-110" dirty="0">
                <a:latin typeface="Microsoft Sans Serif"/>
                <a:cs typeface="Microsoft Sans Serif"/>
              </a:rPr>
              <a:t>réguas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de </a:t>
            </a:r>
            <a:r>
              <a:rPr sz="2000" spc="-120" dirty="0">
                <a:latin typeface="Microsoft Sans Serif"/>
                <a:cs typeface="Microsoft Sans Serif"/>
              </a:rPr>
              <a:t>designação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-30" dirty="0">
                <a:latin typeface="Microsoft Sans Serif"/>
                <a:cs typeface="Microsoft Sans Serif"/>
              </a:rPr>
              <a:t>das</a:t>
            </a:r>
            <a:r>
              <a:rPr sz="2000" spc="-305" dirty="0">
                <a:latin typeface="Microsoft Sans Serif"/>
                <a:cs typeface="Microsoft Sans Serif"/>
              </a:rPr>
              <a:t> </a:t>
            </a:r>
            <a:r>
              <a:rPr sz="2000" spc="-110" dirty="0">
                <a:latin typeface="Microsoft Sans Serif"/>
                <a:cs typeface="Microsoft Sans Serif"/>
              </a:rPr>
              <a:t>linhas</a:t>
            </a:r>
            <a:r>
              <a:rPr sz="2000" spc="-254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-145" dirty="0">
                <a:latin typeface="Microsoft Sans Serif"/>
                <a:cs typeface="Microsoft Sans Serif"/>
              </a:rPr>
              <a:t>colunas</a:t>
            </a:r>
            <a:r>
              <a:rPr sz="2000" spc="-28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há </a:t>
            </a:r>
            <a:r>
              <a:rPr sz="2000" spc="-220" dirty="0">
                <a:latin typeface="Microsoft Sans Serif"/>
                <a:cs typeface="Microsoft Sans Serif"/>
              </a:rPr>
              <a:t>uma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55" dirty="0">
                <a:latin typeface="Microsoft Sans Serif"/>
                <a:cs typeface="Microsoft Sans Serif"/>
              </a:rPr>
              <a:t>mudança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de</a:t>
            </a:r>
            <a:r>
              <a:rPr sz="2000" spc="-125" dirty="0">
                <a:latin typeface="Microsoft Sans Serif"/>
                <a:cs typeface="Microsoft Sans Serif"/>
              </a:rPr>
              <a:t> </a:t>
            </a:r>
            <a:r>
              <a:rPr sz="2000" spc="-110" dirty="0">
                <a:latin typeface="Microsoft Sans Serif"/>
                <a:cs typeface="Microsoft Sans Serif"/>
              </a:rPr>
              <a:t>cor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para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spc="-45" dirty="0">
                <a:latin typeface="Microsoft Sans Serif"/>
                <a:cs typeface="Microsoft Sans Serif"/>
              </a:rPr>
              <a:t>ajudar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a </a:t>
            </a:r>
            <a:r>
              <a:rPr sz="2000" spc="-110" dirty="0">
                <a:latin typeface="Microsoft Sans Serif"/>
                <a:cs typeface="Microsoft Sans Serif"/>
              </a:rPr>
              <a:t>visualizar</a:t>
            </a:r>
            <a:r>
              <a:rPr sz="2000" spc="6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as</a:t>
            </a:r>
            <a:r>
              <a:rPr sz="2000" spc="-300" dirty="0">
                <a:latin typeface="Microsoft Sans Serif"/>
                <a:cs typeface="Microsoft Sans Serif"/>
              </a:rPr>
              <a:t> </a:t>
            </a:r>
            <a:r>
              <a:rPr sz="2000" spc="-140" dirty="0">
                <a:latin typeface="Microsoft Sans Serif"/>
                <a:cs typeface="Microsoft Sans Serif"/>
              </a:rPr>
              <a:t>células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selecionadas.</a:t>
            </a:r>
            <a:endParaRPr sz="2000" dirty="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9526" y="1963338"/>
            <a:ext cx="3363325" cy="396011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860C30C-DBE1-49AE-9122-DC1BB5965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9168" y="1953721"/>
            <a:ext cx="3417267" cy="39601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150" y="315468"/>
            <a:ext cx="64541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10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pc="-305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-315" dirty="0">
                <a:solidFill>
                  <a:srgbClr val="000000"/>
                </a:solidFill>
                <a:latin typeface="Calibri"/>
                <a:cs typeface="Calibri"/>
              </a:rPr>
              <a:t>l</a:t>
            </a:r>
            <a:r>
              <a:rPr spc="-305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-310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pc="-315" dirty="0">
                <a:solidFill>
                  <a:srgbClr val="000000"/>
                </a:solidFill>
                <a:latin typeface="Calibri"/>
                <a:cs typeface="Calibri"/>
              </a:rPr>
              <a:t>i</a:t>
            </a:r>
            <a:r>
              <a:rPr spc="-310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315" dirty="0">
                <a:solidFill>
                  <a:srgbClr val="000000"/>
                </a:solidFill>
                <a:latin typeface="Calibri"/>
                <a:cs typeface="Calibri"/>
              </a:rPr>
              <a:t>n</a:t>
            </a:r>
            <a:r>
              <a:rPr spc="-31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pc="-695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,</a:t>
            </a:r>
            <a:r>
              <a:rPr spc="-2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254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pc="-220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215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pc="-270" dirty="0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r>
              <a:rPr spc="-22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pc="-600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,</a:t>
            </a:r>
            <a:r>
              <a:rPr spc="-1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45" dirty="0">
                <a:solidFill>
                  <a:srgbClr val="000000"/>
                </a:solidFill>
                <a:latin typeface="Calibri"/>
                <a:cs typeface="Calibri"/>
              </a:rPr>
              <a:t>copiar</a:t>
            </a:r>
            <a:r>
              <a:rPr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-1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80" dirty="0">
                <a:solidFill>
                  <a:srgbClr val="000000"/>
                </a:solidFill>
                <a:latin typeface="Calibri"/>
                <a:cs typeface="Calibri"/>
              </a:rPr>
              <a:t>colar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219200"/>
            <a:ext cx="4138295" cy="24359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marR="85090" indent="-320040">
              <a:lnSpc>
                <a:spcPct val="100000"/>
              </a:lnSpc>
              <a:spcBef>
                <a:spcPts val="95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spc="-120" dirty="0">
                <a:latin typeface="Microsoft Sans Serif"/>
                <a:cs typeface="Microsoft Sans Serif"/>
              </a:rPr>
              <a:t>Depois</a:t>
            </a:r>
            <a:r>
              <a:rPr sz="2000" spc="-254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125" dirty="0">
                <a:latin typeface="Microsoft Sans Serif"/>
                <a:cs typeface="Microsoft Sans Serif"/>
              </a:rPr>
              <a:t>selecionado</a:t>
            </a:r>
            <a:r>
              <a:rPr sz="2000" spc="-114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texto </a:t>
            </a:r>
            <a:r>
              <a:rPr sz="2000" spc="-120" dirty="0">
                <a:latin typeface="Microsoft Sans Serif"/>
                <a:cs typeface="Microsoft Sans Serif"/>
              </a:rPr>
              <a:t>podemos</a:t>
            </a:r>
            <a:r>
              <a:rPr sz="2000" spc="-340" dirty="0">
                <a:latin typeface="Microsoft Sans Serif"/>
                <a:cs typeface="Microsoft Sans Serif"/>
              </a:rPr>
              <a:t> </a:t>
            </a:r>
            <a:r>
              <a:rPr sz="2000" spc="-165" dirty="0">
                <a:latin typeface="Microsoft Sans Serif"/>
                <a:cs typeface="Microsoft Sans Serif"/>
              </a:rPr>
              <a:t>usar</a:t>
            </a:r>
            <a:r>
              <a:rPr sz="2000" spc="45" dirty="0">
                <a:latin typeface="Microsoft Sans Serif"/>
                <a:cs typeface="Microsoft Sans Serif"/>
              </a:rPr>
              <a:t> </a:t>
            </a:r>
            <a:r>
              <a:rPr sz="2000" spc="-100" dirty="0">
                <a:latin typeface="Microsoft Sans Serif"/>
                <a:cs typeface="Microsoft Sans Serif"/>
              </a:rPr>
              <a:t>as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75" dirty="0">
                <a:latin typeface="Microsoft Sans Serif"/>
                <a:cs typeface="Microsoft Sans Serif"/>
              </a:rPr>
              <a:t>tecla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-130" dirty="0">
                <a:latin typeface="Microsoft Sans Serif"/>
                <a:cs typeface="Microsoft Sans Serif"/>
              </a:rPr>
              <a:t>convencionais </a:t>
            </a:r>
            <a:r>
              <a:rPr sz="2000" dirty="0">
                <a:latin typeface="Microsoft Sans Serif"/>
                <a:cs typeface="Microsoft Sans Serif"/>
              </a:rPr>
              <a:t>para</a:t>
            </a:r>
            <a:r>
              <a:rPr sz="2000" spc="-55" dirty="0">
                <a:latin typeface="Microsoft Sans Serif"/>
                <a:cs typeface="Microsoft Sans Serif"/>
              </a:rPr>
              <a:t> </a:t>
            </a:r>
            <a:r>
              <a:rPr sz="2000" spc="-65" dirty="0">
                <a:latin typeface="Microsoft Sans Serif"/>
                <a:cs typeface="Microsoft Sans Serif"/>
              </a:rPr>
              <a:t>copiar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-75" dirty="0">
                <a:latin typeface="Microsoft Sans Serif"/>
                <a:cs typeface="Microsoft Sans Serif"/>
              </a:rPr>
              <a:t>(Ctrl+C),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spc="-60" dirty="0">
                <a:latin typeface="Microsoft Sans Serif"/>
                <a:cs typeface="Microsoft Sans Serif"/>
              </a:rPr>
              <a:t>cortar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(Ctrl+X) </a:t>
            </a:r>
            <a:r>
              <a:rPr sz="2000" dirty="0">
                <a:latin typeface="Microsoft Sans Serif"/>
                <a:cs typeface="Microsoft Sans Serif"/>
              </a:rPr>
              <a:t>e</a:t>
            </a:r>
            <a:r>
              <a:rPr sz="2000" spc="-125" dirty="0">
                <a:latin typeface="Microsoft Sans Serif"/>
                <a:cs typeface="Microsoft Sans Serif"/>
              </a:rPr>
              <a:t> </a:t>
            </a:r>
            <a:r>
              <a:rPr sz="2000" spc="-70" dirty="0">
                <a:latin typeface="Microsoft Sans Serif"/>
                <a:cs typeface="Microsoft Sans Serif"/>
              </a:rPr>
              <a:t>colar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(Ctrl+V).</a:t>
            </a:r>
            <a:endParaRPr sz="2000" dirty="0">
              <a:latin typeface="Microsoft Sans Serif"/>
              <a:cs typeface="Microsoft Sans Serif"/>
            </a:endParaRPr>
          </a:p>
          <a:p>
            <a:pPr marL="332740" marR="5080" indent="-320040">
              <a:lnSpc>
                <a:spcPct val="100000"/>
              </a:lnSpc>
              <a:spcBef>
                <a:spcPts val="705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spc="-75" dirty="0">
                <a:latin typeface="Microsoft Sans Serif"/>
                <a:cs typeface="Microsoft Sans Serif"/>
              </a:rPr>
              <a:t>ou</a:t>
            </a:r>
            <a:r>
              <a:rPr sz="2000" spc="-245" dirty="0">
                <a:latin typeface="Microsoft Sans Serif"/>
                <a:cs typeface="Microsoft Sans Serif"/>
              </a:rPr>
              <a:t> </a:t>
            </a:r>
            <a:r>
              <a:rPr sz="2000" spc="-80" dirty="0">
                <a:latin typeface="Microsoft Sans Serif"/>
                <a:cs typeface="Microsoft Sans Serif"/>
              </a:rPr>
              <a:t>recorrer</a:t>
            </a:r>
            <a:r>
              <a:rPr sz="2000" spc="-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ao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-195" dirty="0">
                <a:latin typeface="Microsoft Sans Serif"/>
                <a:cs typeface="Microsoft Sans Serif"/>
              </a:rPr>
              <a:t>menu</a:t>
            </a:r>
            <a:r>
              <a:rPr sz="2000" spc="-20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endParaRPr lang="pt-BR" sz="2000" spc="-3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705"/>
              </a:spcBef>
              <a:buClr>
                <a:srgbClr val="476F1E"/>
              </a:buClr>
              <a:buSzPct val="60000"/>
              <a:tabLst>
                <a:tab pos="332740" algn="l"/>
              </a:tabLst>
            </a:pPr>
            <a:r>
              <a:rPr lang="pt-BR" sz="2000" spc="-30" dirty="0">
                <a:latin typeface="Microsoft Sans Serif"/>
                <a:cs typeface="Microsoft Sans Serif"/>
              </a:rPr>
              <a:t>     </a:t>
            </a:r>
            <a:r>
              <a:rPr sz="2000" spc="-114" dirty="0" err="1">
                <a:latin typeface="Microsoft Sans Serif"/>
                <a:cs typeface="Microsoft Sans Serif"/>
              </a:rPr>
              <a:t>contexto</a:t>
            </a:r>
            <a:r>
              <a:rPr sz="2000" spc="-170" dirty="0">
                <a:latin typeface="Microsoft Sans Serif"/>
                <a:cs typeface="Microsoft Sans Serif"/>
              </a:rPr>
              <a:t> </a:t>
            </a:r>
            <a:r>
              <a:rPr sz="2000" spc="-60" dirty="0">
                <a:latin typeface="Microsoft Sans Serif"/>
                <a:cs typeface="Microsoft Sans Serif"/>
              </a:rPr>
              <a:t>com </a:t>
            </a:r>
            <a:r>
              <a:rPr sz="2000" spc="-20" dirty="0">
                <a:latin typeface="Microsoft Sans Serif"/>
                <a:cs typeface="Microsoft Sans Serif"/>
              </a:rPr>
              <a:t>o</a:t>
            </a:r>
            <a:r>
              <a:rPr sz="2000" spc="-130" dirty="0">
                <a:latin typeface="Microsoft Sans Serif"/>
                <a:cs typeface="Microsoft Sans Serif"/>
              </a:rPr>
              <a:t> </a:t>
            </a:r>
            <a:r>
              <a:rPr sz="2000" spc="-55" dirty="0" err="1">
                <a:latin typeface="Microsoft Sans Serif"/>
                <a:cs typeface="Microsoft Sans Serif"/>
              </a:rPr>
              <a:t>botão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endParaRPr lang="pt-BR" sz="2000" spc="-8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705"/>
              </a:spcBef>
              <a:buClr>
                <a:srgbClr val="476F1E"/>
              </a:buClr>
              <a:buSzPct val="60000"/>
              <a:tabLst>
                <a:tab pos="332740" algn="l"/>
              </a:tabLst>
            </a:pPr>
            <a:r>
              <a:rPr lang="pt-BR" sz="2000" spc="-80" dirty="0">
                <a:latin typeface="Microsoft Sans Serif"/>
                <a:cs typeface="Microsoft Sans Serif"/>
              </a:rPr>
              <a:t>     </a:t>
            </a:r>
            <a:r>
              <a:rPr sz="2000" spc="-45" dirty="0" err="1">
                <a:latin typeface="Microsoft Sans Serif"/>
                <a:cs typeface="Microsoft Sans Serif"/>
              </a:rPr>
              <a:t>direito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do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mouse.</a:t>
            </a:r>
            <a:endParaRPr sz="200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4348" y="2195744"/>
            <a:ext cx="3733800" cy="433273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478F934-7D49-48CC-830B-5A56A5D5E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1295400"/>
            <a:ext cx="3830548" cy="53641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250" dirty="0">
                <a:solidFill>
                  <a:srgbClr val="000000"/>
                </a:solidFill>
                <a:latin typeface="Calibri"/>
                <a:cs typeface="Calibri"/>
              </a:rPr>
              <a:t>Inserir</a:t>
            </a:r>
            <a:r>
              <a:rPr spc="-2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-2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30" dirty="0">
                <a:solidFill>
                  <a:srgbClr val="000000"/>
                </a:solidFill>
                <a:latin typeface="Calibri"/>
                <a:cs typeface="Calibri"/>
              </a:rPr>
              <a:t>apagar</a:t>
            </a:r>
            <a:r>
              <a:rPr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285" dirty="0">
                <a:solidFill>
                  <a:srgbClr val="000000"/>
                </a:solidFill>
                <a:latin typeface="Calibri"/>
                <a:cs typeface="Calibri"/>
              </a:rPr>
              <a:t>linhas</a:t>
            </a:r>
            <a:r>
              <a:rPr spc="-25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-2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360" dirty="0">
                <a:solidFill>
                  <a:srgbClr val="000000"/>
                </a:solidFill>
                <a:latin typeface="Calibri"/>
                <a:cs typeface="Calibri"/>
              </a:rPr>
              <a:t>colunas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513226"/>
            <a:ext cx="4406900" cy="1761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3375" marR="158750" indent="-321310">
              <a:lnSpc>
                <a:spcPct val="100000"/>
              </a:lnSpc>
              <a:spcBef>
                <a:spcPts val="100"/>
              </a:spcBef>
              <a:buClr>
                <a:srgbClr val="476F1E"/>
              </a:buClr>
              <a:buSzPct val="58333"/>
              <a:buFont typeface="Wingdings"/>
              <a:buChar char=""/>
              <a:tabLst>
                <a:tab pos="333375" algn="l"/>
              </a:tabLst>
            </a:pPr>
            <a:r>
              <a:rPr sz="1800" spc="-100" dirty="0">
                <a:latin typeface="Microsoft Sans Serif"/>
                <a:cs typeface="Microsoft Sans Serif"/>
              </a:rPr>
              <a:t>Para</a:t>
            </a:r>
            <a:r>
              <a:rPr sz="1800" spc="-125" dirty="0">
                <a:latin typeface="Microsoft Sans Serif"/>
                <a:cs typeface="Microsoft Sans Serif"/>
              </a:rPr>
              <a:t> </a:t>
            </a:r>
            <a:r>
              <a:rPr sz="1800" spc="-75" dirty="0">
                <a:latin typeface="Microsoft Sans Serif"/>
                <a:cs typeface="Microsoft Sans Serif"/>
              </a:rPr>
              <a:t>introduzir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25" dirty="0">
                <a:latin typeface="Microsoft Sans Serif"/>
                <a:cs typeface="Microsoft Sans Serif"/>
              </a:rPr>
              <a:t>uma</a:t>
            </a:r>
            <a:r>
              <a:rPr sz="1800" spc="-160" dirty="0">
                <a:latin typeface="Microsoft Sans Serif"/>
                <a:cs typeface="Microsoft Sans Serif"/>
              </a:rPr>
              <a:t> </a:t>
            </a:r>
            <a:r>
              <a:rPr sz="1800" spc="-95" dirty="0">
                <a:latin typeface="Microsoft Sans Serif"/>
                <a:cs typeface="Microsoft Sans Serif"/>
              </a:rPr>
              <a:t>linha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50" dirty="0">
                <a:latin typeface="Microsoft Sans Serif"/>
                <a:cs typeface="Microsoft Sans Serif"/>
              </a:rPr>
              <a:t>comece</a:t>
            </a:r>
            <a:r>
              <a:rPr sz="1800" spc="-19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por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60" dirty="0">
                <a:latin typeface="Microsoft Sans Serif"/>
                <a:cs typeface="Microsoft Sans Serif"/>
              </a:rPr>
              <a:t>clicar </a:t>
            </a:r>
            <a:r>
              <a:rPr sz="1800" spc="-90" dirty="0">
                <a:latin typeface="Microsoft Sans Serif"/>
                <a:cs typeface="Microsoft Sans Serif"/>
              </a:rPr>
              <a:t>no</a:t>
            </a:r>
            <a:r>
              <a:rPr sz="1800" spc="-170" dirty="0">
                <a:latin typeface="Microsoft Sans Serif"/>
                <a:cs typeface="Microsoft Sans Serif"/>
              </a:rPr>
              <a:t> </a:t>
            </a:r>
            <a:r>
              <a:rPr sz="1800" spc="-155" dirty="0">
                <a:latin typeface="Microsoft Sans Serif"/>
                <a:cs typeface="Microsoft Sans Serif"/>
              </a:rPr>
              <a:t>número</a:t>
            </a:r>
            <a:r>
              <a:rPr sz="1800" spc="-10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da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95" dirty="0">
                <a:latin typeface="Microsoft Sans Serif"/>
                <a:cs typeface="Microsoft Sans Serif"/>
              </a:rPr>
              <a:t>linha,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do</a:t>
            </a:r>
            <a:r>
              <a:rPr sz="1800" spc="-10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lado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105" dirty="0">
                <a:latin typeface="Microsoft Sans Serif"/>
                <a:cs typeface="Microsoft Sans Serif"/>
              </a:rPr>
              <a:t>esquerdo</a:t>
            </a:r>
            <a:r>
              <a:rPr sz="1800" spc="-1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da </a:t>
            </a:r>
            <a:r>
              <a:rPr sz="1800" spc="-70" dirty="0">
                <a:latin typeface="Microsoft Sans Serif"/>
                <a:cs typeface="Microsoft Sans Serif"/>
              </a:rPr>
              <a:t>folha.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80" dirty="0">
                <a:latin typeface="Microsoft Sans Serif"/>
                <a:cs typeface="Microsoft Sans Serif"/>
              </a:rPr>
              <a:t> </a:t>
            </a:r>
            <a:r>
              <a:rPr sz="1800" spc="-95" dirty="0">
                <a:latin typeface="Microsoft Sans Serif"/>
                <a:cs typeface="Microsoft Sans Serif"/>
              </a:rPr>
              <a:t>nova</a:t>
            </a:r>
            <a:r>
              <a:rPr sz="1800" spc="-80" dirty="0">
                <a:latin typeface="Microsoft Sans Serif"/>
                <a:cs typeface="Microsoft Sans Serif"/>
              </a:rPr>
              <a:t> </a:t>
            </a:r>
            <a:r>
              <a:rPr sz="1800" spc="-95" dirty="0">
                <a:latin typeface="Microsoft Sans Serif"/>
                <a:cs typeface="Microsoft Sans Serif"/>
              </a:rPr>
              <a:t>linha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85" dirty="0">
                <a:latin typeface="Microsoft Sans Serif"/>
                <a:cs typeface="Microsoft Sans Serif"/>
              </a:rPr>
              <a:t>será</a:t>
            </a:r>
            <a:r>
              <a:rPr sz="1800" spc="-90" dirty="0">
                <a:latin typeface="Microsoft Sans Serif"/>
                <a:cs typeface="Microsoft Sans Serif"/>
              </a:rPr>
              <a:t> inserida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0" dirty="0">
                <a:latin typeface="Microsoft Sans Serif"/>
                <a:cs typeface="Microsoft Sans Serif"/>
              </a:rPr>
              <a:t>acima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da </a:t>
            </a:r>
            <a:r>
              <a:rPr sz="1800" spc="-95" dirty="0">
                <a:latin typeface="Microsoft Sans Serif"/>
                <a:cs typeface="Microsoft Sans Serif"/>
              </a:rPr>
              <a:t>linha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30" dirty="0">
                <a:latin typeface="Microsoft Sans Serif"/>
                <a:cs typeface="Microsoft Sans Serif"/>
              </a:rPr>
              <a:t>selecionada.</a:t>
            </a:r>
            <a:endParaRPr sz="1800" dirty="0">
              <a:latin typeface="Microsoft Sans Serif"/>
              <a:cs typeface="Microsoft Sans Serif"/>
            </a:endParaRPr>
          </a:p>
          <a:p>
            <a:pPr marL="333375" marR="5080" indent="-321310">
              <a:lnSpc>
                <a:spcPct val="100000"/>
              </a:lnSpc>
              <a:spcBef>
                <a:spcPts val="705"/>
              </a:spcBef>
              <a:buClr>
                <a:srgbClr val="476F1E"/>
              </a:buClr>
              <a:buSzPct val="58333"/>
              <a:buFont typeface="Wingdings"/>
              <a:buChar char=""/>
              <a:tabLst>
                <a:tab pos="333375" algn="l"/>
              </a:tabLst>
            </a:pPr>
            <a:r>
              <a:rPr sz="1800" spc="-125" dirty="0">
                <a:latin typeface="Microsoft Sans Serif"/>
                <a:cs typeface="Microsoft Sans Serif"/>
              </a:rPr>
              <a:t>Depois,</a:t>
            </a:r>
            <a:r>
              <a:rPr sz="1800" spc="-85" dirty="0">
                <a:latin typeface="Microsoft Sans Serif"/>
                <a:cs typeface="Microsoft Sans Serif"/>
              </a:rPr>
              <a:t> clique</a:t>
            </a:r>
            <a:r>
              <a:rPr sz="1800" spc="-110" dirty="0">
                <a:latin typeface="Microsoft Sans Serif"/>
                <a:cs typeface="Microsoft Sans Serif"/>
              </a:rPr>
              <a:t> </a:t>
            </a:r>
            <a:r>
              <a:rPr sz="1800" spc="-114" dirty="0">
                <a:latin typeface="Microsoft Sans Serif"/>
                <a:cs typeface="Microsoft Sans Serif"/>
              </a:rPr>
              <a:t>com</a:t>
            </a:r>
            <a:r>
              <a:rPr sz="1800" spc="-29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40" dirty="0">
                <a:latin typeface="Microsoft Sans Serif"/>
                <a:cs typeface="Microsoft Sans Serif"/>
              </a:rPr>
              <a:t>botão</a:t>
            </a:r>
            <a:r>
              <a:rPr sz="1800" spc="-95" dirty="0">
                <a:latin typeface="Microsoft Sans Serif"/>
                <a:cs typeface="Microsoft Sans Serif"/>
              </a:rPr>
              <a:t> </a:t>
            </a:r>
            <a:r>
              <a:rPr sz="1800" spc="-35" dirty="0">
                <a:latin typeface="Microsoft Sans Serif"/>
                <a:cs typeface="Microsoft Sans Serif"/>
              </a:rPr>
              <a:t>direito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do</a:t>
            </a:r>
            <a:r>
              <a:rPr sz="1800" spc="-90" dirty="0">
                <a:latin typeface="Microsoft Sans Serif"/>
                <a:cs typeface="Microsoft Sans Serif"/>
              </a:rPr>
              <a:t> </a:t>
            </a:r>
            <a:r>
              <a:rPr sz="1800" spc="-55" dirty="0">
                <a:latin typeface="Microsoft Sans Serif"/>
                <a:cs typeface="Microsoft Sans Serif"/>
              </a:rPr>
              <a:t>rato,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e </a:t>
            </a:r>
            <a:r>
              <a:rPr sz="1800" spc="-130" dirty="0">
                <a:latin typeface="Microsoft Sans Serif"/>
                <a:cs typeface="Microsoft Sans Serif"/>
              </a:rPr>
              <a:t>escolha</a:t>
            </a:r>
            <a:r>
              <a:rPr sz="1800" spc="-1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75" dirty="0">
                <a:latin typeface="Microsoft Sans Serif"/>
                <a:cs typeface="Microsoft Sans Serif"/>
              </a:rPr>
              <a:t>opção</a:t>
            </a:r>
            <a:r>
              <a:rPr sz="1800" spc="-8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Inserir.</a:t>
            </a:r>
            <a:endParaRPr sz="1800" dirty="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2000" y="1479906"/>
            <a:ext cx="7848600" cy="5172075"/>
            <a:chOff x="2495550" y="1610105"/>
            <a:chExt cx="7848600" cy="51720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72121" y="1610105"/>
              <a:ext cx="3104387" cy="22235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5550" y="3594352"/>
              <a:ext cx="2952750" cy="31874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04126" y="4465320"/>
              <a:ext cx="3240024" cy="2257044"/>
            </a:xfrm>
            <a:prstGeom prst="rect">
              <a:avLst/>
            </a:prstGeom>
          </p:spPr>
        </p:pic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AF143615-44A0-48FB-B392-E59B7C567A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474260"/>
            <a:ext cx="3172268" cy="60682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260" dirty="0">
                <a:solidFill>
                  <a:srgbClr val="000000"/>
                </a:solidFill>
                <a:latin typeface="Calibri"/>
                <a:cs typeface="Calibri"/>
              </a:rPr>
              <a:t>Salvando</a:t>
            </a:r>
            <a:r>
              <a:rPr spc="-1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320" dirty="0">
                <a:solidFill>
                  <a:srgbClr val="000000"/>
                </a:solidFill>
                <a:latin typeface="Calibri"/>
                <a:cs typeface="Calibri"/>
              </a:rPr>
              <a:t>uma</a:t>
            </a:r>
            <a:r>
              <a:rPr spc="-3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10" dirty="0">
                <a:solidFill>
                  <a:srgbClr val="000000"/>
                </a:solidFill>
                <a:latin typeface="Calibri"/>
                <a:cs typeface="Calibri"/>
              </a:rPr>
              <a:t>planilha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6299" y="1600200"/>
            <a:ext cx="2981325" cy="4649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137795" indent="-320040">
              <a:lnSpc>
                <a:spcPct val="100000"/>
              </a:lnSpc>
              <a:spcBef>
                <a:spcPts val="100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740" algn="l"/>
                <a:tab pos="1702435" algn="l"/>
              </a:tabLst>
            </a:pPr>
            <a:r>
              <a:rPr sz="2000" spc="-140" dirty="0">
                <a:latin typeface="Microsoft Sans Serif"/>
                <a:cs typeface="Microsoft Sans Serif"/>
              </a:rPr>
              <a:t>Para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-95" dirty="0">
                <a:latin typeface="Microsoft Sans Serif"/>
                <a:cs typeface="Microsoft Sans Serif"/>
              </a:rPr>
              <a:t>salvar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220" dirty="0">
                <a:latin typeface="Microsoft Sans Serif"/>
                <a:cs typeface="Microsoft Sans Serif"/>
              </a:rPr>
              <a:t>uma</a:t>
            </a:r>
            <a:r>
              <a:rPr sz="2000" spc="45" dirty="0">
                <a:latin typeface="Microsoft Sans Serif"/>
                <a:cs typeface="Microsoft Sans Serif"/>
              </a:rPr>
              <a:t> </a:t>
            </a:r>
            <a:r>
              <a:rPr sz="2000" spc="-75" dirty="0">
                <a:latin typeface="Microsoft Sans Serif"/>
                <a:cs typeface="Microsoft Sans Serif"/>
              </a:rPr>
              <a:t>planilha </a:t>
            </a:r>
            <a:r>
              <a:rPr sz="2000" spc="-100" dirty="0">
                <a:latin typeface="Microsoft Sans Serif"/>
                <a:cs typeface="Microsoft Sans Serif"/>
              </a:rPr>
              <a:t>clique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-35" dirty="0">
                <a:latin typeface="Microsoft Sans Serif"/>
                <a:cs typeface="Microsoft Sans Serif"/>
              </a:rPr>
              <a:t>em</a:t>
            </a:r>
            <a:r>
              <a:rPr sz="2000" dirty="0">
                <a:latin typeface="Microsoft Sans Serif"/>
                <a:cs typeface="Microsoft Sans Serif"/>
              </a:rPr>
              <a:t>	</a:t>
            </a:r>
            <a:r>
              <a:rPr sz="2000" spc="-10" dirty="0">
                <a:latin typeface="Microsoft Sans Serif"/>
                <a:cs typeface="Microsoft Sans Serif"/>
              </a:rPr>
              <a:t>(botão salvar)</a:t>
            </a:r>
            <a:endParaRPr sz="2000" dirty="0">
              <a:latin typeface="Microsoft Sans Serif"/>
              <a:cs typeface="Microsoft Sans Serif"/>
            </a:endParaRPr>
          </a:p>
          <a:p>
            <a:pPr marL="332740" marR="5080" indent="-320040">
              <a:lnSpc>
                <a:spcPct val="100000"/>
              </a:lnSpc>
              <a:spcBef>
                <a:spcPts val="705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spc="-140" dirty="0">
                <a:latin typeface="Microsoft Sans Serif"/>
                <a:cs typeface="Microsoft Sans Serif"/>
              </a:rPr>
              <a:t>Especifique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spc="-70" dirty="0">
                <a:latin typeface="Microsoft Sans Serif"/>
                <a:cs typeface="Microsoft Sans Serif"/>
              </a:rPr>
              <a:t>local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para </a:t>
            </a:r>
            <a:r>
              <a:rPr sz="2000" spc="-90" dirty="0">
                <a:latin typeface="Microsoft Sans Serif"/>
                <a:cs typeface="Microsoft Sans Serif"/>
              </a:rPr>
              <a:t>salvar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35" dirty="0">
                <a:latin typeface="Microsoft Sans Serif"/>
                <a:cs typeface="Microsoft Sans Serif"/>
              </a:rPr>
              <a:t> </a:t>
            </a:r>
            <a:r>
              <a:rPr sz="2000" spc="-90" dirty="0">
                <a:latin typeface="Microsoft Sans Serif"/>
                <a:cs typeface="Microsoft Sans Serif"/>
              </a:rPr>
              <a:t>planilha.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Neste </a:t>
            </a:r>
            <a:r>
              <a:rPr sz="2000" spc="-170" dirty="0">
                <a:latin typeface="Microsoft Sans Serif"/>
                <a:cs typeface="Microsoft Sans Serif"/>
              </a:rPr>
              <a:t>Exemplo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spc="-80" dirty="0">
                <a:latin typeface="Microsoft Sans Serif"/>
                <a:cs typeface="Microsoft Sans Serif"/>
              </a:rPr>
              <a:t>local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é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65" dirty="0">
                <a:latin typeface="Microsoft Sans Serif"/>
                <a:cs typeface="Microsoft Sans Serif"/>
              </a:rPr>
              <a:t>pasta </a:t>
            </a:r>
            <a:r>
              <a:rPr sz="2000" spc="-100" dirty="0">
                <a:latin typeface="Microsoft Sans Serif"/>
                <a:cs typeface="Microsoft Sans Serif"/>
              </a:rPr>
              <a:t>Documentos.</a:t>
            </a:r>
            <a:endParaRPr sz="2000" dirty="0">
              <a:latin typeface="Microsoft Sans Serif"/>
              <a:cs typeface="Microsoft Sans Serif"/>
            </a:endParaRPr>
          </a:p>
          <a:p>
            <a:pPr marL="332740" marR="250190" indent="-320040">
              <a:lnSpc>
                <a:spcPct val="100000"/>
              </a:lnSpc>
              <a:spcBef>
                <a:spcPts val="695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spc="-125" dirty="0">
                <a:latin typeface="Microsoft Sans Serif"/>
                <a:cs typeface="Microsoft Sans Serif"/>
              </a:rPr>
              <a:t>"Pasta1"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65" dirty="0">
                <a:latin typeface="Microsoft Sans Serif"/>
                <a:cs typeface="Microsoft Sans Serif"/>
              </a:rPr>
              <a:t>aparece</a:t>
            </a:r>
            <a:r>
              <a:rPr sz="2000" spc="-13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na </a:t>
            </a:r>
            <a:r>
              <a:rPr sz="2000" spc="-55" dirty="0">
                <a:latin typeface="Microsoft Sans Serif"/>
                <a:cs typeface="Microsoft Sans Serif"/>
              </a:rPr>
              <a:t>caixa </a:t>
            </a:r>
            <a:r>
              <a:rPr sz="2000" spc="-165" dirty="0">
                <a:latin typeface="Microsoft Sans Serif"/>
                <a:cs typeface="Microsoft Sans Serif"/>
              </a:rPr>
              <a:t>Nome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spc="-75" dirty="0">
                <a:latin typeface="Microsoft Sans Serif"/>
                <a:cs typeface="Microsoft Sans Serif"/>
              </a:rPr>
              <a:t>arquivo </a:t>
            </a:r>
            <a:r>
              <a:rPr sz="2000" dirty="0">
                <a:latin typeface="Microsoft Sans Serif"/>
                <a:cs typeface="Microsoft Sans Serif"/>
              </a:rPr>
              <a:t>para</a:t>
            </a:r>
            <a:r>
              <a:rPr sz="2000" spc="-13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você.</a:t>
            </a:r>
            <a:endParaRPr sz="2000" dirty="0">
              <a:latin typeface="Microsoft Sans Serif"/>
              <a:cs typeface="Microsoft Sans Serif"/>
            </a:endParaRPr>
          </a:p>
          <a:p>
            <a:pPr marL="332740" marR="193040" indent="-320040">
              <a:lnSpc>
                <a:spcPct val="100499"/>
              </a:lnSpc>
              <a:spcBef>
                <a:spcPts val="665"/>
              </a:spcBef>
              <a:buFont typeface="Wingdings"/>
              <a:buChar char=""/>
              <a:tabLst>
                <a:tab pos="332740" algn="l"/>
                <a:tab pos="398780" algn="l"/>
              </a:tabLst>
            </a:pPr>
            <a:r>
              <a:rPr sz="1050" dirty="0">
                <a:solidFill>
                  <a:srgbClr val="476F1E"/>
                </a:solidFill>
                <a:latin typeface="Times New Roman"/>
                <a:cs typeface="Times New Roman"/>
              </a:rPr>
              <a:t>	</a:t>
            </a:r>
            <a:r>
              <a:rPr sz="2000" spc="-140" dirty="0">
                <a:latin typeface="Microsoft Sans Serif"/>
                <a:cs typeface="Microsoft Sans Serif"/>
              </a:rPr>
              <a:t>Para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alterar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-195" dirty="0">
                <a:latin typeface="Microsoft Sans Serif"/>
                <a:cs typeface="Microsoft Sans Serif"/>
              </a:rPr>
              <a:t>nome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do </a:t>
            </a:r>
            <a:r>
              <a:rPr sz="2000" spc="-100" dirty="0">
                <a:latin typeface="Microsoft Sans Serif"/>
                <a:cs typeface="Microsoft Sans Serif"/>
              </a:rPr>
              <a:t>arquivo,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digite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140" dirty="0">
                <a:latin typeface="Microsoft Sans Serif"/>
                <a:cs typeface="Microsoft Sans Serif"/>
              </a:rPr>
              <a:t>um</a:t>
            </a:r>
            <a:r>
              <a:rPr sz="2000" spc="-29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novo </a:t>
            </a:r>
            <a:r>
              <a:rPr sz="2000" spc="-190" dirty="0">
                <a:latin typeface="Microsoft Sans Serif"/>
                <a:cs typeface="Microsoft Sans Serif"/>
              </a:rPr>
              <a:t>nome</a:t>
            </a:r>
            <a:r>
              <a:rPr sz="2000" spc="-1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</a:t>
            </a:r>
            <a:r>
              <a:rPr sz="2000" spc="-114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arquivo.</a:t>
            </a:r>
            <a:endParaRPr sz="200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spc="-105" dirty="0">
                <a:latin typeface="Microsoft Sans Serif"/>
                <a:cs typeface="Microsoft Sans Serif"/>
              </a:rPr>
              <a:t>Clique</a:t>
            </a:r>
            <a:r>
              <a:rPr sz="2000" spc="-70" dirty="0">
                <a:latin typeface="Microsoft Sans Serif"/>
                <a:cs typeface="Microsoft Sans Serif"/>
              </a:rPr>
              <a:t> em</a:t>
            </a:r>
            <a:r>
              <a:rPr sz="2000" spc="-3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Salvar.</a:t>
            </a:r>
            <a:endParaRPr sz="2000" dirty="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2662" y="1985639"/>
            <a:ext cx="228600" cy="228600"/>
          </a:xfrm>
          <a:prstGeom prst="rect">
            <a:avLst/>
          </a:prstGeom>
        </p:spPr>
      </p:pic>
      <p:pic>
        <p:nvPicPr>
          <p:cNvPr id="4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2662" y="1985639"/>
            <a:ext cx="228600" cy="228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957EDDB-DF64-4EF9-A262-78C1A3433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676400"/>
            <a:ext cx="7105650" cy="1866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49FF18B6-F477-4A8A-ABDF-6CE37A8974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35"/>
          <a:stretch/>
        </p:blipFill>
        <p:spPr>
          <a:xfrm>
            <a:off x="942975" y="1143000"/>
            <a:ext cx="10487025" cy="561168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260" dirty="0">
                <a:solidFill>
                  <a:srgbClr val="000000"/>
                </a:solidFill>
                <a:latin typeface="Calibri"/>
                <a:cs typeface="Calibri"/>
              </a:rPr>
              <a:t>Salvando</a:t>
            </a:r>
            <a:r>
              <a:rPr spc="-1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320" dirty="0">
                <a:solidFill>
                  <a:srgbClr val="000000"/>
                </a:solidFill>
                <a:latin typeface="Calibri"/>
                <a:cs typeface="Calibri"/>
              </a:rPr>
              <a:t>uma</a:t>
            </a:r>
            <a:r>
              <a:rPr spc="-3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10" dirty="0">
                <a:solidFill>
                  <a:srgbClr val="000000"/>
                </a:solidFill>
                <a:latin typeface="Calibri"/>
                <a:cs typeface="Calibri"/>
              </a:rPr>
              <a:t>planilha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2662" y="1985639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38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150" y="315468"/>
            <a:ext cx="44564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0" dirty="0">
                <a:solidFill>
                  <a:srgbClr val="000000"/>
                </a:solidFill>
                <a:latin typeface="Calibri"/>
                <a:cs typeface="Calibri"/>
              </a:rPr>
              <a:t>Abrindo</a:t>
            </a:r>
            <a:r>
              <a:rPr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320" dirty="0">
                <a:solidFill>
                  <a:srgbClr val="000000"/>
                </a:solidFill>
                <a:latin typeface="Calibri"/>
                <a:cs typeface="Calibri"/>
              </a:rPr>
              <a:t>uma </a:t>
            </a:r>
            <a:r>
              <a:rPr spc="-130" dirty="0">
                <a:solidFill>
                  <a:srgbClr val="000000"/>
                </a:solidFill>
                <a:latin typeface="Calibri"/>
                <a:cs typeface="Calibri"/>
              </a:rPr>
              <a:t>planilha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701" y="1561591"/>
            <a:ext cx="7559675" cy="2943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marR="1924685" indent="-320040">
              <a:lnSpc>
                <a:spcPct val="100000"/>
              </a:lnSpc>
              <a:spcBef>
                <a:spcPts val="95"/>
              </a:spcBef>
              <a:buClr>
                <a:srgbClr val="476F1E"/>
              </a:buClr>
              <a:buSzPct val="58620"/>
              <a:buFont typeface="Wingdings"/>
              <a:buChar char=""/>
              <a:tabLst>
                <a:tab pos="332740" algn="l"/>
                <a:tab pos="2710815" algn="l"/>
              </a:tabLst>
            </a:pPr>
            <a:r>
              <a:rPr sz="2900" spc="-145" dirty="0">
                <a:latin typeface="Microsoft Sans Serif"/>
                <a:cs typeface="Microsoft Sans Serif"/>
              </a:rPr>
              <a:t>Clique</a:t>
            </a:r>
            <a:r>
              <a:rPr sz="2900" spc="-140" dirty="0">
                <a:latin typeface="Microsoft Sans Serif"/>
                <a:cs typeface="Microsoft Sans Serif"/>
              </a:rPr>
              <a:t> </a:t>
            </a:r>
            <a:r>
              <a:rPr sz="2900" spc="-25" dirty="0">
                <a:latin typeface="Microsoft Sans Serif"/>
                <a:cs typeface="Microsoft Sans Serif"/>
              </a:rPr>
              <a:t>em</a:t>
            </a:r>
            <a:r>
              <a:rPr sz="2900" dirty="0">
                <a:latin typeface="Microsoft Sans Serif"/>
                <a:cs typeface="Microsoft Sans Serif"/>
              </a:rPr>
              <a:t>	</a:t>
            </a:r>
            <a:r>
              <a:rPr sz="2900" spc="-80" dirty="0">
                <a:latin typeface="Microsoft Sans Serif"/>
                <a:cs typeface="Microsoft Sans Serif"/>
              </a:rPr>
              <a:t>(botão</a:t>
            </a:r>
            <a:r>
              <a:rPr sz="2900" spc="-165" dirty="0">
                <a:latin typeface="Microsoft Sans Serif"/>
                <a:cs typeface="Microsoft Sans Serif"/>
              </a:rPr>
              <a:t> </a:t>
            </a:r>
            <a:r>
              <a:rPr sz="2900" spc="-140" dirty="0">
                <a:latin typeface="Microsoft Sans Serif"/>
                <a:cs typeface="Microsoft Sans Serif"/>
              </a:rPr>
              <a:t>Iniciar)</a:t>
            </a:r>
            <a:r>
              <a:rPr sz="2900" spc="-70" dirty="0">
                <a:latin typeface="Microsoft Sans Serif"/>
                <a:cs typeface="Microsoft Sans Serif"/>
              </a:rPr>
              <a:t> </a:t>
            </a:r>
            <a:r>
              <a:rPr sz="2900" dirty="0">
                <a:latin typeface="Microsoft Sans Serif"/>
                <a:cs typeface="Microsoft Sans Serif"/>
              </a:rPr>
              <a:t>e</a:t>
            </a:r>
            <a:r>
              <a:rPr sz="2900" spc="-114" dirty="0">
                <a:latin typeface="Microsoft Sans Serif"/>
                <a:cs typeface="Microsoft Sans Serif"/>
              </a:rPr>
              <a:t> </a:t>
            </a:r>
            <a:r>
              <a:rPr sz="2900" spc="-25" dirty="0">
                <a:latin typeface="Microsoft Sans Serif"/>
                <a:cs typeface="Microsoft Sans Serif"/>
              </a:rPr>
              <a:t>em </a:t>
            </a:r>
            <a:r>
              <a:rPr sz="2900" spc="-180" dirty="0">
                <a:latin typeface="Microsoft Sans Serif"/>
                <a:cs typeface="Microsoft Sans Serif"/>
              </a:rPr>
              <a:t>Meus</a:t>
            </a:r>
            <a:r>
              <a:rPr sz="2900" spc="5" dirty="0">
                <a:latin typeface="Microsoft Sans Serif"/>
                <a:cs typeface="Microsoft Sans Serif"/>
              </a:rPr>
              <a:t> </a:t>
            </a:r>
            <a:r>
              <a:rPr sz="2900" spc="-270" dirty="0">
                <a:latin typeface="Microsoft Sans Serif"/>
                <a:cs typeface="Microsoft Sans Serif"/>
              </a:rPr>
              <a:t>Documentos.</a:t>
            </a:r>
            <a:endParaRPr sz="290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476F1E"/>
              </a:buClr>
              <a:buSzPct val="58620"/>
              <a:buFont typeface="Wingdings"/>
              <a:buChar char=""/>
              <a:tabLst>
                <a:tab pos="332105" algn="l"/>
              </a:tabLst>
            </a:pPr>
            <a:r>
              <a:rPr sz="2900" dirty="0">
                <a:latin typeface="Microsoft Sans Serif"/>
                <a:cs typeface="Microsoft Sans Serif"/>
              </a:rPr>
              <a:t>O</a:t>
            </a:r>
            <a:r>
              <a:rPr sz="2900" spc="15" dirty="0">
                <a:latin typeface="Microsoft Sans Serif"/>
                <a:cs typeface="Microsoft Sans Serif"/>
              </a:rPr>
              <a:t> </a:t>
            </a:r>
            <a:r>
              <a:rPr sz="2900" spc="-120" dirty="0">
                <a:latin typeface="Microsoft Sans Serif"/>
                <a:cs typeface="Microsoft Sans Serif"/>
              </a:rPr>
              <a:t>arquivo</a:t>
            </a:r>
            <a:r>
              <a:rPr sz="2900" spc="-110" dirty="0">
                <a:latin typeface="Microsoft Sans Serif"/>
                <a:cs typeface="Microsoft Sans Serif"/>
              </a:rPr>
              <a:t> </a:t>
            </a:r>
            <a:r>
              <a:rPr sz="2900" spc="-160" dirty="0">
                <a:latin typeface="Microsoft Sans Serif"/>
                <a:cs typeface="Microsoft Sans Serif"/>
              </a:rPr>
              <a:t>salvo</a:t>
            </a:r>
            <a:r>
              <a:rPr sz="2900" spc="-155" dirty="0">
                <a:latin typeface="Microsoft Sans Serif"/>
                <a:cs typeface="Microsoft Sans Serif"/>
              </a:rPr>
              <a:t> </a:t>
            </a:r>
            <a:r>
              <a:rPr sz="2900" spc="-145" dirty="0">
                <a:latin typeface="Microsoft Sans Serif"/>
                <a:cs typeface="Microsoft Sans Serif"/>
              </a:rPr>
              <a:t>está</a:t>
            </a:r>
            <a:r>
              <a:rPr sz="2900" spc="-170" dirty="0">
                <a:latin typeface="Microsoft Sans Serif"/>
                <a:cs typeface="Microsoft Sans Serif"/>
              </a:rPr>
              <a:t> </a:t>
            </a:r>
            <a:r>
              <a:rPr sz="2900" spc="-110" dirty="0">
                <a:latin typeface="Microsoft Sans Serif"/>
                <a:cs typeface="Microsoft Sans Serif"/>
              </a:rPr>
              <a:t>na</a:t>
            </a:r>
            <a:r>
              <a:rPr sz="2900" spc="-120" dirty="0">
                <a:latin typeface="Microsoft Sans Serif"/>
                <a:cs typeface="Microsoft Sans Serif"/>
              </a:rPr>
              <a:t> </a:t>
            </a:r>
            <a:r>
              <a:rPr sz="2900" spc="-100" dirty="0">
                <a:latin typeface="Microsoft Sans Serif"/>
                <a:cs typeface="Microsoft Sans Serif"/>
              </a:rPr>
              <a:t>pasta</a:t>
            </a:r>
            <a:r>
              <a:rPr sz="2900" spc="-80" dirty="0">
                <a:latin typeface="Microsoft Sans Serif"/>
                <a:cs typeface="Microsoft Sans Serif"/>
              </a:rPr>
              <a:t> </a:t>
            </a:r>
            <a:r>
              <a:rPr sz="2900" spc="-240" dirty="0">
                <a:latin typeface="Microsoft Sans Serif"/>
                <a:cs typeface="Microsoft Sans Serif"/>
              </a:rPr>
              <a:t>Meus</a:t>
            </a:r>
            <a:r>
              <a:rPr sz="2900" spc="-254" dirty="0">
                <a:latin typeface="Microsoft Sans Serif"/>
                <a:cs typeface="Microsoft Sans Serif"/>
              </a:rPr>
              <a:t> </a:t>
            </a:r>
            <a:r>
              <a:rPr sz="2900" spc="-275" dirty="0">
                <a:latin typeface="Microsoft Sans Serif"/>
                <a:cs typeface="Microsoft Sans Serif"/>
              </a:rPr>
              <a:t>Documentos.</a:t>
            </a:r>
            <a:endParaRPr sz="290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476F1E"/>
              </a:buClr>
              <a:buSzPct val="58620"/>
              <a:buFont typeface="Wingdings"/>
              <a:buChar char=""/>
              <a:tabLst>
                <a:tab pos="332105" algn="l"/>
              </a:tabLst>
            </a:pPr>
            <a:r>
              <a:rPr sz="2900" spc="-140" dirty="0">
                <a:latin typeface="Microsoft Sans Serif"/>
                <a:cs typeface="Microsoft Sans Serif"/>
              </a:rPr>
              <a:t>Clique </a:t>
            </a:r>
            <a:r>
              <a:rPr sz="2900" spc="-114" dirty="0">
                <a:latin typeface="Microsoft Sans Serif"/>
                <a:cs typeface="Microsoft Sans Serif"/>
              </a:rPr>
              <a:t>duas</a:t>
            </a:r>
            <a:r>
              <a:rPr sz="2900" spc="-480" dirty="0">
                <a:latin typeface="Microsoft Sans Serif"/>
                <a:cs typeface="Microsoft Sans Serif"/>
              </a:rPr>
              <a:t> </a:t>
            </a:r>
            <a:r>
              <a:rPr sz="2900" spc="-165" dirty="0">
                <a:latin typeface="Microsoft Sans Serif"/>
                <a:cs typeface="Microsoft Sans Serif"/>
              </a:rPr>
              <a:t>vezes</a:t>
            </a:r>
            <a:r>
              <a:rPr sz="2900" spc="-465" dirty="0">
                <a:latin typeface="Microsoft Sans Serif"/>
                <a:cs typeface="Microsoft Sans Serif"/>
              </a:rPr>
              <a:t> </a:t>
            </a:r>
            <a:r>
              <a:rPr sz="2900" spc="-150" dirty="0">
                <a:latin typeface="Microsoft Sans Serif"/>
                <a:cs typeface="Microsoft Sans Serif"/>
              </a:rPr>
              <a:t>no</a:t>
            </a:r>
            <a:r>
              <a:rPr sz="2900" spc="-220" dirty="0">
                <a:latin typeface="Microsoft Sans Serif"/>
                <a:cs typeface="Microsoft Sans Serif"/>
              </a:rPr>
              <a:t> </a:t>
            </a:r>
            <a:r>
              <a:rPr sz="2900" spc="-10" dirty="0">
                <a:latin typeface="Microsoft Sans Serif"/>
                <a:cs typeface="Microsoft Sans Serif"/>
              </a:rPr>
              <a:t>arquivo.</a:t>
            </a:r>
            <a:endParaRPr sz="2900">
              <a:latin typeface="Microsoft Sans Serif"/>
              <a:cs typeface="Microsoft Sans Serif"/>
            </a:endParaRPr>
          </a:p>
          <a:p>
            <a:pPr marL="332740" marR="429895" indent="-320040">
              <a:lnSpc>
                <a:spcPct val="100000"/>
              </a:lnSpc>
              <a:spcBef>
                <a:spcPts val="700"/>
              </a:spcBef>
              <a:buClr>
                <a:srgbClr val="476F1E"/>
              </a:buClr>
              <a:buSzPct val="58620"/>
              <a:buFont typeface="Wingdings"/>
              <a:buChar char=""/>
              <a:tabLst>
                <a:tab pos="332740" algn="l"/>
              </a:tabLst>
            </a:pPr>
            <a:r>
              <a:rPr sz="2900" spc="-20" dirty="0">
                <a:latin typeface="Microsoft Sans Serif"/>
                <a:cs typeface="Microsoft Sans Serif"/>
              </a:rPr>
              <a:t>A</a:t>
            </a:r>
            <a:r>
              <a:rPr sz="2900" spc="-185" dirty="0">
                <a:latin typeface="Microsoft Sans Serif"/>
                <a:cs typeface="Microsoft Sans Serif"/>
              </a:rPr>
              <a:t> </a:t>
            </a:r>
            <a:r>
              <a:rPr sz="2900" spc="-20" dirty="0">
                <a:latin typeface="Microsoft Sans Serif"/>
                <a:cs typeface="Microsoft Sans Serif"/>
              </a:rPr>
              <a:t>tela</a:t>
            </a:r>
            <a:r>
              <a:rPr sz="2900" spc="-135" dirty="0">
                <a:latin typeface="Microsoft Sans Serif"/>
                <a:cs typeface="Microsoft Sans Serif"/>
              </a:rPr>
              <a:t> </a:t>
            </a:r>
            <a:r>
              <a:rPr sz="2900" spc="-10" dirty="0">
                <a:latin typeface="Microsoft Sans Serif"/>
                <a:cs typeface="Microsoft Sans Serif"/>
              </a:rPr>
              <a:t>de</a:t>
            </a:r>
            <a:r>
              <a:rPr sz="2900" spc="-100" dirty="0">
                <a:latin typeface="Microsoft Sans Serif"/>
                <a:cs typeface="Microsoft Sans Serif"/>
              </a:rPr>
              <a:t> </a:t>
            </a:r>
            <a:r>
              <a:rPr sz="2900" spc="-125" dirty="0">
                <a:latin typeface="Microsoft Sans Serif"/>
                <a:cs typeface="Microsoft Sans Serif"/>
              </a:rPr>
              <a:t>inicialização</a:t>
            </a:r>
            <a:r>
              <a:rPr sz="2900" spc="-170" dirty="0">
                <a:latin typeface="Microsoft Sans Serif"/>
                <a:cs typeface="Microsoft Sans Serif"/>
              </a:rPr>
              <a:t> </a:t>
            </a:r>
            <a:r>
              <a:rPr sz="2900" spc="-10" dirty="0">
                <a:latin typeface="Microsoft Sans Serif"/>
                <a:cs typeface="Microsoft Sans Serif"/>
              </a:rPr>
              <a:t>do</a:t>
            </a:r>
            <a:r>
              <a:rPr sz="2900" spc="-105" dirty="0">
                <a:latin typeface="Microsoft Sans Serif"/>
                <a:cs typeface="Microsoft Sans Serif"/>
              </a:rPr>
              <a:t> </a:t>
            </a:r>
            <a:r>
              <a:rPr sz="2900" spc="-220" dirty="0">
                <a:latin typeface="Microsoft Sans Serif"/>
                <a:cs typeface="Microsoft Sans Serif"/>
              </a:rPr>
              <a:t>Excel</a:t>
            </a:r>
            <a:r>
              <a:rPr sz="2900" spc="-250" dirty="0">
                <a:latin typeface="Microsoft Sans Serif"/>
                <a:cs typeface="Microsoft Sans Serif"/>
              </a:rPr>
              <a:t> </a:t>
            </a:r>
            <a:r>
              <a:rPr sz="2900" dirty="0">
                <a:latin typeface="Microsoft Sans Serif"/>
                <a:cs typeface="Microsoft Sans Serif"/>
              </a:rPr>
              <a:t>é</a:t>
            </a:r>
            <a:r>
              <a:rPr sz="2900" spc="-155" dirty="0">
                <a:latin typeface="Microsoft Sans Serif"/>
                <a:cs typeface="Microsoft Sans Serif"/>
              </a:rPr>
              <a:t> </a:t>
            </a:r>
            <a:r>
              <a:rPr sz="2900" spc="-70" dirty="0">
                <a:latin typeface="Microsoft Sans Serif"/>
                <a:cs typeface="Microsoft Sans Serif"/>
              </a:rPr>
              <a:t>exibida,</a:t>
            </a:r>
            <a:r>
              <a:rPr sz="2900" spc="-125" dirty="0">
                <a:latin typeface="Microsoft Sans Serif"/>
                <a:cs typeface="Microsoft Sans Serif"/>
              </a:rPr>
              <a:t> </a:t>
            </a:r>
            <a:r>
              <a:rPr sz="2900" dirty="0">
                <a:latin typeface="Microsoft Sans Serif"/>
                <a:cs typeface="Microsoft Sans Serif"/>
              </a:rPr>
              <a:t>e</a:t>
            </a:r>
            <a:r>
              <a:rPr sz="2900" spc="-155" dirty="0">
                <a:latin typeface="Microsoft Sans Serif"/>
                <a:cs typeface="Microsoft Sans Serif"/>
              </a:rPr>
              <a:t> </a:t>
            </a:r>
            <a:r>
              <a:rPr sz="2900" spc="-50" dirty="0">
                <a:latin typeface="Microsoft Sans Serif"/>
                <a:cs typeface="Microsoft Sans Serif"/>
              </a:rPr>
              <a:t>a </a:t>
            </a:r>
            <a:r>
              <a:rPr sz="2900" spc="-100" dirty="0">
                <a:latin typeface="Microsoft Sans Serif"/>
                <a:cs typeface="Microsoft Sans Serif"/>
              </a:rPr>
              <a:t>planilha</a:t>
            </a:r>
            <a:r>
              <a:rPr sz="2900" spc="-130" dirty="0">
                <a:latin typeface="Microsoft Sans Serif"/>
                <a:cs typeface="Microsoft Sans Serif"/>
              </a:rPr>
              <a:t> </a:t>
            </a:r>
            <a:r>
              <a:rPr sz="2900" spc="-10" dirty="0">
                <a:latin typeface="Microsoft Sans Serif"/>
                <a:cs typeface="Microsoft Sans Serif"/>
              </a:rPr>
              <a:t>aparece.</a:t>
            </a:r>
            <a:endParaRPr sz="29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700" y="1600200"/>
            <a:ext cx="419100" cy="381000"/>
          </a:xfrm>
          <a:prstGeom prst="rect">
            <a:avLst/>
          </a:prstGeom>
        </p:spPr>
      </p:pic>
      <p:pic>
        <p:nvPicPr>
          <p:cNvPr id="4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700" y="1600200"/>
            <a:ext cx="4191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150" y="315468"/>
            <a:ext cx="44564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0" dirty="0">
                <a:solidFill>
                  <a:srgbClr val="000000"/>
                </a:solidFill>
                <a:latin typeface="Calibri"/>
                <a:cs typeface="Calibri"/>
              </a:rPr>
              <a:t>Abrindo</a:t>
            </a:r>
            <a:r>
              <a:rPr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320" dirty="0">
                <a:solidFill>
                  <a:srgbClr val="000000"/>
                </a:solidFill>
                <a:latin typeface="Calibri"/>
                <a:cs typeface="Calibri"/>
              </a:rPr>
              <a:t>uma </a:t>
            </a:r>
            <a:r>
              <a:rPr spc="-130" dirty="0">
                <a:solidFill>
                  <a:srgbClr val="000000"/>
                </a:solidFill>
                <a:latin typeface="Calibri"/>
                <a:cs typeface="Calibri"/>
              </a:rPr>
              <a:t>planilha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A0911C0-C175-414F-9E59-61EAEC717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0681"/>
            <a:ext cx="12192000" cy="567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316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900" dirty="0">
                <a:solidFill>
                  <a:srgbClr val="000000"/>
                </a:solidFill>
                <a:latin typeface="Calibri"/>
                <a:cs typeface="Calibri"/>
              </a:rPr>
              <a:t>F</a:t>
            </a:r>
            <a:r>
              <a:rPr spc="-180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5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pc="-250" dirty="0">
                <a:solidFill>
                  <a:srgbClr val="000000"/>
                </a:solidFill>
                <a:latin typeface="Calibri"/>
                <a:cs typeface="Calibri"/>
              </a:rPr>
              <a:t>m</a:t>
            </a:r>
            <a:r>
              <a:rPr spc="-3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pc="-310" dirty="0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r>
              <a:rPr spc="-254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1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290" dirty="0">
                <a:solidFill>
                  <a:srgbClr val="000000"/>
                </a:solidFill>
                <a:latin typeface="Calibri"/>
                <a:cs typeface="Calibri"/>
              </a:rPr>
              <a:t>células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600200"/>
            <a:ext cx="5071745" cy="446341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32740" marR="541655" indent="-320040">
              <a:lnSpc>
                <a:spcPct val="80000"/>
              </a:lnSpc>
              <a:spcBef>
                <a:spcPts val="630"/>
              </a:spcBef>
              <a:buClr>
                <a:srgbClr val="476F1E"/>
              </a:buClr>
              <a:buSzPct val="59090"/>
              <a:buFont typeface="Wingdings"/>
              <a:buChar char=""/>
              <a:tabLst>
                <a:tab pos="332740" algn="l"/>
              </a:tabLst>
            </a:pP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130" dirty="0">
                <a:latin typeface="Microsoft Sans Serif"/>
                <a:cs typeface="Microsoft Sans Serif"/>
              </a:rPr>
              <a:t> </a:t>
            </a:r>
            <a:r>
              <a:rPr sz="2200" spc="-85" dirty="0">
                <a:latin typeface="Microsoft Sans Serif"/>
                <a:cs typeface="Microsoft Sans Serif"/>
              </a:rPr>
              <a:t>formatação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spc="-105" dirty="0">
                <a:latin typeface="Microsoft Sans Serif"/>
                <a:cs typeface="Microsoft Sans Serif"/>
              </a:rPr>
              <a:t>está</a:t>
            </a:r>
            <a:r>
              <a:rPr sz="2200" spc="-95" dirty="0">
                <a:latin typeface="Microsoft Sans Serif"/>
                <a:cs typeface="Microsoft Sans Serif"/>
              </a:rPr>
              <a:t> </a:t>
            </a:r>
            <a:r>
              <a:rPr sz="2200" spc="-114" dirty="0">
                <a:latin typeface="Microsoft Sans Serif"/>
                <a:cs typeface="Microsoft Sans Serif"/>
              </a:rPr>
              <a:t>disponível</a:t>
            </a:r>
            <a:r>
              <a:rPr sz="2200" spc="-90" dirty="0">
                <a:latin typeface="Microsoft Sans Serif"/>
                <a:cs typeface="Microsoft Sans Serif"/>
              </a:rPr>
              <a:t> na</a:t>
            </a:r>
            <a:r>
              <a:rPr sz="2200" spc="-10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guia </a:t>
            </a:r>
            <a:r>
              <a:rPr sz="2200" spc="-125" dirty="0">
                <a:latin typeface="Microsoft Sans Serif"/>
                <a:cs typeface="Microsoft Sans Serif"/>
              </a:rPr>
              <a:t>Inicio </a:t>
            </a:r>
            <a:r>
              <a:rPr sz="2200" spc="-90" dirty="0">
                <a:latin typeface="Microsoft Sans Serif"/>
                <a:cs typeface="Microsoft Sans Serif"/>
              </a:rPr>
              <a:t>na</a:t>
            </a:r>
            <a:r>
              <a:rPr sz="2200" spc="-1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faixa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de</a:t>
            </a:r>
            <a:r>
              <a:rPr sz="2200" spc="-4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Opções.</a:t>
            </a:r>
            <a:endParaRPr sz="22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Clr>
                <a:srgbClr val="476F1E"/>
              </a:buClr>
              <a:buFont typeface="Wingdings"/>
              <a:buChar char=""/>
            </a:pPr>
            <a:endParaRPr sz="2200" dirty="0">
              <a:latin typeface="Microsoft Sans Serif"/>
              <a:cs typeface="Microsoft Sans Serif"/>
            </a:endParaRPr>
          </a:p>
          <a:p>
            <a:pPr marL="332740" marR="276225" indent="-320040" algn="just">
              <a:lnSpc>
                <a:spcPct val="80100"/>
              </a:lnSpc>
              <a:buClr>
                <a:srgbClr val="476F1E"/>
              </a:buClr>
              <a:buSzPct val="59090"/>
              <a:buFont typeface="Wingdings"/>
              <a:buChar char=""/>
              <a:tabLst>
                <a:tab pos="332740" algn="l"/>
              </a:tabLst>
            </a:pPr>
            <a:r>
              <a:rPr sz="2200" spc="-190" dirty="0">
                <a:latin typeface="Microsoft Sans Serif"/>
                <a:cs typeface="Microsoft Sans Serif"/>
              </a:rPr>
              <a:t>Seção</a:t>
            </a:r>
            <a:r>
              <a:rPr sz="2200" spc="40" dirty="0">
                <a:latin typeface="Microsoft Sans Serif"/>
                <a:cs typeface="Microsoft Sans Serif"/>
              </a:rPr>
              <a:t> </a:t>
            </a:r>
            <a:r>
              <a:rPr sz="2200" b="1" spc="-215" dirty="0">
                <a:latin typeface="Arial"/>
                <a:cs typeface="Arial"/>
              </a:rPr>
              <a:t>Fonte</a:t>
            </a:r>
            <a:r>
              <a:rPr sz="2200" spc="-215" dirty="0">
                <a:latin typeface="Microsoft Sans Serif"/>
                <a:cs typeface="Microsoft Sans Serif"/>
              </a:rPr>
              <a:t>:</a:t>
            </a:r>
            <a:r>
              <a:rPr sz="2200" spc="70" dirty="0">
                <a:latin typeface="Microsoft Sans Serif"/>
                <a:cs typeface="Microsoft Sans Serif"/>
              </a:rPr>
              <a:t> </a:t>
            </a:r>
            <a:r>
              <a:rPr sz="2200" spc="-215" dirty="0">
                <a:latin typeface="Microsoft Sans Serif"/>
                <a:cs typeface="Microsoft Sans Serif"/>
              </a:rPr>
              <a:t>Você</a:t>
            </a:r>
            <a:r>
              <a:rPr sz="2200" spc="65" dirty="0">
                <a:latin typeface="Microsoft Sans Serif"/>
                <a:cs typeface="Microsoft Sans Serif"/>
              </a:rPr>
              <a:t> </a:t>
            </a:r>
            <a:r>
              <a:rPr sz="2200" spc="-50" dirty="0">
                <a:latin typeface="Microsoft Sans Serif"/>
                <a:cs typeface="Microsoft Sans Serif"/>
              </a:rPr>
              <a:t>pode</a:t>
            </a:r>
            <a:r>
              <a:rPr sz="2200" spc="-95" dirty="0">
                <a:latin typeface="Microsoft Sans Serif"/>
                <a:cs typeface="Microsoft Sans Serif"/>
              </a:rPr>
              <a:t> </a:t>
            </a:r>
            <a:r>
              <a:rPr sz="2200" spc="-130" dirty="0">
                <a:latin typeface="Microsoft Sans Serif"/>
                <a:cs typeface="Microsoft Sans Serif"/>
              </a:rPr>
              <a:t>mudar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spc="-80" dirty="0">
                <a:latin typeface="Microsoft Sans Serif"/>
                <a:cs typeface="Microsoft Sans Serif"/>
              </a:rPr>
              <a:t>visual </a:t>
            </a:r>
            <a:r>
              <a:rPr sz="2200" spc="-105" dirty="0">
                <a:latin typeface="Microsoft Sans Serif"/>
                <a:cs typeface="Microsoft Sans Serif"/>
              </a:rPr>
              <a:t>das</a:t>
            </a:r>
            <a:r>
              <a:rPr sz="2200" spc="-45" dirty="0">
                <a:latin typeface="Microsoft Sans Serif"/>
                <a:cs typeface="Microsoft Sans Serif"/>
              </a:rPr>
              <a:t> </a:t>
            </a:r>
            <a:r>
              <a:rPr sz="2200" spc="-105" dirty="0">
                <a:latin typeface="Microsoft Sans Serif"/>
                <a:cs typeface="Microsoft Sans Serif"/>
              </a:rPr>
              <a:t>letras,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spc="-245" dirty="0">
                <a:latin typeface="Microsoft Sans Serif"/>
                <a:cs typeface="Microsoft Sans Serif"/>
              </a:rPr>
              <a:t>números</a:t>
            </a:r>
            <a:r>
              <a:rPr sz="2200" spc="100" dirty="0">
                <a:latin typeface="Microsoft Sans Serif"/>
                <a:cs typeface="Microsoft Sans Serif"/>
              </a:rPr>
              <a:t> </a:t>
            </a:r>
            <a:r>
              <a:rPr sz="2200" spc="-225" dirty="0">
                <a:latin typeface="Microsoft Sans Serif"/>
                <a:cs typeface="Microsoft Sans Serif"/>
              </a:rPr>
              <a:t>ou</a:t>
            </a:r>
            <a:r>
              <a:rPr sz="2200" spc="75" dirty="0">
                <a:latin typeface="Microsoft Sans Serif"/>
                <a:cs typeface="Microsoft Sans Serif"/>
              </a:rPr>
              <a:t> </a:t>
            </a:r>
            <a:r>
              <a:rPr sz="2200" spc="-160" dirty="0">
                <a:latin typeface="Microsoft Sans Serif"/>
                <a:cs typeface="Microsoft Sans Serif"/>
              </a:rPr>
              <a:t>outros</a:t>
            </a:r>
            <a:r>
              <a:rPr sz="2200" spc="35" dirty="0">
                <a:latin typeface="Microsoft Sans Serif"/>
                <a:cs typeface="Microsoft Sans Serif"/>
              </a:rPr>
              <a:t> </a:t>
            </a:r>
            <a:r>
              <a:rPr sz="2200" spc="-95" dirty="0">
                <a:latin typeface="Microsoft Sans Serif"/>
                <a:cs typeface="Microsoft Sans Serif"/>
              </a:rPr>
              <a:t>caracteres </a:t>
            </a:r>
            <a:r>
              <a:rPr sz="2200" spc="-70" dirty="0">
                <a:latin typeface="Microsoft Sans Serif"/>
                <a:cs typeface="Microsoft Sans Serif"/>
              </a:rPr>
              <a:t>digitados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spc="-90" dirty="0">
                <a:latin typeface="Microsoft Sans Serif"/>
                <a:cs typeface="Microsoft Sans Serif"/>
              </a:rPr>
              <a:t>das</a:t>
            </a:r>
            <a:r>
              <a:rPr sz="2200" spc="-114" dirty="0">
                <a:latin typeface="Microsoft Sans Serif"/>
                <a:cs typeface="Microsoft Sans Serif"/>
              </a:rPr>
              <a:t> </a:t>
            </a:r>
            <a:r>
              <a:rPr sz="2200" spc="-150" dirty="0">
                <a:latin typeface="Microsoft Sans Serif"/>
                <a:cs typeface="Microsoft Sans Serif"/>
              </a:rPr>
              <a:t>células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spc="-55" dirty="0">
                <a:latin typeface="Microsoft Sans Serif"/>
                <a:cs typeface="Microsoft Sans Serif"/>
              </a:rPr>
              <a:t>selecionadas.</a:t>
            </a:r>
            <a:endParaRPr sz="22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20"/>
              </a:spcBef>
              <a:buClr>
                <a:srgbClr val="476F1E"/>
              </a:buClr>
              <a:buFont typeface="Wingdings"/>
              <a:buChar char=""/>
            </a:pPr>
            <a:endParaRPr sz="2200" dirty="0">
              <a:latin typeface="Microsoft Sans Serif"/>
              <a:cs typeface="Microsoft Sans Serif"/>
            </a:endParaRPr>
          </a:p>
          <a:p>
            <a:pPr marL="332740" marR="5080" indent="-320040">
              <a:lnSpc>
                <a:spcPct val="80100"/>
              </a:lnSpc>
              <a:spcBef>
                <a:spcPts val="5"/>
              </a:spcBef>
              <a:buClr>
                <a:srgbClr val="476F1E"/>
              </a:buClr>
              <a:buSzPct val="59090"/>
              <a:buFont typeface="Wingdings"/>
              <a:buChar char=""/>
              <a:tabLst>
                <a:tab pos="332740" algn="l"/>
              </a:tabLst>
            </a:pPr>
            <a:r>
              <a:rPr sz="2200" spc="-175" dirty="0">
                <a:latin typeface="Microsoft Sans Serif"/>
                <a:cs typeface="Microsoft Sans Serif"/>
              </a:rPr>
              <a:t>Seção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b="1" spc="-140" dirty="0">
                <a:latin typeface="Arial"/>
                <a:cs typeface="Arial"/>
              </a:rPr>
              <a:t>Alinhamento</a:t>
            </a:r>
            <a:r>
              <a:rPr sz="2200" spc="-140" dirty="0">
                <a:latin typeface="Microsoft Sans Serif"/>
                <a:cs typeface="Microsoft Sans Serif"/>
              </a:rPr>
              <a:t>:</a:t>
            </a:r>
            <a:r>
              <a:rPr sz="2200" spc="-120" dirty="0">
                <a:latin typeface="Microsoft Sans Serif"/>
                <a:cs typeface="Microsoft Sans Serif"/>
              </a:rPr>
              <a:t> </a:t>
            </a:r>
            <a:r>
              <a:rPr sz="2200" spc="-175" dirty="0">
                <a:latin typeface="Microsoft Sans Serif"/>
                <a:cs typeface="Microsoft Sans Serif"/>
              </a:rPr>
              <a:t>Você</a:t>
            </a:r>
            <a:r>
              <a:rPr sz="2200" spc="-55" dirty="0">
                <a:latin typeface="Microsoft Sans Serif"/>
                <a:cs typeface="Microsoft Sans Serif"/>
              </a:rPr>
              <a:t> </a:t>
            </a:r>
            <a:r>
              <a:rPr sz="2200" spc="-40" dirty="0">
                <a:latin typeface="Microsoft Sans Serif"/>
                <a:cs typeface="Microsoft Sans Serif"/>
              </a:rPr>
              <a:t>pode</a:t>
            </a:r>
            <a:r>
              <a:rPr sz="2200" spc="-45" dirty="0">
                <a:latin typeface="Microsoft Sans Serif"/>
                <a:cs typeface="Microsoft Sans Serif"/>
              </a:rPr>
              <a:t> </a:t>
            </a:r>
            <a:r>
              <a:rPr sz="2200" spc="-75" dirty="0">
                <a:latin typeface="Microsoft Sans Serif"/>
                <a:cs typeface="Microsoft Sans Serif"/>
              </a:rPr>
              <a:t>modificar </a:t>
            </a:r>
            <a:r>
              <a:rPr sz="2200" dirty="0">
                <a:latin typeface="Microsoft Sans Serif"/>
                <a:cs typeface="Microsoft Sans Serif"/>
              </a:rPr>
              <a:t>o</a:t>
            </a:r>
            <a:r>
              <a:rPr sz="2200" spc="-95" dirty="0">
                <a:latin typeface="Microsoft Sans Serif"/>
                <a:cs typeface="Microsoft Sans Serif"/>
              </a:rPr>
              <a:t> </a:t>
            </a:r>
            <a:r>
              <a:rPr sz="2200" spc="-150" dirty="0">
                <a:latin typeface="Microsoft Sans Serif"/>
                <a:cs typeface="Microsoft Sans Serif"/>
              </a:rPr>
              <a:t>alinhamento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spc="-50" dirty="0">
                <a:latin typeface="Microsoft Sans Serif"/>
                <a:cs typeface="Microsoft Sans Serif"/>
              </a:rPr>
              <a:t>dasletras,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spc="-210" dirty="0">
                <a:latin typeface="Microsoft Sans Serif"/>
                <a:cs typeface="Microsoft Sans Serif"/>
              </a:rPr>
              <a:t>números</a:t>
            </a:r>
            <a:r>
              <a:rPr sz="2200" spc="-175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ou </a:t>
            </a:r>
            <a:r>
              <a:rPr sz="2200" spc="-130" dirty="0">
                <a:latin typeface="Microsoft Sans Serif"/>
                <a:cs typeface="Microsoft Sans Serif"/>
              </a:rPr>
              <a:t>outros</a:t>
            </a:r>
            <a:r>
              <a:rPr sz="2200" spc="-180" dirty="0">
                <a:latin typeface="Microsoft Sans Serif"/>
                <a:cs typeface="Microsoft Sans Serif"/>
              </a:rPr>
              <a:t> </a:t>
            </a:r>
            <a:r>
              <a:rPr sz="2200" spc="-110" dirty="0">
                <a:latin typeface="Microsoft Sans Serif"/>
                <a:cs typeface="Microsoft Sans Serif"/>
              </a:rPr>
              <a:t>caracteres</a:t>
            </a:r>
            <a:r>
              <a:rPr sz="2200" spc="-180" dirty="0">
                <a:latin typeface="Microsoft Sans Serif"/>
                <a:cs typeface="Microsoft Sans Serif"/>
              </a:rPr>
              <a:t> </a:t>
            </a:r>
            <a:r>
              <a:rPr sz="2200" spc="-50" dirty="0">
                <a:latin typeface="Microsoft Sans Serif"/>
                <a:cs typeface="Microsoft Sans Serif"/>
              </a:rPr>
              <a:t>digitados</a:t>
            </a:r>
            <a:r>
              <a:rPr sz="2200" spc="-180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das</a:t>
            </a:r>
            <a:r>
              <a:rPr sz="2200" spc="-34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células </a:t>
            </a:r>
            <a:r>
              <a:rPr sz="2200" spc="-65" dirty="0">
                <a:latin typeface="Microsoft Sans Serif"/>
                <a:cs typeface="Microsoft Sans Serif"/>
              </a:rPr>
              <a:t>selecionadas.</a:t>
            </a:r>
            <a:endParaRPr sz="22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Clr>
                <a:srgbClr val="476F1E"/>
              </a:buClr>
              <a:buFont typeface="Wingdings"/>
              <a:buChar char=""/>
            </a:pPr>
            <a:endParaRPr sz="2200" dirty="0">
              <a:latin typeface="Microsoft Sans Serif"/>
              <a:cs typeface="Microsoft Sans Serif"/>
            </a:endParaRPr>
          </a:p>
          <a:p>
            <a:pPr marL="332740" marR="327025" indent="-320040" algn="just">
              <a:lnSpc>
                <a:spcPts val="2410"/>
              </a:lnSpc>
              <a:buClr>
                <a:srgbClr val="476F1E"/>
              </a:buClr>
              <a:buSzPct val="59090"/>
              <a:buFont typeface="Wingdings"/>
              <a:buChar char=""/>
              <a:tabLst>
                <a:tab pos="332740" algn="l"/>
              </a:tabLst>
            </a:pPr>
            <a:r>
              <a:rPr sz="2200" spc="-195" dirty="0">
                <a:latin typeface="Microsoft Sans Serif"/>
                <a:cs typeface="Microsoft Sans Serif"/>
              </a:rPr>
              <a:t>Seção</a:t>
            </a:r>
            <a:r>
              <a:rPr sz="2200" spc="45" dirty="0">
                <a:latin typeface="Microsoft Sans Serif"/>
                <a:cs typeface="Microsoft Sans Serif"/>
              </a:rPr>
              <a:t> </a:t>
            </a:r>
            <a:r>
              <a:rPr sz="2200" b="1" spc="-195" dirty="0">
                <a:latin typeface="Arial"/>
                <a:cs typeface="Arial"/>
              </a:rPr>
              <a:t>Número:</a:t>
            </a:r>
            <a:r>
              <a:rPr sz="2200" b="1" spc="45" dirty="0">
                <a:latin typeface="Arial"/>
                <a:cs typeface="Arial"/>
              </a:rPr>
              <a:t> </a:t>
            </a:r>
            <a:r>
              <a:rPr sz="2200" spc="-220" dirty="0">
                <a:latin typeface="Microsoft Sans Serif"/>
                <a:cs typeface="Microsoft Sans Serif"/>
              </a:rPr>
              <a:t>Você</a:t>
            </a:r>
            <a:r>
              <a:rPr sz="2200" spc="70" dirty="0">
                <a:latin typeface="Microsoft Sans Serif"/>
                <a:cs typeface="Microsoft Sans Serif"/>
              </a:rPr>
              <a:t> </a:t>
            </a:r>
            <a:r>
              <a:rPr sz="2200" spc="-55" dirty="0">
                <a:latin typeface="Microsoft Sans Serif"/>
                <a:cs typeface="Microsoft Sans Serif"/>
              </a:rPr>
              <a:t>pode</a:t>
            </a:r>
            <a:r>
              <a:rPr sz="2200" spc="-90" dirty="0">
                <a:latin typeface="Microsoft Sans Serif"/>
                <a:cs typeface="Microsoft Sans Serif"/>
              </a:rPr>
              <a:t> </a:t>
            </a:r>
            <a:r>
              <a:rPr sz="2200" spc="-60" dirty="0">
                <a:latin typeface="Microsoft Sans Serif"/>
                <a:cs typeface="Microsoft Sans Serif"/>
              </a:rPr>
              <a:t>formatar</a:t>
            </a:r>
            <a:r>
              <a:rPr sz="2200" spc="40" dirty="0">
                <a:latin typeface="Microsoft Sans Serif"/>
                <a:cs typeface="Microsoft Sans Serif"/>
              </a:rPr>
              <a:t> </a:t>
            </a:r>
            <a:r>
              <a:rPr sz="2200" spc="-135" dirty="0">
                <a:latin typeface="Microsoft Sans Serif"/>
                <a:cs typeface="Microsoft Sans Serif"/>
              </a:rPr>
              <a:t>os </a:t>
            </a:r>
            <a:r>
              <a:rPr sz="2200" spc="-210" dirty="0">
                <a:latin typeface="Microsoft Sans Serif"/>
                <a:cs typeface="Microsoft Sans Serif"/>
              </a:rPr>
              <a:t>números</a:t>
            </a:r>
            <a:r>
              <a:rPr sz="2200" spc="-19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das</a:t>
            </a:r>
            <a:r>
              <a:rPr sz="2200" spc="-345" dirty="0">
                <a:latin typeface="Microsoft Sans Serif"/>
                <a:cs typeface="Microsoft Sans Serif"/>
              </a:rPr>
              <a:t> </a:t>
            </a:r>
            <a:r>
              <a:rPr sz="2200" spc="-145" dirty="0">
                <a:latin typeface="Microsoft Sans Serif"/>
                <a:cs typeface="Microsoft Sans Serif"/>
              </a:rPr>
              <a:t>células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spc="-60" dirty="0">
                <a:latin typeface="Microsoft Sans Serif"/>
                <a:cs typeface="Microsoft Sans Serif"/>
              </a:rPr>
              <a:t>selecionadas.</a:t>
            </a:r>
            <a:endParaRPr sz="2200" dirty="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67400" y="1515187"/>
            <a:ext cx="3034665" cy="4986655"/>
            <a:chOff x="7309866" y="1682495"/>
            <a:chExt cx="3034665" cy="49866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09866" y="3233927"/>
              <a:ext cx="3034283" cy="15636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09510" y="4987289"/>
              <a:ext cx="2691383" cy="168173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4250" y="1682495"/>
              <a:ext cx="3009900" cy="1314450"/>
            </a:xfrm>
            <a:prstGeom prst="rect">
              <a:avLst/>
            </a:prstGeom>
          </p:spPr>
        </p:pic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064270DE-B19A-467E-A3EA-5E186C017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834" y="1522162"/>
            <a:ext cx="2699556" cy="133728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9D89EF2-3889-44D2-B065-8122BEC102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8427" y="3219214"/>
            <a:ext cx="3305175" cy="103822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587E9D5-182D-438B-935D-9DA91A887D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2341" y="4676538"/>
            <a:ext cx="2351049" cy="17391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900" dirty="0">
                <a:solidFill>
                  <a:srgbClr val="000000"/>
                </a:solidFill>
                <a:latin typeface="Calibri"/>
                <a:cs typeface="Calibri"/>
              </a:rPr>
              <a:t>F</a:t>
            </a:r>
            <a:r>
              <a:rPr spc="-180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5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pc="-250" dirty="0">
                <a:solidFill>
                  <a:srgbClr val="000000"/>
                </a:solidFill>
                <a:latin typeface="Calibri"/>
                <a:cs typeface="Calibri"/>
              </a:rPr>
              <a:t>m</a:t>
            </a:r>
            <a:r>
              <a:rPr spc="-3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pc="-310" dirty="0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r>
              <a:rPr spc="-254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1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290" dirty="0">
                <a:solidFill>
                  <a:srgbClr val="000000"/>
                </a:solidFill>
                <a:latin typeface="Calibri"/>
                <a:cs typeface="Calibri"/>
              </a:rPr>
              <a:t>células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9176" y="1743455"/>
            <a:ext cx="8577072" cy="4898136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390548"/>
              </p:ext>
            </p:extLst>
          </p:nvPr>
        </p:nvGraphicFramePr>
        <p:xfrm>
          <a:off x="1816100" y="1739900"/>
          <a:ext cx="8496300" cy="51104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Botão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BE094"/>
                      </a:solidFill>
                      <a:prstDash val="solid"/>
                    </a:lnL>
                    <a:lnT w="12700">
                      <a:solidFill>
                        <a:srgbClr val="BBE094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EC0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Nome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T w="12700">
                      <a:solidFill>
                        <a:srgbClr val="BBE094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EC0"/>
                    </a:solidFill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Função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R w="12700">
                      <a:solidFill>
                        <a:srgbClr val="BBE094"/>
                      </a:solidFill>
                      <a:prstDash val="solid"/>
                    </a:lnR>
                    <a:lnT w="12700">
                      <a:solidFill>
                        <a:srgbClr val="BBE094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E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BBE094"/>
                      </a:solidFill>
                      <a:prstDash val="solid"/>
                    </a:lnB>
                    <a:solidFill>
                      <a:srgbClr val="E3F3D3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Fonte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BBE094"/>
                      </a:solidFill>
                      <a:prstDash val="solid"/>
                    </a:lnB>
                    <a:solidFill>
                      <a:srgbClr val="E3F3D3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Altera</a:t>
                      </a:r>
                      <a:r>
                        <a:rPr sz="18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Fonte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BBE094"/>
                      </a:solidFill>
                      <a:prstDash val="solid"/>
                    </a:lnB>
                    <a:solidFill>
                      <a:srgbClr val="E3F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2700">
                      <a:solidFill>
                        <a:srgbClr val="BBE094"/>
                      </a:solidFill>
                      <a:prstDash val="solid"/>
                    </a:lnT>
                    <a:lnB w="12700">
                      <a:solidFill>
                        <a:srgbClr val="BBE094"/>
                      </a:solidFill>
                      <a:prstDash val="solid"/>
                    </a:lnB>
                    <a:solidFill>
                      <a:srgbClr val="DFEFD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Tamanho</a:t>
                      </a:r>
                      <a:r>
                        <a:rPr sz="18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da</a:t>
                      </a:r>
                      <a:r>
                        <a:rPr sz="18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fonte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2700">
                      <a:solidFill>
                        <a:srgbClr val="BBE094"/>
                      </a:solidFill>
                      <a:prstDash val="solid"/>
                    </a:lnT>
                    <a:lnB w="12700">
                      <a:solidFill>
                        <a:srgbClr val="BBE094"/>
                      </a:solidFill>
                      <a:prstDash val="solid"/>
                    </a:lnB>
                    <a:solidFill>
                      <a:srgbClr val="DFEFD2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spc="-55" dirty="0">
                          <a:latin typeface="Microsoft Sans Serif"/>
                          <a:cs typeface="Microsoft Sans Serif"/>
                        </a:rPr>
                        <a:t>Altera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18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25" dirty="0">
                          <a:latin typeface="Microsoft Sans Serif"/>
                          <a:cs typeface="Microsoft Sans Serif"/>
                        </a:rPr>
                        <a:t>tamanho</a:t>
                      </a:r>
                      <a:r>
                        <a:rPr sz="1800" spc="-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da</a:t>
                      </a:r>
                      <a:r>
                        <a:rPr sz="18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fonte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2700">
                      <a:solidFill>
                        <a:srgbClr val="BBE094"/>
                      </a:solidFill>
                      <a:prstDash val="solid"/>
                    </a:lnT>
                    <a:lnB w="12700">
                      <a:solidFill>
                        <a:srgbClr val="BBE094"/>
                      </a:solidFill>
                      <a:prstDash val="solid"/>
                    </a:lnB>
                    <a:solidFill>
                      <a:srgbClr val="DF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2700">
                      <a:solidFill>
                        <a:srgbClr val="BBE094"/>
                      </a:solidFill>
                      <a:prstDash val="solid"/>
                    </a:lnT>
                    <a:lnB w="12700">
                      <a:solidFill>
                        <a:srgbClr val="BBE094"/>
                      </a:solidFill>
                      <a:prstDash val="solid"/>
                    </a:lnB>
                    <a:solidFill>
                      <a:srgbClr val="E3F3D3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Negrito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2700">
                      <a:solidFill>
                        <a:srgbClr val="BBE094"/>
                      </a:solidFill>
                      <a:prstDash val="solid"/>
                    </a:lnT>
                    <a:lnB w="12700">
                      <a:solidFill>
                        <a:srgbClr val="BBE094"/>
                      </a:solidFill>
                      <a:prstDash val="solid"/>
                    </a:lnB>
                    <a:solidFill>
                      <a:srgbClr val="E3F3D3"/>
                    </a:solidFill>
                  </a:tcPr>
                </a:tc>
                <a:tc>
                  <a:txBody>
                    <a:bodyPr/>
                    <a:lstStyle/>
                    <a:p>
                      <a:pPr marL="862965" marR="354330" indent="-49085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spc="-70" dirty="0">
                          <a:latin typeface="Microsoft Sans Serif"/>
                          <a:cs typeface="Microsoft Sans Serif"/>
                        </a:rPr>
                        <a:t>Aplica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70" dirty="0">
                          <a:latin typeface="Microsoft Sans Serif"/>
                          <a:cs typeface="Microsoft Sans Serif"/>
                        </a:rPr>
                        <a:t>negrito</a:t>
                      </a:r>
                      <a:r>
                        <a:rPr sz="18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ao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texto </a:t>
                      </a:r>
                      <a:r>
                        <a:rPr sz="1800" spc="-35" dirty="0">
                          <a:latin typeface="Microsoft Sans Serif"/>
                          <a:cs typeface="Microsoft Sans Serif"/>
                        </a:rPr>
                        <a:t>selecionado.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2700">
                      <a:solidFill>
                        <a:srgbClr val="BBE094"/>
                      </a:solidFill>
                      <a:prstDash val="solid"/>
                    </a:lnT>
                    <a:lnB w="12700">
                      <a:solidFill>
                        <a:srgbClr val="BBE094"/>
                      </a:solidFill>
                      <a:prstDash val="solid"/>
                    </a:lnB>
                    <a:solidFill>
                      <a:srgbClr val="E3F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85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2700">
                      <a:solidFill>
                        <a:srgbClr val="BBE094"/>
                      </a:solidFill>
                      <a:prstDash val="solid"/>
                    </a:lnT>
                    <a:lnB w="12700">
                      <a:solidFill>
                        <a:srgbClr val="BBE094"/>
                      </a:solidFill>
                      <a:prstDash val="solid"/>
                    </a:lnB>
                    <a:solidFill>
                      <a:srgbClr val="DFEFD2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Itálico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2700">
                      <a:solidFill>
                        <a:srgbClr val="BBE094"/>
                      </a:solidFill>
                      <a:prstDash val="solid"/>
                    </a:lnT>
                    <a:lnB w="12700">
                      <a:solidFill>
                        <a:srgbClr val="BBE094"/>
                      </a:solidFill>
                      <a:prstDash val="solid"/>
                    </a:lnB>
                    <a:solidFill>
                      <a:srgbClr val="DFEFD2"/>
                    </a:solidFill>
                  </a:tcPr>
                </a:tc>
                <a:tc>
                  <a:txBody>
                    <a:bodyPr/>
                    <a:lstStyle/>
                    <a:p>
                      <a:pPr marL="622935" marR="61468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Formata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 texto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selecionado</a:t>
                      </a:r>
                      <a:r>
                        <a:rPr sz="1800" spc="5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em</a:t>
                      </a:r>
                      <a:r>
                        <a:rPr sz="18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itálico.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2700">
                      <a:solidFill>
                        <a:srgbClr val="BBE094"/>
                      </a:solidFill>
                      <a:prstDash val="solid"/>
                    </a:lnT>
                    <a:lnB w="12700">
                      <a:solidFill>
                        <a:srgbClr val="BBE094"/>
                      </a:solidFill>
                      <a:prstDash val="solid"/>
                    </a:lnB>
                    <a:solidFill>
                      <a:srgbClr val="DF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85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2700">
                      <a:solidFill>
                        <a:srgbClr val="BBE094"/>
                      </a:solidFill>
                      <a:prstDash val="solid"/>
                    </a:lnT>
                    <a:lnB w="12700">
                      <a:solidFill>
                        <a:srgbClr val="BBE094"/>
                      </a:solidFill>
                      <a:prstDash val="solid"/>
                    </a:lnB>
                    <a:solidFill>
                      <a:srgbClr val="E3F3D3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Sublinhado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2700">
                      <a:solidFill>
                        <a:srgbClr val="BBE094"/>
                      </a:solidFill>
                      <a:prstDash val="solid"/>
                    </a:lnT>
                    <a:lnB w="12700">
                      <a:solidFill>
                        <a:srgbClr val="BBE094"/>
                      </a:solidFill>
                      <a:prstDash val="solid"/>
                    </a:lnB>
                    <a:solidFill>
                      <a:srgbClr val="E3F3D3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7696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Desenha</a:t>
                      </a:r>
                      <a:r>
                        <a:rPr sz="18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uma</a:t>
                      </a:r>
                      <a:r>
                        <a:rPr sz="18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linha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sob</a:t>
                      </a:r>
                      <a:r>
                        <a:rPr sz="18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1800" spc="4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texto </a:t>
                      </a:r>
                      <a:r>
                        <a:rPr sz="1800" spc="-35" dirty="0">
                          <a:latin typeface="Microsoft Sans Serif"/>
                          <a:cs typeface="Microsoft Sans Serif"/>
                        </a:rPr>
                        <a:t>selecionado.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2700">
                      <a:solidFill>
                        <a:srgbClr val="BBE094"/>
                      </a:solidFill>
                      <a:prstDash val="solid"/>
                    </a:lnT>
                    <a:lnB w="12700">
                      <a:solidFill>
                        <a:srgbClr val="BBE094"/>
                      </a:solidFill>
                      <a:prstDash val="solid"/>
                    </a:lnB>
                    <a:solidFill>
                      <a:srgbClr val="E3F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2700">
                      <a:solidFill>
                        <a:srgbClr val="BBE094"/>
                      </a:solidFill>
                      <a:prstDash val="solid"/>
                    </a:lnT>
                    <a:lnB w="12700">
                      <a:solidFill>
                        <a:srgbClr val="BBE094"/>
                      </a:solidFill>
                      <a:prstDash val="solid"/>
                    </a:lnB>
                    <a:solidFill>
                      <a:srgbClr val="DFEFD2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Borda</a:t>
                      </a: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Inferior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2700">
                      <a:solidFill>
                        <a:srgbClr val="BBE094"/>
                      </a:solidFill>
                      <a:prstDash val="solid"/>
                    </a:lnT>
                    <a:lnB w="12700">
                      <a:solidFill>
                        <a:srgbClr val="BBE094"/>
                      </a:solidFill>
                      <a:prstDash val="solid"/>
                    </a:lnB>
                    <a:solidFill>
                      <a:srgbClr val="DFEFD2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1098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Aplica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uma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borda</a:t>
                      </a: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à</a:t>
                      </a: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célula </a:t>
                      </a:r>
                      <a:r>
                        <a:rPr sz="1800" spc="-105" dirty="0">
                          <a:latin typeface="Microsoft Sans Serif"/>
                          <a:cs typeface="Microsoft Sans Serif"/>
                        </a:rPr>
                        <a:t>atualmente</a:t>
                      </a:r>
                      <a:r>
                        <a:rPr sz="18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selecionada.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2700">
                      <a:solidFill>
                        <a:srgbClr val="BBE094"/>
                      </a:solidFill>
                      <a:prstDash val="solid"/>
                    </a:lnT>
                    <a:lnB w="12700">
                      <a:solidFill>
                        <a:srgbClr val="BBE094"/>
                      </a:solidFill>
                      <a:prstDash val="solid"/>
                    </a:lnB>
                    <a:solidFill>
                      <a:srgbClr val="DF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40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2700">
                      <a:solidFill>
                        <a:srgbClr val="BBE094"/>
                      </a:solidFill>
                      <a:prstDash val="solid"/>
                    </a:lnT>
                    <a:solidFill>
                      <a:srgbClr val="E3F3D3"/>
                    </a:solidFill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80" dirty="0">
                          <a:latin typeface="Microsoft Sans Serif"/>
                          <a:cs typeface="Microsoft Sans Serif"/>
                        </a:rPr>
                        <a:t>Cor</a:t>
                      </a:r>
                      <a:r>
                        <a:rPr sz="1800" spc="-1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sz="1800" spc="-65" dirty="0">
                          <a:latin typeface="Microsoft Sans Serif"/>
                          <a:cs typeface="Microsoft Sans Serif"/>
                        </a:rPr>
                        <a:t> Preenchimento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2700">
                      <a:solidFill>
                        <a:srgbClr val="BBE094"/>
                      </a:solidFill>
                      <a:prstDash val="solid"/>
                    </a:lnT>
                    <a:solidFill>
                      <a:srgbClr val="E3F3D3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85" dirty="0">
                          <a:latin typeface="Microsoft Sans Serif"/>
                          <a:cs typeface="Microsoft Sans Serif"/>
                        </a:rPr>
                        <a:t>Colore</a:t>
                      </a:r>
                      <a:r>
                        <a:rPr sz="1800" spc="-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1800" spc="-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75" dirty="0">
                          <a:latin typeface="Microsoft Sans Serif"/>
                          <a:cs typeface="Microsoft Sans Serif"/>
                        </a:rPr>
                        <a:t>plano</a:t>
                      </a:r>
                      <a:r>
                        <a:rPr sz="18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80" dirty="0">
                          <a:latin typeface="Microsoft Sans Serif"/>
                          <a:cs typeface="Microsoft Sans Serif"/>
                        </a:rPr>
                        <a:t>fundo</a:t>
                      </a:r>
                      <a:r>
                        <a:rPr sz="1800" spc="-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das</a:t>
                      </a:r>
                      <a:endParaRPr sz="1800" dirty="0">
                        <a:latin typeface="Microsoft Sans Serif"/>
                        <a:cs typeface="Microsoft Sans Serif"/>
                      </a:endParaRPr>
                    </a:p>
                    <a:p>
                      <a:pPr marL="93980">
                        <a:lnSpc>
                          <a:spcPts val="1385"/>
                        </a:lnSpc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células</a:t>
                      </a:r>
                      <a:r>
                        <a:rPr sz="18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selecionadas.</a:t>
                      </a:r>
                      <a:endParaRPr sz="1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BBE094"/>
                      </a:solidFill>
                      <a:prstDash val="solid"/>
                    </a:lnL>
                    <a:lnR w="12700">
                      <a:solidFill>
                        <a:srgbClr val="BBE094"/>
                      </a:solidFill>
                      <a:prstDash val="solid"/>
                    </a:lnR>
                    <a:lnT w="12700">
                      <a:solidFill>
                        <a:srgbClr val="BBE094"/>
                      </a:solidFill>
                      <a:prstDash val="solid"/>
                    </a:lnT>
                    <a:solidFill>
                      <a:srgbClr val="E3F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8464" y="2396489"/>
            <a:ext cx="2124456" cy="3619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13126" y="2923794"/>
            <a:ext cx="675894" cy="35204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74670" y="3484626"/>
            <a:ext cx="352806" cy="35204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52572" y="4151376"/>
            <a:ext cx="409955" cy="3337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80944" y="4803647"/>
            <a:ext cx="552450" cy="3520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08376" y="5436108"/>
            <a:ext cx="533400" cy="35280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42666" y="6096000"/>
            <a:ext cx="514350" cy="33299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484" dirty="0">
                <a:solidFill>
                  <a:srgbClr val="000000"/>
                </a:solidFill>
                <a:latin typeface="Calibri"/>
                <a:cs typeface="Calibri"/>
              </a:rPr>
              <a:t>F</a:t>
            </a:r>
            <a:r>
              <a:rPr spc="-420" dirty="0">
                <a:solidFill>
                  <a:srgbClr val="000000"/>
                </a:solidFill>
                <a:latin typeface="Calibri"/>
                <a:cs typeface="Calibri"/>
              </a:rPr>
              <a:t>ó</a:t>
            </a:r>
            <a:r>
              <a:rPr spc="-150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pc="-665" dirty="0">
                <a:solidFill>
                  <a:srgbClr val="000000"/>
                </a:solidFill>
                <a:latin typeface="Calibri"/>
                <a:cs typeface="Calibri"/>
              </a:rPr>
              <a:t>m</a:t>
            </a:r>
            <a:r>
              <a:rPr spc="-360" dirty="0">
                <a:solidFill>
                  <a:srgbClr val="000000"/>
                </a:solidFill>
                <a:latin typeface="Calibri"/>
                <a:cs typeface="Calibri"/>
              </a:rPr>
              <a:t>ula</a:t>
            </a: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pc="-2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555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pc="-509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m</a:t>
            </a:r>
            <a:r>
              <a:rPr spc="-4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215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85" dirty="0">
                <a:solidFill>
                  <a:srgbClr val="000000"/>
                </a:solidFill>
                <a:latin typeface="Calibri"/>
                <a:cs typeface="Calibri"/>
              </a:rPr>
              <a:t>p</a:t>
            </a:r>
            <a:r>
              <a:rPr spc="-8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-165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pc="-85" dirty="0">
                <a:solidFill>
                  <a:srgbClr val="000000"/>
                </a:solidFill>
                <a:latin typeface="Calibri"/>
                <a:cs typeface="Calibri"/>
              </a:rPr>
              <a:t>ado</a:t>
            </a:r>
            <a:r>
              <a:rPr spc="-140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pc="-75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335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pc="-245" dirty="0">
                <a:solidFill>
                  <a:srgbClr val="000000"/>
                </a:solidFill>
                <a:latin typeface="Calibri"/>
                <a:cs typeface="Calibri"/>
              </a:rPr>
              <a:t>b</a:t>
            </a:r>
            <a:r>
              <a:rPr spc="-240" dirty="0">
                <a:solidFill>
                  <a:srgbClr val="000000"/>
                </a:solidFill>
                <a:latin typeface="Calibri"/>
                <a:cs typeface="Calibri"/>
              </a:rPr>
              <a:t>á</a:t>
            </a:r>
            <a:r>
              <a:rPr spc="-235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pc="-245" dirty="0">
                <a:solidFill>
                  <a:srgbClr val="000000"/>
                </a:solidFill>
                <a:latin typeface="Calibri"/>
                <a:cs typeface="Calibri"/>
              </a:rPr>
              <a:t>i</a:t>
            </a:r>
            <a:r>
              <a:rPr spc="-325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pc="-465" dirty="0">
                <a:solidFill>
                  <a:srgbClr val="000000"/>
                </a:solidFill>
                <a:latin typeface="Calibri"/>
                <a:cs typeface="Calibri"/>
              </a:rPr>
              <a:t>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1542" y="2680021"/>
            <a:ext cx="3458058" cy="28283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2000" y="1467358"/>
            <a:ext cx="7717790" cy="32412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95"/>
              </a:spcBef>
              <a:buClr>
                <a:srgbClr val="476F1E"/>
              </a:buClr>
              <a:buSzPct val="58620"/>
              <a:buFont typeface="Wingdings"/>
              <a:buChar char=""/>
              <a:tabLst>
                <a:tab pos="332105" algn="l"/>
              </a:tabLst>
            </a:pPr>
            <a:r>
              <a:rPr sz="2400" spc="-665" dirty="0">
                <a:latin typeface="Microsoft Sans Serif"/>
                <a:cs typeface="Microsoft Sans Serif"/>
              </a:rPr>
              <a:t>P</a:t>
            </a:r>
            <a:r>
              <a:rPr sz="2400" spc="-25" dirty="0">
                <a:latin typeface="Microsoft Sans Serif"/>
                <a:cs typeface="Microsoft Sans Serif"/>
              </a:rPr>
              <a:t>a</a:t>
            </a:r>
            <a:r>
              <a:rPr sz="2400" spc="-50" dirty="0">
                <a:latin typeface="Microsoft Sans Serif"/>
                <a:cs typeface="Microsoft Sans Serif"/>
              </a:rPr>
              <a:t>r</a:t>
            </a:r>
            <a:r>
              <a:rPr sz="2400" spc="-10" dirty="0">
                <a:latin typeface="Microsoft Sans Serif"/>
                <a:cs typeface="Microsoft Sans Serif"/>
              </a:rPr>
              <a:t>a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40" dirty="0">
                <a:latin typeface="Microsoft Sans Serif"/>
                <a:cs typeface="Microsoft Sans Serif"/>
              </a:rPr>
              <a:t>i</a:t>
            </a:r>
            <a:r>
              <a:rPr sz="2400" spc="-180" dirty="0">
                <a:latin typeface="Microsoft Sans Serif"/>
                <a:cs typeface="Microsoft Sans Serif"/>
              </a:rPr>
              <a:t>nd</a:t>
            </a:r>
            <a:r>
              <a:rPr sz="2400" spc="-75" dirty="0">
                <a:latin typeface="Microsoft Sans Serif"/>
                <a:cs typeface="Microsoft Sans Serif"/>
              </a:rPr>
              <a:t>i</a:t>
            </a:r>
            <a:r>
              <a:rPr sz="2400" spc="-350" dirty="0">
                <a:latin typeface="Microsoft Sans Serif"/>
                <a:cs typeface="Microsoft Sans Serif"/>
              </a:rPr>
              <a:t>c</a:t>
            </a:r>
            <a:r>
              <a:rPr sz="2400" spc="-30" dirty="0">
                <a:latin typeface="Microsoft Sans Serif"/>
                <a:cs typeface="Microsoft Sans Serif"/>
              </a:rPr>
              <a:t>a</a:t>
            </a:r>
            <a:r>
              <a:rPr sz="2400" spc="20" dirty="0">
                <a:latin typeface="Microsoft Sans Serif"/>
                <a:cs typeface="Microsoft Sans Serif"/>
              </a:rPr>
              <a:t>r</a:t>
            </a:r>
            <a:r>
              <a:rPr sz="2400" spc="-405" dirty="0">
                <a:latin typeface="Microsoft Sans Serif"/>
                <a:cs typeface="Microsoft Sans Serif"/>
              </a:rPr>
              <a:t>m</a:t>
            </a:r>
            <a:r>
              <a:rPr sz="2400" spc="-265" dirty="0">
                <a:latin typeface="Microsoft Sans Serif"/>
                <a:cs typeface="Microsoft Sans Serif"/>
              </a:rPr>
              <a:t>o</a:t>
            </a:r>
            <a:r>
              <a:rPr sz="2400" spc="240" dirty="0">
                <a:latin typeface="Microsoft Sans Serif"/>
                <a:cs typeface="Microsoft Sans Serif"/>
              </a:rPr>
              <a:t>s</a:t>
            </a:r>
            <a:r>
              <a:rPr sz="2400" spc="-195" dirty="0">
                <a:latin typeface="Microsoft Sans Serif"/>
                <a:cs typeface="Microsoft Sans Serif"/>
              </a:rPr>
              <a:t>qu</a:t>
            </a:r>
            <a:r>
              <a:rPr sz="2400" spc="-15" dirty="0">
                <a:latin typeface="Microsoft Sans Serif"/>
                <a:cs typeface="Microsoft Sans Serif"/>
              </a:rPr>
              <a:t>e</a:t>
            </a:r>
            <a:r>
              <a:rPr sz="2400" spc="-170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determinada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160" dirty="0">
                <a:latin typeface="Microsoft Sans Serif"/>
                <a:cs typeface="Microsoft Sans Serif"/>
              </a:rPr>
              <a:t>célula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vai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-55" dirty="0">
                <a:latin typeface="Microsoft Sans Serif"/>
                <a:cs typeface="Microsoft Sans Serif"/>
              </a:rPr>
              <a:t>servir </a:t>
            </a:r>
            <a:r>
              <a:rPr sz="2400" dirty="0">
                <a:latin typeface="Microsoft Sans Serif"/>
                <a:cs typeface="Microsoft Sans Serif"/>
              </a:rPr>
              <a:t>para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50" dirty="0" err="1">
                <a:latin typeface="Microsoft Sans Serif"/>
                <a:cs typeface="Microsoft Sans Serif"/>
              </a:rPr>
              <a:t>realizar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195" dirty="0">
                <a:latin typeface="Microsoft Sans Serif"/>
                <a:cs typeface="Microsoft Sans Serif"/>
              </a:rPr>
              <a:t>um</a:t>
            </a:r>
            <a:r>
              <a:rPr lang="pt-BR" sz="2400" spc="-195" dirty="0">
                <a:latin typeface="Microsoft Sans Serif"/>
                <a:cs typeface="Microsoft Sans Serif"/>
              </a:rPr>
              <a:t> </a:t>
            </a:r>
            <a:r>
              <a:rPr sz="2400" spc="-195" dirty="0" err="1">
                <a:latin typeface="Microsoft Sans Serif"/>
                <a:cs typeface="Microsoft Sans Serif"/>
              </a:rPr>
              <a:t>cálculo</a:t>
            </a:r>
            <a:r>
              <a:rPr sz="2400" spc="-195" dirty="0">
                <a:latin typeface="Microsoft Sans Serif"/>
                <a:cs typeface="Microsoft Sans Serif"/>
              </a:rPr>
              <a:t>,</a:t>
            </a:r>
            <a:r>
              <a:rPr sz="2400" spc="-360" dirty="0">
                <a:latin typeface="Microsoft Sans Serif"/>
                <a:cs typeface="Microsoft Sans Serif"/>
              </a:rPr>
              <a:t> </a:t>
            </a:r>
            <a:r>
              <a:rPr sz="2400" spc="-225" dirty="0" err="1">
                <a:latin typeface="Microsoft Sans Serif"/>
                <a:cs typeface="Microsoft Sans Serif"/>
              </a:rPr>
              <a:t>devemos</a:t>
            </a:r>
            <a:r>
              <a:rPr lang="pt-BR" sz="2400" spc="-225" dirty="0">
                <a:latin typeface="Microsoft Sans Serif"/>
                <a:cs typeface="Microsoft Sans Serif"/>
              </a:rPr>
              <a:t> </a:t>
            </a:r>
            <a:r>
              <a:rPr sz="2400" spc="-465" dirty="0">
                <a:latin typeface="Microsoft Sans Serif"/>
                <a:cs typeface="Microsoft Sans Serif"/>
              </a:rPr>
              <a:t> </a:t>
            </a:r>
            <a:r>
              <a:rPr sz="2400" spc="-200" dirty="0" err="1">
                <a:latin typeface="Microsoft Sans Serif"/>
                <a:cs typeface="Microsoft Sans Serif"/>
              </a:rPr>
              <a:t>sempre</a:t>
            </a:r>
            <a:r>
              <a:rPr sz="2400" spc="-41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200" dirty="0">
                <a:latin typeface="Microsoft Sans Serif"/>
                <a:cs typeface="Microsoft Sans Serif"/>
              </a:rPr>
              <a:t>começar</a:t>
            </a:r>
            <a:r>
              <a:rPr sz="2400" spc="-2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por</a:t>
            </a:r>
            <a:r>
              <a:rPr sz="2400" spc="-120" dirty="0">
                <a:latin typeface="Microsoft Sans Serif"/>
                <a:cs typeface="Microsoft Sans Serif"/>
              </a:rPr>
              <a:t> introduzir</a:t>
            </a:r>
            <a:r>
              <a:rPr sz="2400" spc="-1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</a:t>
            </a:r>
            <a:r>
              <a:rPr sz="2400" spc="-145" dirty="0">
                <a:latin typeface="Microsoft Sans Serif"/>
                <a:cs typeface="Microsoft Sans Serif"/>
              </a:rPr>
              <a:t> </a:t>
            </a:r>
            <a:r>
              <a:rPr sz="2400" spc="-165" dirty="0">
                <a:latin typeface="Microsoft Sans Serif"/>
                <a:cs typeface="Microsoft Sans Serif"/>
              </a:rPr>
              <a:t>sinal</a:t>
            </a:r>
            <a:r>
              <a:rPr sz="2400" spc="-1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de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65" dirty="0">
                <a:latin typeface="Microsoft Sans Serif"/>
                <a:cs typeface="Microsoft Sans Serif"/>
              </a:rPr>
              <a:t>igual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“=”.</a:t>
            </a:r>
            <a:endParaRPr sz="2400" dirty="0">
              <a:latin typeface="Microsoft Sans Serif"/>
              <a:cs typeface="Microsoft Sans Serif"/>
            </a:endParaRPr>
          </a:p>
          <a:p>
            <a:pPr marL="262890">
              <a:lnSpc>
                <a:spcPct val="100000"/>
              </a:lnSpc>
              <a:spcBef>
                <a:spcPts val="1115"/>
              </a:spcBef>
            </a:pPr>
            <a:r>
              <a:rPr sz="2000" b="1" spc="-65" dirty="0">
                <a:latin typeface="Arial"/>
                <a:cs typeface="Arial"/>
              </a:rPr>
              <a:t>Os</a:t>
            </a:r>
            <a:r>
              <a:rPr sz="2000" b="1" spc="-275" dirty="0">
                <a:latin typeface="Arial"/>
                <a:cs typeface="Arial"/>
              </a:rPr>
              <a:t> </a:t>
            </a:r>
            <a:r>
              <a:rPr sz="2000" b="1" spc="-150" dirty="0">
                <a:latin typeface="Arial"/>
                <a:cs typeface="Arial"/>
              </a:rPr>
              <a:t>operadores</a:t>
            </a:r>
            <a:r>
              <a:rPr sz="2000" b="1" spc="-185" dirty="0">
                <a:latin typeface="Arial"/>
                <a:cs typeface="Arial"/>
              </a:rPr>
              <a:t> </a:t>
            </a:r>
            <a:r>
              <a:rPr sz="2000" b="1" spc="-170" dirty="0">
                <a:latin typeface="Arial"/>
                <a:cs typeface="Arial"/>
              </a:rPr>
              <a:t>básicos </a:t>
            </a:r>
            <a:r>
              <a:rPr sz="2000" b="1" spc="-20" dirty="0">
                <a:latin typeface="Arial"/>
                <a:cs typeface="Arial"/>
              </a:rPr>
              <a:t>são: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2000" dirty="0">
              <a:latin typeface="Arial"/>
              <a:cs typeface="Arial"/>
            </a:endParaRPr>
          </a:p>
          <a:p>
            <a:pPr marL="375285">
              <a:lnSpc>
                <a:spcPct val="100000"/>
              </a:lnSpc>
            </a:pPr>
            <a:r>
              <a:rPr sz="1450" dirty="0">
                <a:solidFill>
                  <a:srgbClr val="476F1E"/>
                </a:solidFill>
                <a:latin typeface="Wingdings"/>
                <a:cs typeface="Wingdings"/>
              </a:rPr>
              <a:t></a:t>
            </a:r>
            <a:r>
              <a:rPr sz="1450" spc="210" dirty="0">
                <a:solidFill>
                  <a:srgbClr val="476F1E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+</a:t>
            </a:r>
            <a:r>
              <a:rPr sz="1800" b="1" spc="80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é</a:t>
            </a:r>
            <a:r>
              <a:rPr sz="1800" spc="-11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</a:t>
            </a:r>
            <a:r>
              <a:rPr sz="1800" spc="-114" dirty="0">
                <a:latin typeface="Microsoft Sans Serif"/>
                <a:cs typeface="Microsoft Sans Serif"/>
              </a:rPr>
              <a:t> </a:t>
            </a:r>
            <a:r>
              <a:rPr sz="1800" spc="-40" dirty="0">
                <a:latin typeface="Microsoft Sans Serif"/>
                <a:cs typeface="Microsoft Sans Serif"/>
              </a:rPr>
              <a:t>operador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30" dirty="0">
                <a:latin typeface="Microsoft Sans Serif"/>
                <a:cs typeface="Microsoft Sans Serif"/>
              </a:rPr>
              <a:t>de</a:t>
            </a:r>
            <a:r>
              <a:rPr sz="1800" spc="-100" dirty="0">
                <a:latin typeface="Microsoft Sans Serif"/>
                <a:cs typeface="Microsoft Sans Serif"/>
              </a:rPr>
              <a:t> </a:t>
            </a:r>
            <a:r>
              <a:rPr sz="1800" b="1" spc="-20" dirty="0">
                <a:latin typeface="Arial"/>
                <a:cs typeface="Arial"/>
              </a:rPr>
              <a:t>soma</a:t>
            </a:r>
            <a:r>
              <a:rPr sz="1800" spc="-20" dirty="0">
                <a:latin typeface="Microsoft Sans Serif"/>
                <a:cs typeface="Microsoft Sans Serif"/>
              </a:rPr>
              <a:t>;</a:t>
            </a:r>
            <a:endParaRPr sz="1800" dirty="0">
              <a:latin typeface="Microsoft Sans Serif"/>
              <a:cs typeface="Microsoft Sans Serif"/>
            </a:endParaRPr>
          </a:p>
          <a:p>
            <a:pPr marL="661035" lvl="1" indent="-285750">
              <a:lnSpc>
                <a:spcPct val="100000"/>
              </a:lnSpc>
              <a:spcBef>
                <a:spcPts val="405"/>
              </a:spcBef>
              <a:buClr>
                <a:srgbClr val="476F1E"/>
              </a:buClr>
              <a:buSzPct val="80555"/>
              <a:buFont typeface="Wingdings"/>
              <a:buChar char=""/>
              <a:tabLst>
                <a:tab pos="661035" algn="l"/>
              </a:tabLst>
            </a:pP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é</a:t>
            </a:r>
            <a:r>
              <a:rPr sz="1800" spc="-10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</a:t>
            </a:r>
            <a:r>
              <a:rPr sz="1800" spc="-95" dirty="0">
                <a:latin typeface="Microsoft Sans Serif"/>
                <a:cs typeface="Microsoft Sans Serif"/>
              </a:rPr>
              <a:t> </a:t>
            </a:r>
            <a:r>
              <a:rPr sz="1800" spc="-45" dirty="0">
                <a:latin typeface="Microsoft Sans Serif"/>
                <a:cs typeface="Microsoft Sans Serif"/>
              </a:rPr>
              <a:t>operador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de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b="1" spc="-40" dirty="0">
                <a:latin typeface="Arial"/>
                <a:cs typeface="Arial"/>
              </a:rPr>
              <a:t>subtração</a:t>
            </a:r>
            <a:r>
              <a:rPr sz="1800" spc="-40" dirty="0">
                <a:latin typeface="Microsoft Sans Serif"/>
                <a:cs typeface="Microsoft Sans Serif"/>
              </a:rPr>
              <a:t>;</a:t>
            </a:r>
            <a:endParaRPr sz="1800" dirty="0">
              <a:latin typeface="Microsoft Sans Serif"/>
              <a:cs typeface="Microsoft Sans Serif"/>
            </a:endParaRPr>
          </a:p>
          <a:p>
            <a:pPr marL="661035" lvl="1" indent="-285750">
              <a:lnSpc>
                <a:spcPct val="100000"/>
              </a:lnSpc>
              <a:spcBef>
                <a:spcPts val="400"/>
              </a:spcBef>
              <a:buClr>
                <a:srgbClr val="476F1E"/>
              </a:buClr>
              <a:buSzPct val="80555"/>
              <a:buFont typeface="Wingdings"/>
              <a:buChar char=""/>
              <a:tabLst>
                <a:tab pos="661035" algn="l"/>
              </a:tabLst>
            </a:pPr>
            <a:r>
              <a:rPr sz="1800" b="1" dirty="0">
                <a:latin typeface="Arial"/>
                <a:cs typeface="Arial"/>
              </a:rPr>
              <a:t>*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é</a:t>
            </a:r>
            <a:r>
              <a:rPr sz="1800" spc="-11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</a:t>
            </a:r>
            <a:r>
              <a:rPr sz="1800" spc="-120" dirty="0">
                <a:latin typeface="Microsoft Sans Serif"/>
                <a:cs typeface="Microsoft Sans Serif"/>
              </a:rPr>
              <a:t> </a:t>
            </a:r>
            <a:r>
              <a:rPr sz="1800" spc="-45" dirty="0">
                <a:latin typeface="Microsoft Sans Serif"/>
                <a:cs typeface="Microsoft Sans Serif"/>
              </a:rPr>
              <a:t>operador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de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b="1" spc="-45" dirty="0">
                <a:latin typeface="Arial"/>
                <a:cs typeface="Arial"/>
              </a:rPr>
              <a:t>multiplicação</a:t>
            </a:r>
            <a:r>
              <a:rPr sz="1800" spc="-45" dirty="0">
                <a:latin typeface="Microsoft Sans Serif"/>
                <a:cs typeface="Microsoft Sans Serif"/>
              </a:rPr>
              <a:t>;</a:t>
            </a:r>
            <a:endParaRPr sz="1800" dirty="0">
              <a:latin typeface="Microsoft Sans Serif"/>
              <a:cs typeface="Microsoft Sans Serif"/>
            </a:endParaRPr>
          </a:p>
          <a:p>
            <a:pPr marL="661035" lvl="1" indent="-285750">
              <a:lnSpc>
                <a:spcPct val="100000"/>
              </a:lnSpc>
              <a:spcBef>
                <a:spcPts val="395"/>
              </a:spcBef>
              <a:buClr>
                <a:srgbClr val="476F1E"/>
              </a:buClr>
              <a:buSzPct val="80555"/>
              <a:buFont typeface="Wingdings"/>
              <a:buChar char=""/>
              <a:tabLst>
                <a:tab pos="661035" algn="l"/>
                <a:tab pos="859790" algn="l"/>
              </a:tabLst>
            </a:pPr>
            <a:r>
              <a:rPr sz="1800" b="1" spc="-50" dirty="0">
                <a:latin typeface="Arial"/>
                <a:cs typeface="Arial"/>
              </a:rPr>
              <a:t>/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dirty="0">
                <a:latin typeface="Microsoft Sans Serif"/>
                <a:cs typeface="Microsoft Sans Serif"/>
              </a:rPr>
              <a:t>é</a:t>
            </a:r>
            <a:r>
              <a:rPr sz="1800" spc="-9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</a:t>
            </a:r>
            <a:r>
              <a:rPr sz="1800" spc="-114" dirty="0">
                <a:latin typeface="Microsoft Sans Serif"/>
                <a:cs typeface="Microsoft Sans Serif"/>
              </a:rPr>
              <a:t> </a:t>
            </a:r>
            <a:r>
              <a:rPr sz="1800" spc="-45" dirty="0">
                <a:latin typeface="Microsoft Sans Serif"/>
                <a:cs typeface="Microsoft Sans Serif"/>
              </a:rPr>
              <a:t>operador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de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b="1" spc="-10" dirty="0">
                <a:latin typeface="Arial"/>
                <a:cs typeface="Arial"/>
              </a:rPr>
              <a:t>divisão</a:t>
            </a:r>
            <a:r>
              <a:rPr sz="1800" spc="-10" dirty="0">
                <a:latin typeface="Microsoft Sans Serif"/>
                <a:cs typeface="Microsoft Sans Serif"/>
              </a:rPr>
              <a:t>;</a:t>
            </a: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76780" y="5715000"/>
            <a:ext cx="63030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720" indent="-287020">
              <a:lnSpc>
                <a:spcPct val="100000"/>
              </a:lnSpc>
              <a:spcBef>
                <a:spcPts val="100"/>
              </a:spcBef>
              <a:buClr>
                <a:srgbClr val="476F1E"/>
              </a:buClr>
              <a:buSzPct val="80555"/>
              <a:buFont typeface="Wingdings"/>
              <a:buChar char=""/>
              <a:tabLst>
                <a:tab pos="299720" algn="l"/>
              </a:tabLst>
            </a:pPr>
            <a:r>
              <a:rPr sz="1800" spc="-120" dirty="0">
                <a:latin typeface="Microsoft Sans Serif"/>
                <a:cs typeface="Microsoft Sans Serif"/>
              </a:rPr>
              <a:t>Por</a:t>
            </a:r>
            <a:r>
              <a:rPr sz="1800" spc="-160" dirty="0">
                <a:latin typeface="Microsoft Sans Serif"/>
                <a:cs typeface="Microsoft Sans Serif"/>
              </a:rPr>
              <a:t> </a:t>
            </a:r>
            <a:r>
              <a:rPr sz="1800" spc="-105" dirty="0">
                <a:latin typeface="Microsoft Sans Serif"/>
                <a:cs typeface="Microsoft Sans Serif"/>
              </a:rPr>
              <a:t>exemplo,</a:t>
            </a:r>
            <a:r>
              <a:rPr sz="1800" spc="-1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ao </a:t>
            </a:r>
            <a:r>
              <a:rPr sz="1800" spc="-85" dirty="0">
                <a:latin typeface="Microsoft Sans Serif"/>
                <a:cs typeface="Microsoft Sans Serif"/>
              </a:rPr>
              <a:t>introduzir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75" dirty="0">
                <a:latin typeface="Microsoft Sans Serif"/>
                <a:cs typeface="Microsoft Sans Serif"/>
              </a:rPr>
              <a:t>=</a:t>
            </a:r>
            <a:r>
              <a:rPr sz="1800" b="1" spc="-75" dirty="0">
                <a:latin typeface="Arial"/>
                <a:cs typeface="Arial"/>
              </a:rPr>
              <a:t>E5+E6</a:t>
            </a:r>
            <a:r>
              <a:rPr lang="pt-BR" sz="1800" b="1" spc="-75" dirty="0">
                <a:latin typeface="Arial"/>
                <a:cs typeface="Arial"/>
              </a:rPr>
              <a:t> ou C6:C10</a:t>
            </a:r>
            <a:r>
              <a:rPr sz="1800" spc="-75" dirty="0">
                <a:latin typeface="Microsoft Sans Serif"/>
                <a:cs typeface="Microsoft Sans Serif"/>
              </a:rPr>
              <a:t>,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90" dirty="0">
                <a:latin typeface="Microsoft Sans Serif"/>
                <a:cs typeface="Microsoft Sans Serif"/>
              </a:rPr>
              <a:t>está</a:t>
            </a:r>
            <a:r>
              <a:rPr sz="1800" spc="-95" dirty="0">
                <a:latin typeface="Microsoft Sans Serif"/>
                <a:cs typeface="Microsoft Sans Serif"/>
              </a:rPr>
              <a:t> </a:t>
            </a:r>
            <a:r>
              <a:rPr sz="1800" spc="-90" dirty="0">
                <a:latin typeface="Microsoft Sans Serif"/>
                <a:cs typeface="Microsoft Sans Serif"/>
              </a:rPr>
              <a:t>efetivamente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130" dirty="0" err="1">
                <a:latin typeface="Microsoft Sans Serif"/>
                <a:cs typeface="Microsoft Sans Serif"/>
              </a:rPr>
              <a:t>somar</a:t>
            </a:r>
            <a:r>
              <a:rPr sz="1800" spc="-135" dirty="0">
                <a:latin typeface="Microsoft Sans Serif"/>
                <a:cs typeface="Microsoft Sans Serif"/>
              </a:rPr>
              <a:t> </a:t>
            </a:r>
            <a:r>
              <a:rPr sz="1800" spc="-25" dirty="0" err="1">
                <a:latin typeface="Microsoft Sans Serif"/>
                <a:cs typeface="Microsoft Sans Serif"/>
              </a:rPr>
              <a:t>os</a:t>
            </a:r>
            <a:r>
              <a:rPr lang="pt-BR" sz="1800" spc="-25" dirty="0">
                <a:latin typeface="Microsoft Sans Serif"/>
                <a:cs typeface="Microsoft Sans Serif"/>
              </a:rPr>
              <a:t> </a:t>
            </a:r>
            <a:r>
              <a:rPr sz="1800" spc="-70" dirty="0" err="1">
                <a:latin typeface="Microsoft Sans Serif"/>
                <a:cs typeface="Microsoft Sans Serif"/>
              </a:rPr>
              <a:t>valores</a:t>
            </a:r>
            <a:r>
              <a:rPr sz="1800" spc="-29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das</a:t>
            </a:r>
            <a:r>
              <a:rPr sz="1800" spc="-275" dirty="0">
                <a:latin typeface="Microsoft Sans Serif"/>
                <a:cs typeface="Microsoft Sans Serif"/>
              </a:rPr>
              <a:t> </a:t>
            </a:r>
            <a:r>
              <a:rPr sz="1800" spc="-95" dirty="0">
                <a:latin typeface="Microsoft Sans Serif"/>
                <a:cs typeface="Microsoft Sans Serif"/>
              </a:rPr>
              <a:t>células</a:t>
            </a:r>
            <a:r>
              <a:rPr sz="1800" spc="-260" dirty="0">
                <a:latin typeface="Microsoft Sans Serif"/>
                <a:cs typeface="Microsoft Sans Serif"/>
              </a:rPr>
              <a:t> </a:t>
            </a:r>
            <a:r>
              <a:rPr sz="1800" spc="-114" dirty="0">
                <a:latin typeface="Microsoft Sans Serif"/>
                <a:cs typeface="Microsoft Sans Serif"/>
              </a:rPr>
              <a:t>E5</a:t>
            </a:r>
            <a:r>
              <a:rPr sz="1800" spc="-1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E6;</a:t>
            </a:r>
            <a:endParaRPr sz="1800" dirty="0">
              <a:latin typeface="Microsoft Sans Serif"/>
              <a:cs typeface="Microsoft Sans Serif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04138D3-7451-4DC9-99EF-B1A5A7B7F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122" y="2659622"/>
            <a:ext cx="3458058" cy="29626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484" dirty="0">
                <a:solidFill>
                  <a:srgbClr val="000000"/>
                </a:solidFill>
                <a:latin typeface="Calibri"/>
                <a:cs typeface="Calibri"/>
              </a:rPr>
              <a:t>F</a:t>
            </a:r>
            <a:r>
              <a:rPr spc="-420" dirty="0">
                <a:solidFill>
                  <a:srgbClr val="000000"/>
                </a:solidFill>
                <a:latin typeface="Calibri"/>
                <a:cs typeface="Calibri"/>
              </a:rPr>
              <a:t>ó</a:t>
            </a:r>
            <a:r>
              <a:rPr spc="-150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pc="-665" dirty="0">
                <a:solidFill>
                  <a:srgbClr val="000000"/>
                </a:solidFill>
                <a:latin typeface="Calibri"/>
                <a:cs typeface="Calibri"/>
              </a:rPr>
              <a:t>m</a:t>
            </a:r>
            <a:r>
              <a:rPr spc="-360" dirty="0">
                <a:solidFill>
                  <a:srgbClr val="000000"/>
                </a:solidFill>
                <a:latin typeface="Calibri"/>
                <a:cs typeface="Calibri"/>
              </a:rPr>
              <a:t>ula</a:t>
            </a: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pc="-2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555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pc="-509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m</a:t>
            </a:r>
            <a:r>
              <a:rPr spc="-4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325" dirty="0">
                <a:solidFill>
                  <a:srgbClr val="000000"/>
                </a:solidFill>
                <a:latin typeface="Calibri"/>
                <a:cs typeface="Calibri"/>
              </a:rPr>
              <a:t>f</a:t>
            </a:r>
            <a:r>
              <a:rPr spc="-335" dirty="0">
                <a:solidFill>
                  <a:srgbClr val="000000"/>
                </a:solidFill>
                <a:latin typeface="Calibri"/>
                <a:cs typeface="Calibri"/>
              </a:rPr>
              <a:t>un</a:t>
            </a:r>
            <a:r>
              <a:rPr spc="-365" dirty="0">
                <a:solidFill>
                  <a:srgbClr val="000000"/>
                </a:solidFill>
                <a:latin typeface="Calibri"/>
                <a:cs typeface="Calibri"/>
              </a:rPr>
              <a:t>ç</a:t>
            </a:r>
            <a:r>
              <a:rPr spc="-330" dirty="0">
                <a:solidFill>
                  <a:srgbClr val="000000"/>
                </a:solidFill>
                <a:latin typeface="Calibri"/>
                <a:cs typeface="Calibri"/>
              </a:rPr>
              <a:t>õ</a:t>
            </a:r>
            <a:r>
              <a:rPr spc="-355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285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pc="-375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spc="-700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pc="-254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250" dirty="0">
                <a:solidFill>
                  <a:srgbClr val="000000"/>
                </a:solidFill>
                <a:latin typeface="Calibri"/>
                <a:cs typeface="Calibri"/>
              </a:rPr>
              <a:t>MA</a:t>
            </a:r>
            <a:r>
              <a:rPr spc="-25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2179" y="1548806"/>
            <a:ext cx="7909559" cy="15792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marR="18415" indent="-320040" algn="just">
              <a:lnSpc>
                <a:spcPct val="100000"/>
              </a:lnSpc>
              <a:spcBef>
                <a:spcPts val="95"/>
              </a:spcBef>
              <a:buClr>
                <a:srgbClr val="476F1E"/>
              </a:buClr>
              <a:buSzPct val="58620"/>
              <a:buFont typeface="Wingdings"/>
              <a:buChar char=""/>
              <a:tabLst>
                <a:tab pos="332740" algn="l"/>
              </a:tabLst>
            </a:pPr>
            <a:r>
              <a:rPr sz="2400" spc="-20" dirty="0">
                <a:latin typeface="Microsoft Sans Serif"/>
                <a:cs typeface="Microsoft Sans Serif"/>
              </a:rPr>
              <a:t>A</a:t>
            </a:r>
            <a:r>
              <a:rPr sz="2400" spc="-185" dirty="0">
                <a:latin typeface="Microsoft Sans Serif"/>
                <a:cs typeface="Microsoft Sans Serif"/>
              </a:rPr>
              <a:t> </a:t>
            </a:r>
            <a:r>
              <a:rPr sz="2400" spc="-160" dirty="0">
                <a:latin typeface="Microsoft Sans Serif"/>
                <a:cs typeface="Microsoft Sans Serif"/>
              </a:rPr>
              <a:t>função</a:t>
            </a:r>
            <a:r>
              <a:rPr sz="2400" spc="-175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SOMA</a:t>
            </a:r>
            <a:r>
              <a:rPr sz="2400" spc="-170" dirty="0">
                <a:latin typeface="Microsoft Sans Serif"/>
                <a:cs typeface="Microsoft Sans Serif"/>
              </a:rPr>
              <a:t> </a:t>
            </a:r>
            <a:r>
              <a:rPr sz="2400" spc="-110" dirty="0">
                <a:latin typeface="Microsoft Sans Serif"/>
                <a:cs typeface="Microsoft Sans Serif"/>
              </a:rPr>
              <a:t>permite</a:t>
            </a:r>
            <a:r>
              <a:rPr sz="2400" spc="-135" dirty="0">
                <a:latin typeface="Microsoft Sans Serif"/>
                <a:cs typeface="Microsoft Sans Serif"/>
              </a:rPr>
              <a:t> </a:t>
            </a:r>
            <a:r>
              <a:rPr sz="2400" spc="-195" dirty="0">
                <a:latin typeface="Microsoft Sans Serif"/>
                <a:cs typeface="Microsoft Sans Serif"/>
              </a:rPr>
              <a:t>somar</a:t>
            </a:r>
            <a:r>
              <a:rPr sz="2400" spc="-23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o</a:t>
            </a:r>
            <a:r>
              <a:rPr sz="2400" spc="-135" dirty="0">
                <a:latin typeface="Microsoft Sans Serif"/>
                <a:cs typeface="Microsoft Sans Serif"/>
              </a:rPr>
              <a:t> </a:t>
            </a:r>
            <a:r>
              <a:rPr sz="2400" spc="-185" dirty="0">
                <a:latin typeface="Microsoft Sans Serif"/>
                <a:cs typeface="Microsoft Sans Serif"/>
              </a:rPr>
              <a:t>conteúdo</a:t>
            </a:r>
            <a:r>
              <a:rPr sz="2400" spc="-204" dirty="0">
                <a:latin typeface="Microsoft Sans Serif"/>
                <a:cs typeface="Microsoft Sans Serif"/>
              </a:rPr>
              <a:t> </a:t>
            </a:r>
            <a:r>
              <a:rPr sz="2400" spc="-65" dirty="0">
                <a:latin typeface="Microsoft Sans Serif"/>
                <a:cs typeface="Microsoft Sans Serif"/>
              </a:rPr>
              <a:t>de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229" dirty="0">
                <a:latin typeface="Microsoft Sans Serif"/>
                <a:cs typeface="Microsoft Sans Serif"/>
              </a:rPr>
              <a:t>duas</a:t>
            </a:r>
            <a:r>
              <a:rPr sz="2400" spc="-220" dirty="0">
                <a:latin typeface="Microsoft Sans Serif"/>
                <a:cs typeface="Microsoft Sans Serif"/>
              </a:rPr>
              <a:t> </a:t>
            </a:r>
            <a:r>
              <a:rPr sz="2400" spc="-145" dirty="0">
                <a:latin typeface="Microsoft Sans Serif"/>
                <a:cs typeface="Microsoft Sans Serif"/>
              </a:rPr>
              <a:t>ou</a:t>
            </a:r>
            <a:r>
              <a:rPr sz="2400" spc="-490" dirty="0">
                <a:latin typeface="Microsoft Sans Serif"/>
                <a:cs typeface="Microsoft Sans Serif"/>
              </a:rPr>
              <a:t> </a:t>
            </a:r>
            <a:r>
              <a:rPr sz="2400" spc="-200" dirty="0">
                <a:latin typeface="Microsoft Sans Serif"/>
                <a:cs typeface="Microsoft Sans Serif"/>
              </a:rPr>
              <a:t>mais</a:t>
            </a:r>
            <a:r>
              <a:rPr sz="2400" spc="-484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células</a:t>
            </a:r>
            <a:r>
              <a:rPr sz="2400" spc="-39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e</a:t>
            </a:r>
            <a:r>
              <a:rPr sz="2400" spc="-33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é</a:t>
            </a:r>
            <a:r>
              <a:rPr sz="2400" spc="-310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especialmente</a:t>
            </a:r>
            <a:r>
              <a:rPr sz="2400" spc="-375" dirty="0">
                <a:latin typeface="Microsoft Sans Serif"/>
                <a:cs typeface="Microsoft Sans Serif"/>
              </a:rPr>
              <a:t> </a:t>
            </a:r>
            <a:r>
              <a:rPr sz="2400" spc="-85" dirty="0">
                <a:latin typeface="Microsoft Sans Serif"/>
                <a:cs typeface="Microsoft Sans Serif"/>
              </a:rPr>
              <a:t>útil</a:t>
            </a:r>
            <a:r>
              <a:rPr sz="2400" spc="-19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para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200" dirty="0">
                <a:latin typeface="Microsoft Sans Serif"/>
                <a:cs typeface="Microsoft Sans Serif"/>
              </a:rPr>
              <a:t>séries</a:t>
            </a:r>
            <a:r>
              <a:rPr sz="2400" spc="-445" dirty="0">
                <a:latin typeface="Microsoft Sans Serif"/>
                <a:cs typeface="Microsoft Sans Serif"/>
              </a:rPr>
              <a:t> </a:t>
            </a:r>
            <a:r>
              <a:rPr sz="2400" spc="-105" dirty="0">
                <a:latin typeface="Microsoft Sans Serif"/>
                <a:cs typeface="Microsoft Sans Serif"/>
              </a:rPr>
              <a:t>de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células.</a:t>
            </a:r>
            <a:endParaRPr sz="2400" dirty="0">
              <a:latin typeface="Microsoft Sans Serif"/>
              <a:cs typeface="Microsoft Sans Serif"/>
            </a:endParaRPr>
          </a:p>
          <a:p>
            <a:pPr marL="332740" marR="628650" indent="-320040">
              <a:lnSpc>
                <a:spcPct val="100200"/>
              </a:lnSpc>
              <a:spcBef>
                <a:spcPts val="685"/>
              </a:spcBef>
              <a:buClr>
                <a:srgbClr val="476F1E"/>
              </a:buClr>
              <a:buSzPct val="58620"/>
              <a:buFont typeface="Wingdings"/>
              <a:buChar char=""/>
              <a:tabLst>
                <a:tab pos="332740" algn="l"/>
              </a:tabLst>
            </a:pPr>
            <a:r>
              <a:rPr sz="2400" spc="-235" dirty="0">
                <a:latin typeface="Microsoft Sans Serif"/>
                <a:cs typeface="Microsoft Sans Serif"/>
              </a:rPr>
              <a:t>Usa-</a:t>
            </a:r>
            <a:r>
              <a:rPr sz="2400" spc="-185" dirty="0">
                <a:latin typeface="Microsoft Sans Serif"/>
                <a:cs typeface="Microsoft Sans Serif"/>
              </a:rPr>
              <a:t>se</a:t>
            </a:r>
            <a:r>
              <a:rPr sz="2400" spc="-3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da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190" dirty="0">
                <a:latin typeface="Microsoft Sans Serif"/>
                <a:cs typeface="Microsoft Sans Serif"/>
              </a:rPr>
              <a:t>seguinte</a:t>
            </a:r>
            <a:r>
              <a:rPr sz="2400" spc="-150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forma:</a:t>
            </a:r>
            <a:r>
              <a:rPr sz="2400" spc="-120" dirty="0">
                <a:latin typeface="Microsoft Sans Serif"/>
                <a:cs typeface="Microsoft Sans Serif"/>
              </a:rPr>
              <a:t> </a:t>
            </a:r>
            <a:r>
              <a:rPr sz="2400" b="1" spc="-105" dirty="0">
                <a:latin typeface="Arial"/>
                <a:cs typeface="Arial"/>
              </a:rPr>
              <a:t>=SOMA()</a:t>
            </a:r>
            <a:r>
              <a:rPr sz="2400" b="1" spc="-120" dirty="0">
                <a:latin typeface="Arial"/>
                <a:cs typeface="Arial"/>
              </a:rPr>
              <a:t> </a:t>
            </a:r>
            <a:r>
              <a:rPr sz="2400" spc="-95" dirty="0">
                <a:latin typeface="Microsoft Sans Serif"/>
                <a:cs typeface="Microsoft Sans Serif"/>
              </a:rPr>
              <a:t>em</a:t>
            </a:r>
            <a:r>
              <a:rPr sz="2400" spc="-45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que </a:t>
            </a:r>
            <a:r>
              <a:rPr sz="2400" spc="-200" dirty="0">
                <a:latin typeface="Microsoft Sans Serif"/>
                <a:cs typeface="Microsoft Sans Serif"/>
              </a:rPr>
              <a:t>podemos</a:t>
            </a:r>
            <a:r>
              <a:rPr sz="2400" spc="-235" dirty="0">
                <a:latin typeface="Microsoft Sans Serif"/>
                <a:cs typeface="Microsoft Sans Serif"/>
              </a:rPr>
              <a:t> </a:t>
            </a:r>
            <a:r>
              <a:rPr sz="2400" spc="-145" dirty="0">
                <a:latin typeface="Microsoft Sans Serif"/>
                <a:cs typeface="Microsoft Sans Serif"/>
              </a:rPr>
              <a:t>colocar</a:t>
            </a:r>
            <a:r>
              <a:rPr sz="2400" spc="-160" dirty="0">
                <a:latin typeface="Microsoft Sans Serif"/>
                <a:cs typeface="Microsoft Sans Serif"/>
              </a:rPr>
              <a:t> </a:t>
            </a:r>
            <a:r>
              <a:rPr sz="2400" spc="-125" dirty="0">
                <a:latin typeface="Microsoft Sans Serif"/>
                <a:cs typeface="Microsoft Sans Serif"/>
              </a:rPr>
              <a:t>entre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os</a:t>
            </a:r>
            <a:r>
              <a:rPr sz="2400" spc="-275" dirty="0">
                <a:latin typeface="Microsoft Sans Serif"/>
                <a:cs typeface="Microsoft Sans Serif"/>
              </a:rPr>
              <a:t> </a:t>
            </a:r>
            <a:r>
              <a:rPr sz="2400" spc="-185" dirty="0">
                <a:latin typeface="Microsoft Sans Serif"/>
                <a:cs typeface="Microsoft Sans Serif"/>
              </a:rPr>
              <a:t>parênteses</a:t>
            </a:r>
            <a:r>
              <a:rPr sz="2400" spc="-140" dirty="0">
                <a:latin typeface="Microsoft Sans Serif"/>
                <a:cs typeface="Microsoft Sans Serif"/>
              </a:rPr>
              <a:t> </a:t>
            </a:r>
            <a:r>
              <a:rPr sz="2400" spc="-185" dirty="0">
                <a:latin typeface="Microsoft Sans Serif"/>
                <a:cs typeface="Microsoft Sans Serif"/>
              </a:rPr>
              <a:t>células</a:t>
            </a:r>
            <a:r>
              <a:rPr sz="2400" spc="-180" dirty="0">
                <a:latin typeface="Microsoft Sans Serif"/>
                <a:cs typeface="Microsoft Sans Serif"/>
              </a:rPr>
              <a:t> </a:t>
            </a:r>
            <a:r>
              <a:rPr sz="2400" spc="-295" dirty="0">
                <a:latin typeface="Microsoft Sans Serif"/>
                <a:cs typeface="Microsoft Sans Serif"/>
              </a:rPr>
              <a:t>ou </a:t>
            </a:r>
            <a:r>
              <a:rPr sz="2400" spc="-100" dirty="0">
                <a:latin typeface="Microsoft Sans Serif"/>
                <a:cs typeface="Microsoft Sans Serif"/>
              </a:rPr>
              <a:t>sériesde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células.</a:t>
            </a:r>
            <a:endParaRPr sz="240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3541787"/>
            <a:ext cx="4128516" cy="249428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B501E8F-F0EA-432C-A147-849BA2C47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059" y="3429000"/>
            <a:ext cx="3257550" cy="30384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484" dirty="0">
                <a:solidFill>
                  <a:srgbClr val="000000"/>
                </a:solidFill>
                <a:latin typeface="Calibri"/>
                <a:cs typeface="Calibri"/>
              </a:rPr>
              <a:t>F</a:t>
            </a:r>
            <a:r>
              <a:rPr spc="-420" dirty="0">
                <a:solidFill>
                  <a:srgbClr val="000000"/>
                </a:solidFill>
                <a:latin typeface="Calibri"/>
                <a:cs typeface="Calibri"/>
              </a:rPr>
              <a:t>ó</a:t>
            </a:r>
            <a:r>
              <a:rPr spc="-150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pc="-665" dirty="0">
                <a:solidFill>
                  <a:srgbClr val="000000"/>
                </a:solidFill>
                <a:latin typeface="Calibri"/>
                <a:cs typeface="Calibri"/>
              </a:rPr>
              <a:t>m</a:t>
            </a:r>
            <a:r>
              <a:rPr spc="-360" dirty="0">
                <a:solidFill>
                  <a:srgbClr val="000000"/>
                </a:solidFill>
                <a:latin typeface="Calibri"/>
                <a:cs typeface="Calibri"/>
              </a:rPr>
              <a:t>ula</a:t>
            </a: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pc="-2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555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pc="-509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m</a:t>
            </a:r>
            <a:r>
              <a:rPr spc="-4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325" dirty="0">
                <a:solidFill>
                  <a:srgbClr val="000000"/>
                </a:solidFill>
                <a:latin typeface="Calibri"/>
                <a:cs typeface="Calibri"/>
              </a:rPr>
              <a:t>f</a:t>
            </a:r>
            <a:r>
              <a:rPr spc="-335" dirty="0">
                <a:solidFill>
                  <a:srgbClr val="000000"/>
                </a:solidFill>
                <a:latin typeface="Calibri"/>
                <a:cs typeface="Calibri"/>
              </a:rPr>
              <a:t>un</a:t>
            </a:r>
            <a:r>
              <a:rPr spc="-365" dirty="0">
                <a:solidFill>
                  <a:srgbClr val="000000"/>
                </a:solidFill>
                <a:latin typeface="Calibri"/>
                <a:cs typeface="Calibri"/>
              </a:rPr>
              <a:t>ç</a:t>
            </a:r>
            <a:r>
              <a:rPr spc="-330" dirty="0">
                <a:solidFill>
                  <a:srgbClr val="000000"/>
                </a:solidFill>
                <a:latin typeface="Calibri"/>
                <a:cs typeface="Calibri"/>
              </a:rPr>
              <a:t>õ</a:t>
            </a:r>
            <a:r>
              <a:rPr spc="-355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285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pc="-535" dirty="0">
                <a:solidFill>
                  <a:srgbClr val="000000"/>
                </a:solidFill>
                <a:latin typeface="Calibri"/>
                <a:cs typeface="Calibri"/>
              </a:rPr>
              <a:t>(MÉ</a:t>
            </a:r>
            <a:r>
              <a:rPr spc="-625" dirty="0">
                <a:solidFill>
                  <a:srgbClr val="000000"/>
                </a:solidFill>
                <a:latin typeface="Calibri"/>
                <a:cs typeface="Calibri"/>
              </a:rPr>
              <a:t>D</a:t>
            </a:r>
            <a:r>
              <a:rPr spc="-315" dirty="0">
                <a:solidFill>
                  <a:srgbClr val="000000"/>
                </a:solidFill>
                <a:latin typeface="Calibri"/>
                <a:cs typeface="Calibri"/>
              </a:rPr>
              <a:t>IA</a:t>
            </a:r>
            <a:r>
              <a:rPr spc="-25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701" y="1561591"/>
            <a:ext cx="7699375" cy="2235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95"/>
              </a:spcBef>
              <a:buClr>
                <a:srgbClr val="476F1E"/>
              </a:buClr>
              <a:buSzPct val="58620"/>
              <a:buFont typeface="Wingdings"/>
              <a:buChar char=""/>
              <a:tabLst>
                <a:tab pos="332740" algn="l"/>
              </a:tabLst>
            </a:pPr>
            <a:r>
              <a:rPr sz="2900" spc="-235" dirty="0">
                <a:latin typeface="Microsoft Sans Serif"/>
                <a:cs typeface="Microsoft Sans Serif"/>
              </a:rPr>
              <a:t>Esta</a:t>
            </a:r>
            <a:r>
              <a:rPr sz="2900" spc="-290" dirty="0">
                <a:latin typeface="Microsoft Sans Serif"/>
                <a:cs typeface="Microsoft Sans Serif"/>
              </a:rPr>
              <a:t> </a:t>
            </a:r>
            <a:r>
              <a:rPr sz="2900" spc="-165" dirty="0">
                <a:latin typeface="Microsoft Sans Serif"/>
                <a:cs typeface="Microsoft Sans Serif"/>
              </a:rPr>
              <a:t>função</a:t>
            </a:r>
            <a:r>
              <a:rPr sz="2900" spc="-170" dirty="0">
                <a:latin typeface="Microsoft Sans Serif"/>
                <a:cs typeface="Microsoft Sans Serif"/>
              </a:rPr>
              <a:t> </a:t>
            </a:r>
            <a:r>
              <a:rPr sz="2900" dirty="0">
                <a:latin typeface="Microsoft Sans Serif"/>
                <a:cs typeface="Microsoft Sans Serif"/>
              </a:rPr>
              <a:t>faz</a:t>
            </a:r>
            <a:r>
              <a:rPr sz="2900" spc="10" dirty="0">
                <a:latin typeface="Microsoft Sans Serif"/>
                <a:cs typeface="Microsoft Sans Serif"/>
              </a:rPr>
              <a:t> </a:t>
            </a:r>
            <a:r>
              <a:rPr sz="2900" spc="-145" dirty="0">
                <a:latin typeface="Microsoft Sans Serif"/>
                <a:cs typeface="Microsoft Sans Serif"/>
              </a:rPr>
              <a:t>exatamente</a:t>
            </a:r>
            <a:r>
              <a:rPr sz="2900" spc="-195" dirty="0">
                <a:latin typeface="Microsoft Sans Serif"/>
                <a:cs typeface="Microsoft Sans Serif"/>
              </a:rPr>
              <a:t> </a:t>
            </a:r>
            <a:r>
              <a:rPr sz="2900" dirty="0">
                <a:latin typeface="Microsoft Sans Serif"/>
                <a:cs typeface="Microsoft Sans Serif"/>
              </a:rPr>
              <a:t>o</a:t>
            </a:r>
            <a:r>
              <a:rPr sz="2900" spc="-155" dirty="0">
                <a:latin typeface="Microsoft Sans Serif"/>
                <a:cs typeface="Microsoft Sans Serif"/>
              </a:rPr>
              <a:t> </a:t>
            </a:r>
            <a:r>
              <a:rPr sz="2900" spc="-140" dirty="0">
                <a:latin typeface="Microsoft Sans Serif"/>
                <a:cs typeface="Microsoft Sans Serif"/>
              </a:rPr>
              <a:t>que</a:t>
            </a:r>
            <a:r>
              <a:rPr sz="2900" spc="-135" dirty="0">
                <a:latin typeface="Microsoft Sans Serif"/>
                <a:cs typeface="Microsoft Sans Serif"/>
              </a:rPr>
              <a:t> </a:t>
            </a:r>
            <a:r>
              <a:rPr sz="2900" dirty="0">
                <a:latin typeface="Microsoft Sans Serif"/>
                <a:cs typeface="Microsoft Sans Serif"/>
              </a:rPr>
              <a:t>o</a:t>
            </a:r>
            <a:r>
              <a:rPr sz="2900" spc="-120" dirty="0">
                <a:latin typeface="Microsoft Sans Serif"/>
                <a:cs typeface="Microsoft Sans Serif"/>
              </a:rPr>
              <a:t> </a:t>
            </a:r>
            <a:r>
              <a:rPr sz="2900" spc="-245" dirty="0">
                <a:latin typeface="Microsoft Sans Serif"/>
                <a:cs typeface="Microsoft Sans Serif"/>
              </a:rPr>
              <a:t>seu</a:t>
            </a:r>
            <a:r>
              <a:rPr sz="2900" spc="-254" dirty="0">
                <a:latin typeface="Microsoft Sans Serif"/>
                <a:cs typeface="Microsoft Sans Serif"/>
              </a:rPr>
              <a:t> </a:t>
            </a:r>
            <a:r>
              <a:rPr sz="2900" spc="-20" dirty="0">
                <a:latin typeface="Microsoft Sans Serif"/>
                <a:cs typeface="Microsoft Sans Serif"/>
              </a:rPr>
              <a:t>nome </a:t>
            </a:r>
            <a:r>
              <a:rPr sz="2900" spc="-204" dirty="0">
                <a:latin typeface="Microsoft Sans Serif"/>
                <a:cs typeface="Microsoft Sans Serif"/>
              </a:rPr>
              <a:t>sugere,</a:t>
            </a:r>
            <a:r>
              <a:rPr sz="2900" spc="-215" dirty="0">
                <a:latin typeface="Microsoft Sans Serif"/>
                <a:cs typeface="Microsoft Sans Serif"/>
              </a:rPr>
              <a:t> </a:t>
            </a:r>
            <a:r>
              <a:rPr sz="2900" spc="-100" dirty="0">
                <a:latin typeface="Microsoft Sans Serif"/>
                <a:cs typeface="Microsoft Sans Serif"/>
              </a:rPr>
              <a:t>ou</a:t>
            </a:r>
            <a:r>
              <a:rPr sz="2900" spc="-295" dirty="0">
                <a:latin typeface="Microsoft Sans Serif"/>
                <a:cs typeface="Microsoft Sans Serif"/>
              </a:rPr>
              <a:t> </a:t>
            </a:r>
            <a:r>
              <a:rPr sz="2900" spc="-170" dirty="0">
                <a:latin typeface="Microsoft Sans Serif"/>
                <a:cs typeface="Microsoft Sans Serif"/>
              </a:rPr>
              <a:t>seja,</a:t>
            </a:r>
            <a:r>
              <a:rPr sz="2900" spc="-35" dirty="0">
                <a:latin typeface="Microsoft Sans Serif"/>
                <a:cs typeface="Microsoft Sans Serif"/>
              </a:rPr>
              <a:t> </a:t>
            </a:r>
            <a:r>
              <a:rPr sz="2900" spc="-204" dirty="0">
                <a:latin typeface="Microsoft Sans Serif"/>
                <a:cs typeface="Microsoft Sans Serif"/>
              </a:rPr>
              <a:t>uma</a:t>
            </a:r>
            <a:r>
              <a:rPr sz="2900" spc="-225" dirty="0">
                <a:latin typeface="Microsoft Sans Serif"/>
                <a:cs typeface="Microsoft Sans Serif"/>
              </a:rPr>
              <a:t> </a:t>
            </a:r>
            <a:r>
              <a:rPr sz="2900" spc="-140" dirty="0">
                <a:latin typeface="Microsoft Sans Serif"/>
                <a:cs typeface="Microsoft Sans Serif"/>
              </a:rPr>
              <a:t>média</a:t>
            </a:r>
            <a:r>
              <a:rPr sz="2900" spc="20" dirty="0">
                <a:latin typeface="Microsoft Sans Serif"/>
                <a:cs typeface="Microsoft Sans Serif"/>
              </a:rPr>
              <a:t> </a:t>
            </a:r>
            <a:r>
              <a:rPr sz="2900" spc="-120" dirty="0">
                <a:latin typeface="Microsoft Sans Serif"/>
                <a:cs typeface="Microsoft Sans Serif"/>
              </a:rPr>
              <a:t>aritmética</a:t>
            </a:r>
            <a:r>
              <a:rPr sz="2900" spc="-35" dirty="0">
                <a:latin typeface="Microsoft Sans Serif"/>
                <a:cs typeface="Microsoft Sans Serif"/>
              </a:rPr>
              <a:t> </a:t>
            </a:r>
            <a:r>
              <a:rPr sz="2900" spc="-250" dirty="0">
                <a:latin typeface="Microsoft Sans Serif"/>
                <a:cs typeface="Microsoft Sans Serif"/>
              </a:rPr>
              <a:t>si</a:t>
            </a:r>
            <a:r>
              <a:rPr sz="2900" spc="-540" dirty="0">
                <a:latin typeface="Microsoft Sans Serif"/>
                <a:cs typeface="Microsoft Sans Serif"/>
              </a:rPr>
              <a:t>m</a:t>
            </a:r>
            <a:r>
              <a:rPr sz="2900" spc="-45" dirty="0">
                <a:latin typeface="Microsoft Sans Serif"/>
                <a:cs typeface="Microsoft Sans Serif"/>
              </a:rPr>
              <a:t>p</a:t>
            </a:r>
            <a:r>
              <a:rPr sz="2900" spc="-25" dirty="0">
                <a:latin typeface="Microsoft Sans Serif"/>
                <a:cs typeface="Microsoft Sans Serif"/>
              </a:rPr>
              <a:t>l</a:t>
            </a:r>
            <a:r>
              <a:rPr sz="2900" spc="-175" dirty="0">
                <a:latin typeface="Microsoft Sans Serif"/>
                <a:cs typeface="Microsoft Sans Serif"/>
              </a:rPr>
              <a:t>e</a:t>
            </a:r>
            <a:r>
              <a:rPr sz="2900" spc="-15" dirty="0">
                <a:latin typeface="Microsoft Sans Serif"/>
                <a:cs typeface="Microsoft Sans Serif"/>
              </a:rPr>
              <a:t>s</a:t>
            </a:r>
            <a:r>
              <a:rPr sz="2900" spc="-470" dirty="0">
                <a:latin typeface="Microsoft Sans Serif"/>
                <a:cs typeface="Microsoft Sans Serif"/>
              </a:rPr>
              <a:t> </a:t>
            </a:r>
            <a:r>
              <a:rPr sz="2900" spc="-25" dirty="0">
                <a:latin typeface="Microsoft Sans Serif"/>
                <a:cs typeface="Microsoft Sans Serif"/>
              </a:rPr>
              <a:t>dos </a:t>
            </a:r>
            <a:r>
              <a:rPr sz="2900" spc="-140" dirty="0">
                <a:latin typeface="Microsoft Sans Serif"/>
                <a:cs typeface="Microsoft Sans Serif"/>
              </a:rPr>
              <a:t>valores</a:t>
            </a:r>
            <a:r>
              <a:rPr sz="2900" spc="-225" dirty="0">
                <a:latin typeface="Microsoft Sans Serif"/>
                <a:cs typeface="Microsoft Sans Serif"/>
              </a:rPr>
              <a:t> </a:t>
            </a:r>
            <a:r>
              <a:rPr sz="2900" spc="-204" dirty="0">
                <a:latin typeface="Microsoft Sans Serif"/>
                <a:cs typeface="Microsoft Sans Serif"/>
              </a:rPr>
              <a:t>constantes</a:t>
            </a:r>
            <a:r>
              <a:rPr sz="2900" spc="-475" dirty="0">
                <a:latin typeface="Microsoft Sans Serif"/>
                <a:cs typeface="Microsoft Sans Serif"/>
              </a:rPr>
              <a:t> </a:t>
            </a:r>
            <a:r>
              <a:rPr sz="2900" spc="-210" dirty="0">
                <a:latin typeface="Microsoft Sans Serif"/>
                <a:cs typeface="Microsoft Sans Serif"/>
              </a:rPr>
              <a:t>nas</a:t>
            </a:r>
            <a:r>
              <a:rPr sz="2900" spc="-180" dirty="0">
                <a:latin typeface="Microsoft Sans Serif"/>
                <a:cs typeface="Microsoft Sans Serif"/>
              </a:rPr>
              <a:t> células</a:t>
            </a:r>
            <a:r>
              <a:rPr sz="2900" spc="-235" dirty="0">
                <a:latin typeface="Microsoft Sans Serif"/>
                <a:cs typeface="Microsoft Sans Serif"/>
              </a:rPr>
              <a:t> </a:t>
            </a:r>
            <a:r>
              <a:rPr sz="2900" spc="60" dirty="0">
                <a:latin typeface="Microsoft Sans Serif"/>
                <a:cs typeface="Microsoft Sans Serif"/>
              </a:rPr>
              <a:t>i</a:t>
            </a:r>
            <a:r>
              <a:rPr sz="2900" spc="-75" dirty="0">
                <a:latin typeface="Microsoft Sans Serif"/>
                <a:cs typeface="Microsoft Sans Serif"/>
              </a:rPr>
              <a:t>nd</a:t>
            </a:r>
            <a:r>
              <a:rPr sz="2900" spc="25" dirty="0">
                <a:latin typeface="Microsoft Sans Serif"/>
                <a:cs typeface="Microsoft Sans Serif"/>
              </a:rPr>
              <a:t>i</a:t>
            </a:r>
            <a:r>
              <a:rPr sz="2900" spc="-250" dirty="0">
                <a:latin typeface="Microsoft Sans Serif"/>
                <a:cs typeface="Microsoft Sans Serif"/>
              </a:rPr>
              <a:t>c</a:t>
            </a:r>
            <a:r>
              <a:rPr sz="2900" spc="70" dirty="0">
                <a:latin typeface="Microsoft Sans Serif"/>
                <a:cs typeface="Microsoft Sans Serif"/>
              </a:rPr>
              <a:t>ad</a:t>
            </a:r>
            <a:r>
              <a:rPr sz="2900" spc="75" dirty="0">
                <a:latin typeface="Microsoft Sans Serif"/>
                <a:cs typeface="Microsoft Sans Serif"/>
              </a:rPr>
              <a:t>a</a:t>
            </a:r>
            <a:r>
              <a:rPr sz="2900" spc="340" dirty="0">
                <a:latin typeface="Microsoft Sans Serif"/>
                <a:cs typeface="Microsoft Sans Serif"/>
              </a:rPr>
              <a:t>s</a:t>
            </a:r>
            <a:r>
              <a:rPr sz="2900" spc="-250" dirty="0">
                <a:latin typeface="Microsoft Sans Serif"/>
                <a:cs typeface="Microsoft Sans Serif"/>
              </a:rPr>
              <a:t>c</a:t>
            </a:r>
            <a:r>
              <a:rPr sz="2900" spc="-75" dirty="0">
                <a:latin typeface="Microsoft Sans Serif"/>
                <a:cs typeface="Microsoft Sans Serif"/>
              </a:rPr>
              <a:t>o</a:t>
            </a:r>
            <a:r>
              <a:rPr sz="2900" spc="-140" dirty="0">
                <a:latin typeface="Microsoft Sans Serif"/>
                <a:cs typeface="Microsoft Sans Serif"/>
              </a:rPr>
              <a:t>m</a:t>
            </a:r>
            <a:r>
              <a:rPr sz="2900" spc="85" dirty="0">
                <a:latin typeface="Microsoft Sans Serif"/>
                <a:cs typeface="Microsoft Sans Serif"/>
              </a:rPr>
              <a:t>o</a:t>
            </a:r>
            <a:r>
              <a:rPr sz="2900" spc="-15" dirty="0">
                <a:latin typeface="Microsoft Sans Serif"/>
                <a:cs typeface="Microsoft Sans Serif"/>
              </a:rPr>
              <a:t> </a:t>
            </a:r>
            <a:r>
              <a:rPr sz="2900" spc="-170" dirty="0">
                <a:latin typeface="Microsoft Sans Serif"/>
                <a:cs typeface="Microsoft Sans Serif"/>
              </a:rPr>
              <a:t>argumento</a:t>
            </a:r>
            <a:r>
              <a:rPr sz="2900" spc="-165" dirty="0">
                <a:latin typeface="Microsoft Sans Serif"/>
                <a:cs typeface="Microsoft Sans Serif"/>
              </a:rPr>
              <a:t> </a:t>
            </a:r>
            <a:r>
              <a:rPr sz="2900" spc="-229" dirty="0">
                <a:latin typeface="Microsoft Sans Serif"/>
                <a:cs typeface="Microsoft Sans Serif"/>
              </a:rPr>
              <a:t>(soma</a:t>
            </a:r>
            <a:r>
              <a:rPr sz="2900" spc="-185" dirty="0">
                <a:latin typeface="Microsoft Sans Serif"/>
                <a:cs typeface="Microsoft Sans Serif"/>
              </a:rPr>
              <a:t> </a:t>
            </a:r>
            <a:r>
              <a:rPr sz="2900" spc="-75" dirty="0">
                <a:latin typeface="Microsoft Sans Serif"/>
                <a:cs typeface="Microsoft Sans Serif"/>
              </a:rPr>
              <a:t>dos</a:t>
            </a:r>
            <a:r>
              <a:rPr sz="2900" spc="-450" dirty="0">
                <a:latin typeface="Microsoft Sans Serif"/>
                <a:cs typeface="Microsoft Sans Serif"/>
              </a:rPr>
              <a:t> </a:t>
            </a:r>
            <a:r>
              <a:rPr sz="2900" spc="-140" dirty="0">
                <a:latin typeface="Microsoft Sans Serif"/>
                <a:cs typeface="Microsoft Sans Serif"/>
              </a:rPr>
              <a:t>valores</a:t>
            </a:r>
            <a:r>
              <a:rPr sz="2900" spc="-200" dirty="0">
                <a:latin typeface="Microsoft Sans Serif"/>
                <a:cs typeface="Microsoft Sans Serif"/>
              </a:rPr>
              <a:t> </a:t>
            </a:r>
            <a:r>
              <a:rPr sz="2900" spc="-30" dirty="0">
                <a:latin typeface="Microsoft Sans Serif"/>
                <a:cs typeface="Microsoft Sans Serif"/>
              </a:rPr>
              <a:t>das</a:t>
            </a:r>
            <a:r>
              <a:rPr sz="2900" spc="-445" dirty="0">
                <a:latin typeface="Microsoft Sans Serif"/>
                <a:cs typeface="Microsoft Sans Serif"/>
              </a:rPr>
              <a:t> </a:t>
            </a:r>
            <a:r>
              <a:rPr sz="2900" spc="-180" dirty="0">
                <a:latin typeface="Microsoft Sans Serif"/>
                <a:cs typeface="Microsoft Sans Serif"/>
              </a:rPr>
              <a:t>células</a:t>
            </a:r>
            <a:r>
              <a:rPr sz="2900" spc="-185" dirty="0">
                <a:latin typeface="Microsoft Sans Serif"/>
                <a:cs typeface="Microsoft Sans Serif"/>
              </a:rPr>
              <a:t> </a:t>
            </a:r>
            <a:r>
              <a:rPr sz="2900" spc="-10" dirty="0">
                <a:latin typeface="Microsoft Sans Serif"/>
                <a:cs typeface="Microsoft Sans Serif"/>
              </a:rPr>
              <a:t>dividido </a:t>
            </a:r>
            <a:r>
              <a:rPr sz="2900" spc="-65" dirty="0">
                <a:latin typeface="Microsoft Sans Serif"/>
                <a:cs typeface="Microsoft Sans Serif"/>
              </a:rPr>
              <a:t>pelo</a:t>
            </a:r>
            <a:r>
              <a:rPr sz="2900" spc="-200" dirty="0">
                <a:latin typeface="Microsoft Sans Serif"/>
                <a:cs typeface="Microsoft Sans Serif"/>
              </a:rPr>
              <a:t> </a:t>
            </a:r>
            <a:r>
              <a:rPr sz="2900" spc="-235" dirty="0">
                <a:latin typeface="Microsoft Sans Serif"/>
                <a:cs typeface="Microsoft Sans Serif"/>
              </a:rPr>
              <a:t>número</a:t>
            </a:r>
            <a:r>
              <a:rPr sz="2900" spc="-170" dirty="0">
                <a:latin typeface="Microsoft Sans Serif"/>
                <a:cs typeface="Microsoft Sans Serif"/>
              </a:rPr>
              <a:t> </a:t>
            </a:r>
            <a:r>
              <a:rPr sz="2900" dirty="0">
                <a:latin typeface="Microsoft Sans Serif"/>
                <a:cs typeface="Microsoft Sans Serif"/>
              </a:rPr>
              <a:t>de</a:t>
            </a:r>
            <a:r>
              <a:rPr sz="2900" spc="-60" dirty="0">
                <a:latin typeface="Microsoft Sans Serif"/>
                <a:cs typeface="Microsoft Sans Serif"/>
              </a:rPr>
              <a:t> </a:t>
            </a:r>
            <a:r>
              <a:rPr sz="2900" spc="-180" dirty="0">
                <a:latin typeface="Microsoft Sans Serif"/>
                <a:cs typeface="Microsoft Sans Serif"/>
              </a:rPr>
              <a:t>células</a:t>
            </a:r>
            <a:r>
              <a:rPr sz="2900" spc="-280" dirty="0">
                <a:latin typeface="Microsoft Sans Serif"/>
                <a:cs typeface="Microsoft Sans Serif"/>
              </a:rPr>
              <a:t> </a:t>
            </a:r>
            <a:r>
              <a:rPr sz="2900" spc="-180" dirty="0">
                <a:latin typeface="Microsoft Sans Serif"/>
                <a:cs typeface="Microsoft Sans Serif"/>
              </a:rPr>
              <a:t>com</a:t>
            </a:r>
            <a:r>
              <a:rPr sz="2900" spc="-484" dirty="0">
                <a:latin typeface="Microsoft Sans Serif"/>
                <a:cs typeface="Microsoft Sans Serif"/>
              </a:rPr>
              <a:t> </a:t>
            </a:r>
            <a:r>
              <a:rPr sz="2900" spc="-10" dirty="0">
                <a:latin typeface="Microsoft Sans Serif"/>
                <a:cs typeface="Microsoft Sans Serif"/>
              </a:rPr>
              <a:t>valores).</a:t>
            </a:r>
            <a:endParaRPr sz="29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0701" y="3975498"/>
            <a:ext cx="4114038" cy="2448306"/>
          </a:xfrm>
          <a:prstGeom prst="rect">
            <a:avLst/>
          </a:prstGeom>
        </p:spPr>
      </p:pic>
      <p:pic>
        <p:nvPicPr>
          <p:cNvPr id="4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0701" y="3975498"/>
            <a:ext cx="4114038" cy="244830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1831320-377E-4F15-AAC3-C9633C7E3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476" y="3599307"/>
            <a:ext cx="3505200" cy="29432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615" dirty="0"/>
              <a:t>E</a:t>
            </a:r>
            <a:r>
              <a:rPr spc="-550" dirty="0"/>
              <a:t>x</a:t>
            </a:r>
            <a:r>
              <a:rPr spc="-185" dirty="0"/>
              <a:t>e</a:t>
            </a:r>
            <a:r>
              <a:rPr spc="-114" dirty="0"/>
              <a:t>r</a:t>
            </a:r>
            <a:r>
              <a:rPr spc="-330" dirty="0"/>
              <a:t>c</a:t>
            </a:r>
            <a:r>
              <a:rPr spc="-335" dirty="0"/>
              <a:t>í</a:t>
            </a:r>
            <a:r>
              <a:rPr spc="-480" dirty="0"/>
              <a:t>c</a:t>
            </a:r>
            <a:r>
              <a:rPr spc="-180" dirty="0"/>
              <a:t>i</a:t>
            </a:r>
            <a:r>
              <a:rPr spc="-185" dirty="0"/>
              <a:t>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2767" y="2106167"/>
            <a:ext cx="8995410" cy="394106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484" dirty="0">
                <a:solidFill>
                  <a:srgbClr val="000000"/>
                </a:solidFill>
                <a:latin typeface="Calibri"/>
                <a:cs typeface="Calibri"/>
              </a:rPr>
              <a:t>F</a:t>
            </a:r>
            <a:r>
              <a:rPr spc="-420" dirty="0">
                <a:solidFill>
                  <a:srgbClr val="000000"/>
                </a:solidFill>
                <a:latin typeface="Calibri"/>
                <a:cs typeface="Calibri"/>
              </a:rPr>
              <a:t>ó</a:t>
            </a:r>
            <a:r>
              <a:rPr spc="-150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pc="-665" dirty="0">
                <a:solidFill>
                  <a:srgbClr val="000000"/>
                </a:solidFill>
                <a:latin typeface="Calibri"/>
                <a:cs typeface="Calibri"/>
              </a:rPr>
              <a:t>m</a:t>
            </a:r>
            <a:r>
              <a:rPr spc="-360" dirty="0">
                <a:solidFill>
                  <a:srgbClr val="000000"/>
                </a:solidFill>
                <a:latin typeface="Calibri"/>
                <a:cs typeface="Calibri"/>
              </a:rPr>
              <a:t>ula</a:t>
            </a: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pc="-2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555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pc="-509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m</a:t>
            </a:r>
            <a:r>
              <a:rPr spc="-4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320" dirty="0">
                <a:solidFill>
                  <a:srgbClr val="000000"/>
                </a:solidFill>
                <a:latin typeface="Calibri"/>
                <a:cs typeface="Calibri"/>
              </a:rPr>
              <a:t>f</a:t>
            </a:r>
            <a:r>
              <a:rPr spc="-330" dirty="0">
                <a:solidFill>
                  <a:srgbClr val="000000"/>
                </a:solidFill>
                <a:latin typeface="Calibri"/>
                <a:cs typeface="Calibri"/>
              </a:rPr>
              <a:t>un</a:t>
            </a:r>
            <a:r>
              <a:rPr spc="-360" dirty="0">
                <a:solidFill>
                  <a:srgbClr val="000000"/>
                </a:solidFill>
                <a:latin typeface="Calibri"/>
                <a:cs typeface="Calibri"/>
              </a:rPr>
              <a:t>ç</a:t>
            </a:r>
            <a:r>
              <a:rPr spc="-325" dirty="0">
                <a:solidFill>
                  <a:srgbClr val="000000"/>
                </a:solidFill>
                <a:latin typeface="Calibri"/>
                <a:cs typeface="Calibri"/>
              </a:rPr>
              <a:t>õ</a:t>
            </a:r>
            <a:r>
              <a:rPr spc="-35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290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pc="-37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spc="-695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pc="-675" dirty="0">
                <a:solidFill>
                  <a:srgbClr val="000000"/>
                </a:solidFill>
                <a:latin typeface="Calibri"/>
                <a:cs typeface="Calibri"/>
              </a:rPr>
              <a:t>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501" y="1604009"/>
            <a:ext cx="7329170" cy="1028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105" indent="-319405">
              <a:lnSpc>
                <a:spcPts val="2395"/>
              </a:lnSpc>
              <a:spcBef>
                <a:spcPts val="95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spc="-130" dirty="0">
                <a:latin typeface="Microsoft Sans Serif"/>
                <a:cs typeface="Microsoft Sans Serif"/>
              </a:rPr>
              <a:t>Retorna</a:t>
            </a:r>
            <a:r>
              <a:rPr sz="2000" spc="-200" dirty="0">
                <a:latin typeface="Microsoft Sans Serif"/>
                <a:cs typeface="Microsoft Sans Serif"/>
              </a:rPr>
              <a:t> </a:t>
            </a:r>
            <a:r>
              <a:rPr sz="2000" spc="-155" dirty="0">
                <a:latin typeface="Microsoft Sans Serif"/>
                <a:cs typeface="Microsoft Sans Serif"/>
              </a:rPr>
              <a:t>um</a:t>
            </a:r>
            <a:r>
              <a:rPr sz="2000" spc="-225" dirty="0">
                <a:latin typeface="Microsoft Sans Serif"/>
                <a:cs typeface="Microsoft Sans Serif"/>
              </a:rPr>
              <a:t> </a:t>
            </a:r>
            <a:r>
              <a:rPr sz="2000" spc="-65" dirty="0">
                <a:latin typeface="Microsoft Sans Serif"/>
                <a:cs typeface="Microsoft Sans Serif"/>
              </a:rPr>
              <a:t>valor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30" dirty="0">
                <a:latin typeface="Microsoft Sans Serif"/>
                <a:cs typeface="Microsoft Sans Serif"/>
              </a:rPr>
              <a:t>se</a:t>
            </a:r>
            <a:r>
              <a:rPr sz="2000" spc="-200" dirty="0">
                <a:latin typeface="Microsoft Sans Serif"/>
                <a:cs typeface="Microsoft Sans Serif"/>
              </a:rPr>
              <a:t> </a:t>
            </a:r>
            <a:r>
              <a:rPr sz="2000" spc="-155" dirty="0">
                <a:latin typeface="Microsoft Sans Serif"/>
                <a:cs typeface="Microsoft Sans Serif"/>
              </a:rPr>
              <a:t>uma</a:t>
            </a:r>
            <a:r>
              <a:rPr sz="2000" spc="-125" dirty="0">
                <a:latin typeface="Microsoft Sans Serif"/>
                <a:cs typeface="Microsoft Sans Serif"/>
              </a:rPr>
              <a:t> </a:t>
            </a:r>
            <a:r>
              <a:rPr sz="2000" spc="-130" dirty="0">
                <a:latin typeface="Microsoft Sans Serif"/>
                <a:cs typeface="Microsoft Sans Serif"/>
              </a:rPr>
              <a:t>condição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spc="-110" dirty="0">
                <a:latin typeface="Microsoft Sans Serif"/>
                <a:cs typeface="Microsoft Sans Serif"/>
              </a:rPr>
              <a:t>que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spc="-135" dirty="0">
                <a:latin typeface="Microsoft Sans Serif"/>
                <a:cs typeface="Microsoft Sans Serif"/>
              </a:rPr>
              <a:t>você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-125" dirty="0">
                <a:latin typeface="Microsoft Sans Serif"/>
                <a:cs typeface="Microsoft Sans Serif"/>
              </a:rPr>
              <a:t>especificou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30" dirty="0">
                <a:latin typeface="Microsoft Sans Serif"/>
                <a:cs typeface="Microsoft Sans Serif"/>
              </a:rPr>
              <a:t>avaliar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40" dirty="0">
                <a:latin typeface="Microsoft Sans Serif"/>
                <a:cs typeface="Microsoft Sans Serif"/>
              </a:rPr>
              <a:t>como</a:t>
            </a:r>
            <a:endParaRPr sz="2000" dirty="0">
              <a:latin typeface="Microsoft Sans Serif"/>
              <a:cs typeface="Microsoft Sans Serif"/>
            </a:endParaRPr>
          </a:p>
          <a:p>
            <a:pPr marL="332740">
              <a:lnSpc>
                <a:spcPts val="2395"/>
              </a:lnSpc>
            </a:pPr>
            <a:r>
              <a:rPr sz="2000" b="1" spc="-215" dirty="0">
                <a:latin typeface="Arial"/>
                <a:cs typeface="Arial"/>
              </a:rPr>
              <a:t>VERDADEIRO</a:t>
            </a:r>
            <a:r>
              <a:rPr sz="2000" b="1" spc="-200" dirty="0">
                <a:latin typeface="Arial"/>
                <a:cs typeface="Arial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spc="-100" dirty="0">
                <a:latin typeface="Microsoft Sans Serif"/>
                <a:cs typeface="Microsoft Sans Serif"/>
              </a:rPr>
              <a:t>um</a:t>
            </a:r>
            <a:r>
              <a:rPr lang="pt-BR" sz="2000" spc="-100" dirty="0">
                <a:latin typeface="Microsoft Sans Serif"/>
                <a:cs typeface="Microsoft Sans Serif"/>
              </a:rPr>
              <a:t> </a:t>
            </a:r>
            <a:r>
              <a:rPr sz="2000" spc="-100" dirty="0">
                <a:latin typeface="Microsoft Sans Serif"/>
                <a:cs typeface="Microsoft Sans Serif"/>
              </a:rPr>
              <a:t>outro</a:t>
            </a:r>
            <a:r>
              <a:rPr sz="2000" spc="-114" dirty="0">
                <a:latin typeface="Microsoft Sans Serif"/>
                <a:cs typeface="Microsoft Sans Serif"/>
              </a:rPr>
              <a:t> </a:t>
            </a:r>
            <a:r>
              <a:rPr sz="2000" spc="-65" dirty="0">
                <a:latin typeface="Microsoft Sans Serif"/>
                <a:cs typeface="Microsoft Sans Serif"/>
              </a:rPr>
              <a:t>valor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130" dirty="0">
                <a:latin typeface="Microsoft Sans Serif"/>
                <a:cs typeface="Microsoft Sans Serif"/>
              </a:rPr>
              <a:t>se</a:t>
            </a:r>
            <a:r>
              <a:rPr sz="2000" spc="-2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for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45" dirty="0">
                <a:latin typeface="Microsoft Sans Serif"/>
                <a:cs typeface="Microsoft Sans Serif"/>
              </a:rPr>
              <a:t>avaliado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165" dirty="0">
                <a:latin typeface="Microsoft Sans Serif"/>
                <a:cs typeface="Microsoft Sans Serif"/>
              </a:rPr>
              <a:t>como</a:t>
            </a:r>
            <a:r>
              <a:rPr sz="2000" spc="-140" dirty="0">
                <a:latin typeface="Microsoft Sans Serif"/>
                <a:cs typeface="Microsoft Sans Serif"/>
              </a:rPr>
              <a:t> </a:t>
            </a:r>
            <a:r>
              <a:rPr sz="2000" b="1" spc="-30" dirty="0">
                <a:latin typeface="Arial"/>
                <a:cs typeface="Arial"/>
              </a:rPr>
              <a:t>FALSO</a:t>
            </a:r>
            <a:r>
              <a:rPr sz="2000" spc="-30" dirty="0">
                <a:latin typeface="Microsoft Sans Serif"/>
                <a:cs typeface="Microsoft Sans Serif"/>
              </a:rPr>
              <a:t>.</a:t>
            </a:r>
            <a:endParaRPr sz="200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15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spc="-180" dirty="0">
                <a:latin typeface="Microsoft Sans Serif"/>
                <a:cs typeface="Microsoft Sans Serif"/>
              </a:rPr>
              <a:t>Use</a:t>
            </a:r>
            <a:r>
              <a:rPr sz="2000" spc="-204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SE</a:t>
            </a:r>
            <a:r>
              <a:rPr lang="pt-BR" sz="2000" spc="-50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para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55" dirty="0" err="1">
                <a:latin typeface="Microsoft Sans Serif"/>
                <a:cs typeface="Microsoft Sans Serif"/>
              </a:rPr>
              <a:t>efetuar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20" dirty="0">
                <a:latin typeface="Microsoft Sans Serif"/>
                <a:cs typeface="Microsoft Sans Serif"/>
              </a:rPr>
              <a:t>testes</a:t>
            </a:r>
            <a:r>
              <a:rPr lang="pt-BR" sz="2000" spc="-120" dirty="0">
                <a:latin typeface="Microsoft Sans Serif"/>
                <a:cs typeface="Microsoft Sans Serif"/>
              </a:rPr>
              <a:t> </a:t>
            </a:r>
            <a:r>
              <a:rPr sz="2000" spc="-120" dirty="0" err="1">
                <a:latin typeface="Microsoft Sans Serif"/>
                <a:cs typeface="Microsoft Sans Serif"/>
              </a:rPr>
              <a:t>condicionais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spc="-130" dirty="0">
                <a:latin typeface="Microsoft Sans Serif"/>
                <a:cs typeface="Microsoft Sans Serif"/>
              </a:rPr>
              <a:t>com</a:t>
            </a:r>
            <a:r>
              <a:rPr sz="2000" spc="-310" dirty="0">
                <a:latin typeface="Microsoft Sans Serif"/>
                <a:cs typeface="Microsoft Sans Serif"/>
              </a:rPr>
              <a:t> </a:t>
            </a:r>
            <a:r>
              <a:rPr sz="2000" spc="-80" dirty="0">
                <a:latin typeface="Microsoft Sans Serif"/>
                <a:cs typeface="Microsoft Sans Serif"/>
              </a:rPr>
              <a:t>valores</a:t>
            </a:r>
            <a:r>
              <a:rPr sz="2000" spc="-3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fórmulas.</a:t>
            </a:r>
            <a:endParaRPr sz="2000" dirty="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87701" y="3094482"/>
            <a:ext cx="7794625" cy="3458845"/>
            <a:chOff x="2187701" y="3094482"/>
            <a:chExt cx="7794625" cy="34588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7563" y="3094482"/>
              <a:ext cx="6457188" cy="6263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7701" y="4343400"/>
              <a:ext cx="7794498" cy="2209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640" dirty="0">
                <a:solidFill>
                  <a:srgbClr val="000000"/>
                </a:solidFill>
                <a:latin typeface="Calibri"/>
                <a:cs typeface="Calibri"/>
              </a:rPr>
              <a:t>F</a:t>
            </a:r>
            <a:r>
              <a:rPr spc="-635" dirty="0">
                <a:solidFill>
                  <a:srgbClr val="000000"/>
                </a:solidFill>
                <a:latin typeface="Calibri"/>
                <a:cs typeface="Calibri"/>
              </a:rPr>
              <a:t>un</a:t>
            </a:r>
            <a:r>
              <a:rPr spc="-625" dirty="0">
                <a:solidFill>
                  <a:srgbClr val="000000"/>
                </a:solidFill>
                <a:latin typeface="Calibri"/>
                <a:cs typeface="Calibri"/>
              </a:rPr>
              <a:t>ç</a:t>
            </a:r>
            <a:r>
              <a:rPr spc="-280" dirty="0">
                <a:solidFill>
                  <a:srgbClr val="000000"/>
                </a:solidFill>
                <a:latin typeface="Calibri"/>
                <a:cs typeface="Calibri"/>
              </a:rPr>
              <a:t>õ</a:t>
            </a:r>
            <a:r>
              <a:rPr spc="-265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285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pc="-310" dirty="0">
                <a:solidFill>
                  <a:srgbClr val="000000"/>
                </a:solidFill>
                <a:latin typeface="Calibri"/>
                <a:cs typeface="Calibri"/>
              </a:rPr>
              <a:t>Aninh</a:t>
            </a:r>
            <a:r>
              <a:rPr spc="-295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pc="-340" dirty="0">
                <a:solidFill>
                  <a:srgbClr val="000000"/>
                </a:solidFill>
                <a:latin typeface="Calibri"/>
                <a:cs typeface="Calibri"/>
              </a:rPr>
              <a:t>d</a:t>
            </a:r>
            <a:r>
              <a:rPr spc="-420" dirty="0">
                <a:solidFill>
                  <a:srgbClr val="000000"/>
                </a:solidFill>
                <a:latin typeface="Calibri"/>
                <a:cs typeface="Calibri"/>
              </a:rPr>
              <a:t>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701" y="1475993"/>
            <a:ext cx="7806055" cy="130111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sz="2400" spc="-150" dirty="0">
                <a:latin typeface="Microsoft Sans Serif"/>
                <a:cs typeface="Microsoft Sans Serif"/>
              </a:rPr>
              <a:t>Utilizamos</a:t>
            </a:r>
            <a:r>
              <a:rPr sz="2400" spc="-120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uma</a:t>
            </a:r>
            <a:r>
              <a:rPr sz="2400" spc="-204" dirty="0">
                <a:latin typeface="Microsoft Sans Serif"/>
                <a:cs typeface="Microsoft Sans Serif"/>
              </a:rPr>
              <a:t> </a:t>
            </a:r>
            <a:r>
              <a:rPr sz="2400" spc="-140" dirty="0">
                <a:latin typeface="Microsoft Sans Serif"/>
                <a:cs typeface="Microsoft Sans Serif"/>
              </a:rPr>
              <a:t>função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spc="-200" dirty="0">
                <a:latin typeface="Microsoft Sans Serif"/>
                <a:cs typeface="Microsoft Sans Serif"/>
              </a:rPr>
              <a:t>como</a:t>
            </a:r>
            <a:r>
              <a:rPr sz="2400" spc="-190" dirty="0">
                <a:latin typeface="Microsoft Sans Serif"/>
                <a:cs typeface="Microsoft Sans Serif"/>
              </a:rPr>
              <a:t> </a:t>
            </a:r>
            <a:r>
              <a:rPr sz="2400" spc="-145" dirty="0">
                <a:latin typeface="Microsoft Sans Serif"/>
                <a:cs typeface="Microsoft Sans Serif"/>
              </a:rPr>
              <a:t>argumento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uma</a:t>
            </a:r>
            <a:r>
              <a:rPr sz="2400" spc="-190" dirty="0">
                <a:latin typeface="Microsoft Sans Serif"/>
                <a:cs typeface="Microsoft Sans Serif"/>
              </a:rPr>
              <a:t> </a:t>
            </a:r>
            <a:r>
              <a:rPr sz="2400" spc="-95" dirty="0">
                <a:latin typeface="Microsoft Sans Serif"/>
                <a:cs typeface="Microsoft Sans Serif"/>
              </a:rPr>
              <a:t>outra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60" dirty="0">
                <a:latin typeface="Microsoft Sans Serif"/>
                <a:cs typeface="Microsoft Sans Serif"/>
              </a:rPr>
              <a:t>função.</a:t>
            </a:r>
            <a:endParaRPr sz="2400">
              <a:latin typeface="Microsoft Sans Serif"/>
              <a:cs typeface="Microsoft Sans Serif"/>
            </a:endParaRPr>
          </a:p>
          <a:p>
            <a:pPr marL="332740" marR="372110" indent="-320040">
              <a:lnSpc>
                <a:spcPct val="100000"/>
              </a:lnSpc>
              <a:spcBef>
                <a:spcPts val="705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spc="-165" dirty="0">
                <a:latin typeface="Microsoft Sans Serif"/>
                <a:cs typeface="Microsoft Sans Serif"/>
              </a:rPr>
              <a:t>Por</a:t>
            </a:r>
            <a:r>
              <a:rPr sz="2400" spc="-204" dirty="0">
                <a:latin typeface="Microsoft Sans Serif"/>
                <a:cs typeface="Microsoft Sans Serif"/>
              </a:rPr>
              <a:t> </a:t>
            </a:r>
            <a:r>
              <a:rPr sz="2400" spc="-150" dirty="0">
                <a:latin typeface="Microsoft Sans Serif"/>
                <a:cs typeface="Microsoft Sans Serif"/>
              </a:rPr>
              <a:t>exemplo,</a:t>
            </a:r>
            <a:r>
              <a:rPr sz="2400" spc="-1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90" dirty="0">
                <a:latin typeface="Microsoft Sans Serif"/>
                <a:cs typeface="Microsoft Sans Serif"/>
              </a:rPr>
              <a:t>fórmula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40" dirty="0">
                <a:latin typeface="Microsoft Sans Serif"/>
                <a:cs typeface="Microsoft Sans Serif"/>
              </a:rPr>
              <a:t>seguir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175" dirty="0">
                <a:latin typeface="Microsoft Sans Serif"/>
                <a:cs typeface="Microsoft Sans Serif"/>
              </a:rPr>
              <a:t>usa</a:t>
            </a:r>
            <a:r>
              <a:rPr sz="2400" spc="-195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uma</a:t>
            </a:r>
            <a:r>
              <a:rPr sz="2400" spc="-210" dirty="0">
                <a:latin typeface="Microsoft Sans Serif"/>
                <a:cs typeface="Microsoft Sans Serif"/>
              </a:rPr>
              <a:t> </a:t>
            </a:r>
            <a:r>
              <a:rPr sz="2400" spc="-140" dirty="0">
                <a:latin typeface="Microsoft Sans Serif"/>
                <a:cs typeface="Microsoft Sans Serif"/>
              </a:rPr>
              <a:t>função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spc="-60" dirty="0">
                <a:latin typeface="Microsoft Sans Serif"/>
                <a:cs typeface="Microsoft Sans Serif"/>
              </a:rPr>
              <a:t>aninhada </a:t>
            </a:r>
            <a:r>
              <a:rPr sz="2400" spc="-215" dirty="0">
                <a:latin typeface="Microsoft Sans Serif"/>
                <a:cs typeface="Microsoft Sans Serif"/>
              </a:rPr>
              <a:t>MÉDIA</a:t>
            </a:r>
            <a:r>
              <a:rPr sz="2400" spc="-2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</a:t>
            </a:r>
            <a:r>
              <a:rPr sz="2400" spc="-135" dirty="0">
                <a:latin typeface="Microsoft Sans Serif"/>
                <a:cs typeface="Microsoft Sans Serif"/>
              </a:rPr>
              <a:t> compara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</a:t>
            </a:r>
            <a:r>
              <a:rPr sz="2400" spc="-135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resultado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-210" dirty="0">
                <a:latin typeface="Microsoft Sans Serif"/>
                <a:cs typeface="Microsoft Sans Serif"/>
              </a:rPr>
              <a:t>com</a:t>
            </a:r>
            <a:r>
              <a:rPr sz="2400" spc="-2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</a:t>
            </a:r>
            <a:r>
              <a:rPr sz="2400" spc="-114" dirty="0">
                <a:latin typeface="Microsoft Sans Serif"/>
                <a:cs typeface="Microsoft Sans Serif"/>
              </a:rPr>
              <a:t> </a:t>
            </a:r>
            <a:r>
              <a:rPr sz="2400" spc="-65" dirty="0">
                <a:latin typeface="Microsoft Sans Serif"/>
                <a:cs typeface="Microsoft Sans Serif"/>
              </a:rPr>
              <a:t>valor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50.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26588" y="4201159"/>
            <a:ext cx="63722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75" dirty="0">
                <a:latin typeface="Arial"/>
                <a:cs typeface="Arial"/>
              </a:rPr>
              <a:t>=SE(MÉDIA(F5:F15)&gt;50;</a:t>
            </a:r>
            <a:r>
              <a:rPr sz="2800" b="1" spc="-5" dirty="0">
                <a:latin typeface="Arial"/>
                <a:cs typeface="Arial"/>
              </a:rPr>
              <a:t> </a:t>
            </a:r>
            <a:r>
              <a:rPr sz="2800" b="1" spc="-180" dirty="0">
                <a:latin typeface="Arial"/>
                <a:cs typeface="Arial"/>
              </a:rPr>
              <a:t>SOMA(G2:G5);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0)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195" dirty="0">
                <a:solidFill>
                  <a:srgbClr val="000000"/>
                </a:solidFill>
                <a:latin typeface="Calibri"/>
                <a:cs typeface="Calibri"/>
              </a:rPr>
              <a:t>Criando </a:t>
            </a:r>
            <a:r>
              <a:rPr spc="-310" dirty="0">
                <a:solidFill>
                  <a:srgbClr val="000000"/>
                </a:solidFill>
                <a:latin typeface="Calibri"/>
                <a:cs typeface="Calibri"/>
              </a:rPr>
              <a:t>séries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701" y="1565655"/>
            <a:ext cx="810133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spc="-85" dirty="0">
                <a:latin typeface="Microsoft Sans Serif"/>
                <a:cs typeface="Microsoft Sans Serif"/>
              </a:rPr>
              <a:t>Quando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-130" dirty="0">
                <a:latin typeface="Microsoft Sans Serif"/>
                <a:cs typeface="Microsoft Sans Serif"/>
              </a:rPr>
              <a:t>você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70" dirty="0">
                <a:latin typeface="Microsoft Sans Serif"/>
                <a:cs typeface="Microsoft Sans Serif"/>
              </a:rPr>
              <a:t>clica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150" dirty="0">
                <a:latin typeface="Microsoft Sans Serif"/>
                <a:cs typeface="Microsoft Sans Serif"/>
              </a:rPr>
              <a:t>em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-175" dirty="0">
                <a:latin typeface="Microsoft Sans Serif"/>
                <a:cs typeface="Microsoft Sans Serif"/>
              </a:rPr>
              <a:t>uma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85" dirty="0">
                <a:latin typeface="Microsoft Sans Serif"/>
                <a:cs typeface="Microsoft Sans Serif"/>
              </a:rPr>
              <a:t>célula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na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65" dirty="0">
                <a:latin typeface="Microsoft Sans Serif"/>
                <a:cs typeface="Microsoft Sans Serif"/>
              </a:rPr>
              <a:t>planilha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para</a:t>
            </a:r>
            <a:r>
              <a:rPr sz="2400" spc="75" dirty="0">
                <a:latin typeface="Microsoft Sans Serif"/>
                <a:cs typeface="Microsoft Sans Serif"/>
              </a:rPr>
              <a:t> </a:t>
            </a:r>
            <a:r>
              <a:rPr sz="2400" spc="-105" dirty="0">
                <a:latin typeface="Microsoft Sans Serif"/>
                <a:cs typeface="Microsoft Sans Serif"/>
              </a:rPr>
              <a:t>selecioná- </a:t>
            </a:r>
            <a:r>
              <a:rPr sz="2400" dirty="0">
                <a:latin typeface="Microsoft Sans Serif"/>
                <a:cs typeface="Microsoft Sans Serif"/>
              </a:rPr>
              <a:t>la,</a:t>
            </a:r>
            <a:r>
              <a:rPr sz="2400" spc="1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um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45" dirty="0">
                <a:latin typeface="Microsoft Sans Serif"/>
                <a:cs typeface="Microsoft Sans Serif"/>
              </a:rPr>
              <a:t>pequeno</a:t>
            </a:r>
            <a:r>
              <a:rPr sz="2400" spc="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quadrado</a:t>
            </a:r>
            <a:r>
              <a:rPr sz="2400" spc="1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preto</a:t>
            </a:r>
            <a:r>
              <a:rPr sz="2400" spc="1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aparece</a:t>
            </a:r>
            <a:r>
              <a:rPr sz="2400" spc="1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canto</a:t>
            </a:r>
            <a:r>
              <a:rPr sz="2400" spc="8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inferior </a:t>
            </a:r>
            <a:r>
              <a:rPr sz="2400" dirty="0">
                <a:latin typeface="Microsoft Sans Serif"/>
                <a:cs typeface="Microsoft Sans Serif"/>
              </a:rPr>
              <a:t>direito</a:t>
            </a:r>
            <a:r>
              <a:rPr sz="2400" spc="-1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da</a:t>
            </a:r>
            <a:r>
              <a:rPr sz="2400" spc="75" dirty="0">
                <a:latin typeface="Microsoft Sans Serif"/>
                <a:cs typeface="Microsoft Sans Serif"/>
              </a:rPr>
              <a:t> </a:t>
            </a:r>
            <a:r>
              <a:rPr sz="2400" spc="-70" dirty="0">
                <a:latin typeface="Microsoft Sans Serif"/>
                <a:cs typeface="Microsoft Sans Serif"/>
              </a:rPr>
              <a:t>célula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14" dirty="0">
                <a:latin typeface="Microsoft Sans Serif"/>
                <a:cs typeface="Microsoft Sans Serif"/>
              </a:rPr>
              <a:t>selecionada.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340" dirty="0">
                <a:latin typeface="Microsoft Sans Serif"/>
                <a:cs typeface="Microsoft Sans Serif"/>
              </a:rPr>
              <a:t>Esse</a:t>
            </a:r>
            <a:r>
              <a:rPr sz="2400" spc="18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quadrado</a:t>
            </a:r>
            <a:r>
              <a:rPr sz="2400" spc="100" dirty="0">
                <a:latin typeface="Microsoft Sans Serif"/>
                <a:cs typeface="Microsoft Sans Serif"/>
              </a:rPr>
              <a:t> </a:t>
            </a:r>
            <a:r>
              <a:rPr sz="2400" spc="-80" dirty="0">
                <a:latin typeface="Microsoft Sans Serif"/>
                <a:cs typeface="Microsoft Sans Serif"/>
              </a:rPr>
              <a:t>se </a:t>
            </a:r>
            <a:r>
              <a:rPr sz="2400" spc="-114" dirty="0">
                <a:latin typeface="Microsoft Sans Serif"/>
                <a:cs typeface="Microsoft Sans Serif"/>
              </a:rPr>
              <a:t>chama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"alça </a:t>
            </a:r>
            <a:r>
              <a:rPr sz="2400" spc="-35" dirty="0">
                <a:latin typeface="Microsoft Sans Serif"/>
                <a:cs typeface="Microsoft Sans Serif"/>
              </a:rPr>
              <a:t>de</a:t>
            </a:r>
            <a:r>
              <a:rPr sz="2400" spc="-125" dirty="0">
                <a:latin typeface="Microsoft Sans Serif"/>
                <a:cs typeface="Microsoft Sans Serif"/>
              </a:rPr>
              <a:t> </a:t>
            </a:r>
            <a:r>
              <a:rPr sz="2400" spc="-80" dirty="0">
                <a:latin typeface="Microsoft Sans Serif"/>
                <a:cs typeface="Microsoft Sans Serif"/>
              </a:rPr>
              <a:t>preenchimento".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0701" y="4938267"/>
            <a:ext cx="8104505" cy="1487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7620" indent="-320040" algn="just">
              <a:lnSpc>
                <a:spcPct val="99900"/>
              </a:lnSpc>
              <a:spcBef>
                <a:spcPts val="10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spc="-165" dirty="0">
                <a:latin typeface="Microsoft Sans Serif"/>
                <a:cs typeface="Microsoft Sans Serif"/>
              </a:rPr>
              <a:t>Usando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alça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</a:t>
            </a:r>
            <a:r>
              <a:rPr sz="2400" spc="65" dirty="0">
                <a:latin typeface="Microsoft Sans Serif"/>
                <a:cs typeface="Microsoft Sans Serif"/>
              </a:rPr>
              <a:t> </a:t>
            </a:r>
            <a:r>
              <a:rPr sz="2400" spc="-165" dirty="0">
                <a:latin typeface="Microsoft Sans Serif"/>
                <a:cs typeface="Microsoft Sans Serif"/>
              </a:rPr>
              <a:t>preenchimento,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você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pode</a:t>
            </a:r>
            <a:r>
              <a:rPr sz="2400" spc="70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inserir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55" dirty="0">
                <a:latin typeface="Microsoft Sans Serif"/>
                <a:cs typeface="Microsoft Sans Serif"/>
              </a:rPr>
              <a:t>uma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40" dirty="0">
                <a:latin typeface="Microsoft Sans Serif"/>
                <a:cs typeface="Microsoft Sans Serif"/>
              </a:rPr>
              <a:t>série </a:t>
            </a:r>
            <a:r>
              <a:rPr sz="2400" dirty="0">
                <a:latin typeface="Microsoft Sans Serif"/>
                <a:cs typeface="Microsoft Sans Serif"/>
              </a:rPr>
              <a:t>de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60" dirty="0">
                <a:latin typeface="Microsoft Sans Serif"/>
                <a:cs typeface="Microsoft Sans Serif"/>
              </a:rPr>
              <a:t>dados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copiar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dados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90" dirty="0">
                <a:latin typeface="Microsoft Sans Serif"/>
                <a:cs typeface="Microsoft Sans Serif"/>
              </a:rPr>
              <a:t>rapidamente.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80" dirty="0">
                <a:latin typeface="Microsoft Sans Serif"/>
                <a:cs typeface="Microsoft Sans Serif"/>
              </a:rPr>
              <a:t>Quando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-150" dirty="0">
                <a:latin typeface="Microsoft Sans Serif"/>
                <a:cs typeface="Microsoft Sans Serif"/>
              </a:rPr>
              <a:t>cursor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fica </a:t>
            </a:r>
            <a:r>
              <a:rPr sz="2400" spc="-65" dirty="0">
                <a:latin typeface="Microsoft Sans Serif"/>
                <a:cs typeface="Microsoft Sans Serif"/>
              </a:rPr>
              <a:t>alinhado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com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1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alça</a:t>
            </a:r>
            <a:r>
              <a:rPr sz="2400" spc="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</a:t>
            </a:r>
            <a:r>
              <a:rPr sz="2400" spc="95" dirty="0">
                <a:latin typeface="Microsoft Sans Serif"/>
                <a:cs typeface="Microsoft Sans Serif"/>
              </a:rPr>
              <a:t> </a:t>
            </a:r>
            <a:r>
              <a:rPr sz="2400" spc="-160" dirty="0">
                <a:latin typeface="Microsoft Sans Serif"/>
                <a:cs typeface="Microsoft Sans Serif"/>
              </a:rPr>
              <a:t>preenchimento,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ele</a:t>
            </a:r>
            <a:r>
              <a:rPr sz="2400" spc="80" dirty="0">
                <a:latin typeface="Microsoft Sans Serif"/>
                <a:cs typeface="Microsoft Sans Serif"/>
              </a:rPr>
              <a:t> </a:t>
            </a:r>
            <a:r>
              <a:rPr sz="2400" spc="-95" dirty="0">
                <a:latin typeface="Microsoft Sans Serif"/>
                <a:cs typeface="Microsoft Sans Serif"/>
              </a:rPr>
              <a:t>se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transforma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spc="-315" dirty="0">
                <a:latin typeface="Microsoft Sans Serif"/>
                <a:cs typeface="Microsoft Sans Serif"/>
              </a:rPr>
              <a:t>em </a:t>
            </a:r>
            <a:r>
              <a:rPr sz="2400" spc="-254" dirty="0">
                <a:latin typeface="Microsoft Sans Serif"/>
                <a:cs typeface="Microsoft Sans Serif"/>
              </a:rPr>
              <a:t>uma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140" dirty="0">
                <a:latin typeface="Microsoft Sans Serif"/>
                <a:cs typeface="Microsoft Sans Serif"/>
              </a:rPr>
              <a:t>cruz</a:t>
            </a:r>
            <a:r>
              <a:rPr sz="2400" spc="-18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preta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</a:t>
            </a:r>
            <a:r>
              <a:rPr sz="2400" spc="-160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Arial"/>
                <a:cs typeface="Arial"/>
              </a:rPr>
              <a:t>+</a:t>
            </a:r>
            <a:r>
              <a:rPr sz="2400" b="1" spc="180" dirty="0">
                <a:latin typeface="Arial"/>
                <a:cs typeface="Arial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).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1900" y="3606546"/>
            <a:ext cx="4386834" cy="74828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195" dirty="0">
                <a:solidFill>
                  <a:srgbClr val="000000"/>
                </a:solidFill>
                <a:latin typeface="Calibri"/>
                <a:cs typeface="Calibri"/>
              </a:rPr>
              <a:t>Criando </a:t>
            </a:r>
            <a:r>
              <a:rPr spc="-310" dirty="0">
                <a:solidFill>
                  <a:srgbClr val="000000"/>
                </a:solidFill>
                <a:latin typeface="Calibri"/>
                <a:cs typeface="Calibri"/>
              </a:rPr>
              <a:t>séries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701" y="1565655"/>
            <a:ext cx="7150734" cy="2333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spc="-130" dirty="0">
                <a:latin typeface="Microsoft Sans Serif"/>
                <a:cs typeface="Microsoft Sans Serif"/>
              </a:rPr>
              <a:t>Para</a:t>
            </a:r>
            <a:r>
              <a:rPr sz="2400" spc="-140" dirty="0">
                <a:latin typeface="Microsoft Sans Serif"/>
                <a:cs typeface="Microsoft Sans Serif"/>
              </a:rPr>
              <a:t> </a:t>
            </a:r>
            <a:r>
              <a:rPr sz="2400" spc="-55" dirty="0">
                <a:latin typeface="Microsoft Sans Serif"/>
                <a:cs typeface="Microsoft Sans Serif"/>
              </a:rPr>
              <a:t>criar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uma</a:t>
            </a:r>
            <a:r>
              <a:rPr sz="2400" spc="-200" dirty="0">
                <a:latin typeface="Microsoft Sans Serif"/>
                <a:cs typeface="Microsoft Sans Serif"/>
              </a:rPr>
              <a:t> </a:t>
            </a:r>
            <a:r>
              <a:rPr sz="2400" spc="-135" dirty="0">
                <a:latin typeface="Microsoft Sans Serif"/>
                <a:cs typeface="Microsoft Sans Serif"/>
              </a:rPr>
              <a:t>série</a:t>
            </a:r>
            <a:r>
              <a:rPr sz="2400" spc="-10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de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dados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-80" dirty="0">
                <a:latin typeface="Microsoft Sans Serif"/>
                <a:cs typeface="Microsoft Sans Serif"/>
              </a:rPr>
              <a:t>basta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140" dirty="0">
                <a:latin typeface="Microsoft Sans Serif"/>
                <a:cs typeface="Microsoft Sans Serif"/>
              </a:rPr>
              <a:t>seguir</a:t>
            </a:r>
            <a:r>
              <a:rPr sz="2400" spc="-114" dirty="0">
                <a:latin typeface="Microsoft Sans Serif"/>
                <a:cs typeface="Microsoft Sans Serif"/>
              </a:rPr>
              <a:t> </a:t>
            </a:r>
            <a:r>
              <a:rPr sz="2400" spc="-160" dirty="0">
                <a:latin typeface="Microsoft Sans Serif"/>
                <a:cs typeface="Microsoft Sans Serif"/>
              </a:rPr>
              <a:t>os</a:t>
            </a:r>
            <a:r>
              <a:rPr sz="2400" spc="-250" dirty="0">
                <a:latin typeface="Microsoft Sans Serif"/>
                <a:cs typeface="Microsoft Sans Serif"/>
              </a:rPr>
              <a:t> </a:t>
            </a:r>
            <a:r>
              <a:rPr sz="2400" spc="-140" dirty="0">
                <a:latin typeface="Microsoft Sans Serif"/>
                <a:cs typeface="Microsoft Sans Serif"/>
              </a:rPr>
              <a:t>seguintes </a:t>
            </a:r>
            <a:r>
              <a:rPr sz="2400" spc="-65" dirty="0">
                <a:latin typeface="Microsoft Sans Serif"/>
                <a:cs typeface="Microsoft Sans Serif"/>
              </a:rPr>
              <a:t>passos:</a:t>
            </a:r>
            <a:endParaRPr sz="2400">
              <a:latin typeface="Microsoft Sans Serif"/>
              <a:cs typeface="Microsoft Sans Serif"/>
            </a:endParaRPr>
          </a:p>
          <a:p>
            <a:pPr marL="469265" indent="-456565">
              <a:lnSpc>
                <a:spcPct val="100000"/>
              </a:lnSpc>
              <a:spcBef>
                <a:spcPts val="710"/>
              </a:spcBef>
              <a:buClr>
                <a:srgbClr val="476F1E"/>
              </a:buClr>
              <a:buSzPct val="60000"/>
              <a:buAutoNum type="arabicPeriod"/>
              <a:tabLst>
                <a:tab pos="469265" algn="l"/>
              </a:tabLst>
            </a:pPr>
            <a:r>
              <a:rPr sz="2000" spc="-120" dirty="0">
                <a:latin typeface="Microsoft Sans Serif"/>
                <a:cs typeface="Microsoft Sans Serif"/>
              </a:rPr>
              <a:t>Insira</a:t>
            </a:r>
            <a:r>
              <a:rPr sz="2000" spc="-1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</a:t>
            </a:r>
            <a:r>
              <a:rPr sz="2000" spc="-130" dirty="0">
                <a:latin typeface="Microsoft Sans Serif"/>
                <a:cs typeface="Microsoft Sans Serif"/>
              </a:rPr>
              <a:t> </a:t>
            </a:r>
            <a:r>
              <a:rPr sz="2000" spc="-85" dirty="0">
                <a:latin typeface="Microsoft Sans Serif"/>
                <a:cs typeface="Microsoft Sans Serif"/>
              </a:rPr>
              <a:t>primeiro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-60" dirty="0">
                <a:latin typeface="Microsoft Sans Serif"/>
                <a:cs typeface="Microsoft Sans Serif"/>
              </a:rPr>
              <a:t>valor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10" dirty="0">
                <a:latin typeface="Microsoft Sans Serif"/>
                <a:cs typeface="Microsoft Sans Serif"/>
              </a:rPr>
              <a:t>série</a:t>
            </a:r>
            <a:r>
              <a:rPr sz="2000" spc="-1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de</a:t>
            </a:r>
            <a:r>
              <a:rPr sz="2000" spc="-5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dados.</a:t>
            </a:r>
            <a:endParaRPr sz="2000">
              <a:latin typeface="Microsoft Sans Serif"/>
              <a:cs typeface="Microsoft Sans Serif"/>
            </a:endParaRPr>
          </a:p>
          <a:p>
            <a:pPr marL="469265" indent="-456565">
              <a:lnSpc>
                <a:spcPct val="100000"/>
              </a:lnSpc>
              <a:spcBef>
                <a:spcPts val="695"/>
              </a:spcBef>
              <a:buClr>
                <a:srgbClr val="476F1E"/>
              </a:buClr>
              <a:buSzPct val="60000"/>
              <a:buAutoNum type="arabicPeriod"/>
              <a:tabLst>
                <a:tab pos="469265" algn="l"/>
              </a:tabLst>
            </a:pPr>
            <a:r>
              <a:rPr sz="2000" spc="-30" dirty="0">
                <a:latin typeface="Microsoft Sans Serif"/>
                <a:cs typeface="Microsoft Sans Serif"/>
              </a:rPr>
              <a:t>Na</a:t>
            </a:r>
            <a:r>
              <a:rPr sz="2000" spc="-105" dirty="0">
                <a:latin typeface="Microsoft Sans Serif"/>
                <a:cs typeface="Microsoft Sans Serif"/>
              </a:rPr>
              <a:t> célula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-145" dirty="0">
                <a:latin typeface="Microsoft Sans Serif"/>
                <a:cs typeface="Microsoft Sans Serif"/>
              </a:rPr>
              <a:t>seguinte,</a:t>
            </a:r>
            <a:r>
              <a:rPr sz="2000" spc="-15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digite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spc="-85" dirty="0">
                <a:latin typeface="Microsoft Sans Serif"/>
                <a:cs typeface="Microsoft Sans Serif"/>
              </a:rPr>
              <a:t>próximo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-60" dirty="0">
                <a:latin typeface="Microsoft Sans Serif"/>
                <a:cs typeface="Microsoft Sans Serif"/>
              </a:rPr>
              <a:t>valor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 </a:t>
            </a:r>
            <a:r>
              <a:rPr sz="2000" spc="-105" dirty="0">
                <a:latin typeface="Microsoft Sans Serif"/>
                <a:cs typeface="Microsoft Sans Serif"/>
              </a:rPr>
              <a:t>série</a:t>
            </a:r>
            <a:r>
              <a:rPr sz="2000" spc="-1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de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dados.</a:t>
            </a:r>
            <a:endParaRPr sz="2000">
              <a:latin typeface="Microsoft Sans Serif"/>
              <a:cs typeface="Microsoft Sans Serif"/>
            </a:endParaRPr>
          </a:p>
          <a:p>
            <a:pPr marL="469265" indent="-456565">
              <a:lnSpc>
                <a:spcPct val="100000"/>
              </a:lnSpc>
              <a:spcBef>
                <a:spcPts val="705"/>
              </a:spcBef>
              <a:buClr>
                <a:srgbClr val="476F1E"/>
              </a:buClr>
              <a:buSzPct val="60000"/>
              <a:buAutoNum type="arabicPeriod"/>
              <a:tabLst>
                <a:tab pos="469265" algn="l"/>
              </a:tabLst>
            </a:pPr>
            <a:r>
              <a:rPr sz="2000" spc="-145" dirty="0">
                <a:latin typeface="Microsoft Sans Serif"/>
                <a:cs typeface="Microsoft Sans Serif"/>
              </a:rPr>
              <a:t>Selecione</a:t>
            </a:r>
            <a:r>
              <a:rPr sz="2000" spc="-155" dirty="0">
                <a:latin typeface="Microsoft Sans Serif"/>
                <a:cs typeface="Microsoft Sans Serif"/>
              </a:rPr>
              <a:t> </a:t>
            </a:r>
            <a:r>
              <a:rPr sz="2000" spc="-105" dirty="0">
                <a:latin typeface="Microsoft Sans Serif"/>
                <a:cs typeface="Microsoft Sans Serif"/>
              </a:rPr>
              <a:t>as</a:t>
            </a:r>
            <a:r>
              <a:rPr sz="2000" spc="-125" dirty="0">
                <a:latin typeface="Microsoft Sans Serif"/>
                <a:cs typeface="Microsoft Sans Serif"/>
              </a:rPr>
              <a:t> </a:t>
            </a:r>
            <a:r>
              <a:rPr sz="2000" spc="-140" dirty="0">
                <a:latin typeface="Microsoft Sans Serif"/>
                <a:cs typeface="Microsoft Sans Serif"/>
              </a:rPr>
              <a:t>células</a:t>
            </a:r>
            <a:r>
              <a:rPr sz="2000" spc="-114" dirty="0">
                <a:latin typeface="Microsoft Sans Serif"/>
                <a:cs typeface="Microsoft Sans Serif"/>
              </a:rPr>
              <a:t> </a:t>
            </a:r>
            <a:r>
              <a:rPr sz="2000" spc="-140" dirty="0">
                <a:latin typeface="Microsoft Sans Serif"/>
                <a:cs typeface="Microsoft Sans Serif"/>
              </a:rPr>
              <a:t>contendo</a:t>
            </a:r>
            <a:r>
              <a:rPr sz="2000" spc="-120" dirty="0">
                <a:latin typeface="Microsoft Sans Serif"/>
                <a:cs typeface="Microsoft Sans Serif"/>
              </a:rPr>
              <a:t> </a:t>
            </a:r>
            <a:r>
              <a:rPr sz="2000" spc="-130" dirty="0">
                <a:latin typeface="Microsoft Sans Serif"/>
                <a:cs typeface="Microsoft Sans Serif"/>
              </a:rPr>
              <a:t>os</a:t>
            </a:r>
            <a:r>
              <a:rPr sz="2000" spc="-190" dirty="0">
                <a:latin typeface="Microsoft Sans Serif"/>
                <a:cs typeface="Microsoft Sans Serif"/>
              </a:rPr>
              <a:t> </a:t>
            </a:r>
            <a:r>
              <a:rPr sz="2000" spc="-105" dirty="0">
                <a:latin typeface="Microsoft Sans Serif"/>
                <a:cs typeface="Microsoft Sans Serif"/>
              </a:rPr>
              <a:t>valores </a:t>
            </a:r>
            <a:r>
              <a:rPr sz="2000" dirty="0">
                <a:latin typeface="Microsoft Sans Serif"/>
                <a:cs typeface="Microsoft Sans Serif"/>
              </a:rPr>
              <a:t>da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10" dirty="0">
                <a:latin typeface="Microsoft Sans Serif"/>
                <a:cs typeface="Microsoft Sans Serif"/>
              </a:rPr>
              <a:t>série </a:t>
            </a:r>
            <a:r>
              <a:rPr sz="2000" dirty="0">
                <a:latin typeface="Microsoft Sans Serif"/>
                <a:cs typeface="Microsoft Sans Serif"/>
              </a:rPr>
              <a:t>de</a:t>
            </a:r>
            <a:r>
              <a:rPr sz="2000" spc="-10" dirty="0">
                <a:latin typeface="Microsoft Sans Serif"/>
                <a:cs typeface="Microsoft Sans Serif"/>
              </a:rPr>
              <a:t> dados.</a:t>
            </a:r>
            <a:endParaRPr sz="2000">
              <a:latin typeface="Microsoft Sans Serif"/>
              <a:cs typeface="Microsoft Sans Serif"/>
            </a:endParaRPr>
          </a:p>
          <a:p>
            <a:pPr marL="469265" indent="-456565">
              <a:lnSpc>
                <a:spcPct val="100000"/>
              </a:lnSpc>
              <a:spcBef>
                <a:spcPts val="700"/>
              </a:spcBef>
              <a:buClr>
                <a:srgbClr val="476F1E"/>
              </a:buClr>
              <a:buSzPct val="60000"/>
              <a:buAutoNum type="arabicPeriod"/>
              <a:tabLst>
                <a:tab pos="469265" algn="l"/>
              </a:tabLst>
            </a:pPr>
            <a:r>
              <a:rPr sz="2000" spc="-90" dirty="0">
                <a:latin typeface="Microsoft Sans Serif"/>
                <a:cs typeface="Microsoft Sans Serif"/>
              </a:rPr>
              <a:t>Arraste</a:t>
            </a:r>
            <a:r>
              <a:rPr sz="2000" spc="-1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alça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-140" dirty="0">
                <a:latin typeface="Microsoft Sans Serif"/>
                <a:cs typeface="Microsoft Sans Serif"/>
              </a:rPr>
              <a:t>preenchimento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para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baixo.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63BFE37-A3B5-42C5-A035-B9960A77F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4225396"/>
            <a:ext cx="1895740" cy="213389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7E39975-F289-45B9-AF0F-18F9FF4C0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909" y="3482678"/>
            <a:ext cx="1728925" cy="324069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195" dirty="0">
                <a:solidFill>
                  <a:srgbClr val="000000"/>
                </a:solidFill>
                <a:latin typeface="Calibri"/>
                <a:cs typeface="Calibri"/>
              </a:rPr>
              <a:t>Criando </a:t>
            </a:r>
            <a:r>
              <a:rPr spc="-310" dirty="0">
                <a:solidFill>
                  <a:srgbClr val="000000"/>
                </a:solidFill>
                <a:latin typeface="Calibri"/>
                <a:cs typeface="Calibri"/>
              </a:rPr>
              <a:t>séries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701" y="1565655"/>
            <a:ext cx="3191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sz="2400" spc="-125" dirty="0">
                <a:latin typeface="Microsoft Sans Serif"/>
                <a:cs typeface="Microsoft Sans Serif"/>
              </a:rPr>
              <a:t>Quando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175" dirty="0">
                <a:latin typeface="Microsoft Sans Serif"/>
                <a:cs typeface="Microsoft Sans Serif"/>
              </a:rPr>
              <a:t>você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70" dirty="0">
                <a:latin typeface="Microsoft Sans Serif"/>
                <a:cs typeface="Microsoft Sans Serif"/>
              </a:rPr>
              <a:t>arrasta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a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9488" y="1565655"/>
            <a:ext cx="3034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0" dirty="0">
                <a:latin typeface="Microsoft Sans Serif"/>
                <a:cs typeface="Microsoft Sans Serif"/>
              </a:rPr>
              <a:t>(alça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de</a:t>
            </a:r>
            <a:r>
              <a:rPr sz="2400" spc="-120" dirty="0">
                <a:latin typeface="Microsoft Sans Serif"/>
                <a:cs typeface="Microsoft Sans Serif"/>
              </a:rPr>
              <a:t> </a:t>
            </a:r>
            <a:r>
              <a:rPr sz="2400" spc="-150" dirty="0">
                <a:latin typeface="Microsoft Sans Serif"/>
                <a:cs typeface="Microsoft Sans Serif"/>
              </a:rPr>
              <a:t>preenchimento),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80742" y="2022855"/>
            <a:ext cx="776605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77240" algn="l">
              <a:lnSpc>
                <a:spcPct val="100000"/>
              </a:lnSpc>
              <a:spcBef>
                <a:spcPts val="100"/>
              </a:spcBef>
              <a:tabLst>
                <a:tab pos="2011680" algn="l"/>
                <a:tab pos="2548890" algn="l"/>
                <a:tab pos="5144135" algn="l"/>
                <a:tab pos="6588759" algn="l"/>
                <a:tab pos="7088505" algn="l"/>
              </a:tabLst>
            </a:pPr>
            <a:r>
              <a:rPr sz="2400" spc="-10" dirty="0">
                <a:latin typeface="Microsoft Sans Serif"/>
                <a:cs typeface="Microsoft Sans Serif"/>
              </a:rPr>
              <a:t>(Opções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25" dirty="0">
                <a:latin typeface="Microsoft Sans Serif"/>
                <a:cs typeface="Microsoft Sans Serif"/>
              </a:rPr>
              <a:t>de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90" dirty="0">
                <a:latin typeface="Microsoft Sans Serif"/>
                <a:cs typeface="Microsoft Sans Serif"/>
              </a:rPr>
              <a:t>Auto</a:t>
            </a:r>
            <a:r>
              <a:rPr lang="pt-BR" sz="2400" spc="-90" dirty="0">
                <a:latin typeface="Microsoft Sans Serif"/>
                <a:cs typeface="Microsoft Sans Serif"/>
              </a:rPr>
              <a:t> </a:t>
            </a:r>
            <a:r>
              <a:rPr sz="2400" spc="-90" dirty="0" err="1">
                <a:latin typeface="Microsoft Sans Serif"/>
                <a:cs typeface="Microsoft Sans Serif"/>
              </a:rPr>
              <a:t>Preenchimento</a:t>
            </a:r>
            <a:r>
              <a:rPr lang="pt-BR" sz="2400" spc="-90" dirty="0">
                <a:latin typeface="Microsoft Sans Serif"/>
                <a:cs typeface="Microsoft Sans Serif"/>
              </a:rPr>
              <a:t>) </a:t>
            </a:r>
            <a:r>
              <a:rPr sz="2400" spc="-10" dirty="0" err="1">
                <a:latin typeface="Microsoft Sans Serif"/>
                <a:cs typeface="Microsoft Sans Serif"/>
              </a:rPr>
              <a:t>aparecem</a:t>
            </a:r>
            <a:r>
              <a:rPr lang="pt-BR" sz="2400" spc="-1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no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145" dirty="0">
                <a:latin typeface="Microsoft Sans Serif"/>
                <a:cs typeface="Microsoft Sans Serif"/>
              </a:rPr>
              <a:t>canto </a:t>
            </a:r>
            <a:r>
              <a:rPr sz="2400" spc="-65" dirty="0">
                <a:latin typeface="Microsoft Sans Serif"/>
                <a:cs typeface="Microsoft Sans Serif"/>
              </a:rPr>
              <a:t>inferior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45" dirty="0">
                <a:latin typeface="Microsoft Sans Serif"/>
                <a:cs typeface="Microsoft Sans Serif"/>
              </a:rPr>
              <a:t>direito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da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célula.</a:t>
            </a:r>
            <a:endParaRPr sz="2400" dirty="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370385" y="1528161"/>
            <a:ext cx="5410200" cy="5305425"/>
            <a:chOff x="2514600" y="1552955"/>
            <a:chExt cx="5410200" cy="53054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05450" y="1552955"/>
              <a:ext cx="1371600" cy="48539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4600" y="1981200"/>
              <a:ext cx="524256" cy="5143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22419" y="2819398"/>
              <a:ext cx="3802379" cy="4038597"/>
            </a:xfrm>
            <a:prstGeom prst="rect">
              <a:avLst/>
            </a:prstGeom>
          </p:spPr>
        </p:pic>
      </p:grpSp>
      <p:pic>
        <p:nvPicPr>
          <p:cNvPr id="10" name="Imagem 9">
            <a:extLst>
              <a:ext uri="{FF2B5EF4-FFF2-40B4-BE49-F238E27FC236}">
                <a16:creationId xmlns:a16="http://schemas.microsoft.com/office/drawing/2014/main" id="{1457DF64-8EF5-42C7-982F-5AA2130B3A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2757327"/>
            <a:ext cx="2514600" cy="396533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200" dirty="0">
                <a:solidFill>
                  <a:srgbClr val="000000"/>
                </a:solidFill>
                <a:latin typeface="Calibri"/>
                <a:cs typeface="Calibri"/>
              </a:rPr>
              <a:t>Criando</a:t>
            </a:r>
            <a:r>
              <a:rPr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484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pc="-535" dirty="0">
                <a:solidFill>
                  <a:srgbClr val="000000"/>
                </a:solidFill>
                <a:latin typeface="Calibri"/>
                <a:cs typeface="Calibri"/>
              </a:rPr>
              <a:t>é</a:t>
            </a:r>
            <a:r>
              <a:rPr spc="-260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pc="-265" dirty="0">
                <a:solidFill>
                  <a:srgbClr val="000000"/>
                </a:solidFill>
                <a:latin typeface="Calibri"/>
                <a:cs typeface="Calibri"/>
              </a:rPr>
              <a:t>i</a:t>
            </a:r>
            <a:r>
              <a:rPr spc="-254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pc="-2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200" dirty="0">
                <a:solidFill>
                  <a:srgbClr val="000000"/>
                </a:solidFill>
                <a:latin typeface="Calibri"/>
                <a:cs typeface="Calibri"/>
              </a:rPr>
              <a:t>utilizando</a:t>
            </a: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55" dirty="0">
                <a:solidFill>
                  <a:srgbClr val="000000"/>
                </a:solidFill>
                <a:latin typeface="Calibri"/>
                <a:cs typeface="Calibri"/>
              </a:rPr>
              <a:t>f</a:t>
            </a:r>
            <a:r>
              <a:rPr spc="35" dirty="0">
                <a:solidFill>
                  <a:srgbClr val="000000"/>
                </a:solidFill>
                <a:latin typeface="Calibri"/>
                <a:cs typeface="Calibri"/>
              </a:rPr>
              <a:t>ó</a:t>
            </a:r>
            <a:r>
              <a:rPr spc="130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pc="-605" dirty="0">
                <a:solidFill>
                  <a:srgbClr val="000000"/>
                </a:solidFill>
                <a:latin typeface="Calibri"/>
                <a:cs typeface="Calibri"/>
              </a:rPr>
              <a:t>m</a:t>
            </a:r>
            <a:r>
              <a:rPr spc="-300" dirty="0">
                <a:solidFill>
                  <a:srgbClr val="000000"/>
                </a:solidFill>
                <a:latin typeface="Calibri"/>
                <a:cs typeface="Calibri"/>
              </a:rPr>
              <a:t>ula</a:t>
            </a:r>
            <a:r>
              <a:rPr spc="45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701" y="1475993"/>
            <a:ext cx="7971790" cy="257619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sz="2400" spc="-180" dirty="0">
                <a:latin typeface="Microsoft Sans Serif"/>
                <a:cs typeface="Microsoft Sans Serif"/>
              </a:rPr>
              <a:t>Imaginem</a:t>
            </a:r>
            <a:r>
              <a:rPr sz="2400" spc="-160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uma</a:t>
            </a:r>
            <a:r>
              <a:rPr sz="2400" spc="-200" dirty="0">
                <a:latin typeface="Microsoft Sans Serif"/>
                <a:cs typeface="Microsoft Sans Serif"/>
              </a:rPr>
              <a:t> </a:t>
            </a:r>
            <a:r>
              <a:rPr sz="2400" spc="-95" dirty="0">
                <a:latin typeface="Microsoft Sans Serif"/>
                <a:cs typeface="Microsoft Sans Serif"/>
              </a:rPr>
              <a:t>planilha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para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calcular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14" dirty="0">
                <a:latin typeface="Microsoft Sans Serif"/>
                <a:cs typeface="Microsoft Sans Serif"/>
              </a:rPr>
              <a:t>média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145" dirty="0">
                <a:latin typeface="Microsoft Sans Serif"/>
                <a:cs typeface="Microsoft Sans Serif"/>
              </a:rPr>
              <a:t>dos </a:t>
            </a:r>
            <a:r>
              <a:rPr sz="2400" spc="-10" dirty="0">
                <a:latin typeface="Microsoft Sans Serif"/>
                <a:cs typeface="Microsoft Sans Serif"/>
              </a:rPr>
              <a:t>alunos.</a:t>
            </a:r>
            <a:endParaRPr sz="240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sz="2400" spc="-175" dirty="0">
                <a:latin typeface="Microsoft Sans Serif"/>
                <a:cs typeface="Microsoft Sans Serif"/>
              </a:rPr>
              <a:t>Um</a:t>
            </a:r>
            <a:r>
              <a:rPr sz="2400" spc="-385" dirty="0">
                <a:latin typeface="Microsoft Sans Serif"/>
                <a:cs typeface="Microsoft Sans Serif"/>
              </a:rPr>
              <a:t> </a:t>
            </a:r>
            <a:r>
              <a:rPr sz="2400" spc="-140" dirty="0">
                <a:latin typeface="Microsoft Sans Serif"/>
                <a:cs typeface="Microsoft Sans Serif"/>
              </a:rPr>
              <a:t>professor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210" dirty="0">
                <a:latin typeface="Microsoft Sans Serif"/>
                <a:cs typeface="Microsoft Sans Serif"/>
              </a:rPr>
              <a:t>possui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200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alunos.</a:t>
            </a:r>
            <a:endParaRPr sz="2400" dirty="0">
              <a:latin typeface="Microsoft Sans Serif"/>
              <a:cs typeface="Microsoft Sans Serif"/>
            </a:endParaRPr>
          </a:p>
          <a:p>
            <a:pPr marL="332740" marR="5080" indent="-320040">
              <a:lnSpc>
                <a:spcPct val="100000"/>
              </a:lnSpc>
              <a:spcBef>
                <a:spcPts val="695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spc="-204" dirty="0">
                <a:latin typeface="Microsoft Sans Serif"/>
                <a:cs typeface="Microsoft Sans Serif"/>
              </a:rPr>
              <a:t>É</a:t>
            </a:r>
            <a:r>
              <a:rPr lang="pt-BR" sz="2400" spc="-204" dirty="0">
                <a:latin typeface="Microsoft Sans Serif"/>
                <a:cs typeface="Microsoft Sans Serif"/>
              </a:rPr>
              <a:t> </a:t>
            </a:r>
            <a:r>
              <a:rPr sz="2400" spc="-204" dirty="0" err="1">
                <a:latin typeface="Microsoft Sans Serif"/>
                <a:cs typeface="Microsoft Sans Serif"/>
              </a:rPr>
              <a:t>necessário</a:t>
            </a:r>
            <a:r>
              <a:rPr sz="2400" spc="-105" dirty="0">
                <a:latin typeface="Microsoft Sans Serif"/>
                <a:cs typeface="Microsoft Sans Serif"/>
              </a:rPr>
              <a:t> </a:t>
            </a:r>
            <a:r>
              <a:rPr sz="2400" spc="-130" dirty="0">
                <a:latin typeface="Microsoft Sans Serif"/>
                <a:cs typeface="Microsoft Sans Serif"/>
              </a:rPr>
              <a:t>inserir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fórmula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200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vezes</a:t>
            </a:r>
            <a:r>
              <a:rPr sz="2400" spc="-1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para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calcular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30" dirty="0">
                <a:latin typeface="Microsoft Sans Serif"/>
                <a:cs typeface="Microsoft Sans Serif"/>
              </a:rPr>
              <a:t>média </a:t>
            </a:r>
            <a:r>
              <a:rPr sz="2400" spc="-20" dirty="0">
                <a:latin typeface="Microsoft Sans Serif"/>
                <a:cs typeface="Microsoft Sans Serif"/>
              </a:rPr>
              <a:t>de</a:t>
            </a:r>
            <a:r>
              <a:rPr sz="2400" spc="-125" dirty="0">
                <a:latin typeface="Microsoft Sans Serif"/>
                <a:cs typeface="Microsoft Sans Serif"/>
              </a:rPr>
              <a:t> </a:t>
            </a:r>
            <a:r>
              <a:rPr sz="2400" spc="-60" dirty="0">
                <a:latin typeface="Microsoft Sans Serif"/>
                <a:cs typeface="Microsoft Sans Serif"/>
              </a:rPr>
              <a:t>cada </a:t>
            </a:r>
            <a:r>
              <a:rPr sz="2400" spc="-145" dirty="0">
                <a:latin typeface="Microsoft Sans Serif"/>
                <a:cs typeface="Microsoft Sans Serif"/>
              </a:rPr>
              <a:t>aluno</a:t>
            </a:r>
            <a:r>
              <a:rPr sz="2400" spc="-125" dirty="0">
                <a:latin typeface="Microsoft Sans Serif"/>
                <a:cs typeface="Microsoft Sans Serif"/>
              </a:rPr>
              <a:t> </a:t>
            </a:r>
            <a:r>
              <a:rPr sz="2400" spc="-470" dirty="0">
                <a:latin typeface="Microsoft Sans Serif"/>
                <a:cs typeface="Microsoft Sans Serif"/>
              </a:rPr>
              <a:t>???</a:t>
            </a:r>
            <a:endParaRPr sz="2400" dirty="0">
              <a:latin typeface="Microsoft Sans Serif"/>
              <a:cs typeface="Microsoft Sans Serif"/>
            </a:endParaRPr>
          </a:p>
          <a:p>
            <a:pPr marL="332740" marR="75565" indent="-320040">
              <a:lnSpc>
                <a:spcPct val="100000"/>
              </a:lnSpc>
              <a:spcBef>
                <a:spcPts val="70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740" algn="l"/>
                <a:tab pos="3064510" algn="l"/>
              </a:tabLst>
            </a:pPr>
            <a:r>
              <a:rPr sz="2400" spc="-110" dirty="0" err="1">
                <a:latin typeface="Microsoft Sans Serif"/>
                <a:cs typeface="Microsoft Sans Serif"/>
              </a:rPr>
              <a:t>Utilizando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a</a:t>
            </a:r>
            <a:r>
              <a:rPr lang="pt-BR" sz="2400" spc="-50" dirty="0">
                <a:latin typeface="Microsoft Sans Serif"/>
                <a:cs typeface="Microsoft Sans Serif"/>
              </a:rPr>
              <a:t> </a:t>
            </a:r>
            <a:r>
              <a:rPr sz="2400" spc="-95" dirty="0">
                <a:latin typeface="Microsoft Sans Serif"/>
                <a:cs typeface="Microsoft Sans Serif"/>
              </a:rPr>
              <a:t>(alça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165" dirty="0">
                <a:latin typeface="Microsoft Sans Serif"/>
                <a:cs typeface="Microsoft Sans Serif"/>
              </a:rPr>
              <a:t>preenchimento)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é</a:t>
            </a:r>
            <a:r>
              <a:rPr sz="2400" spc="-105" dirty="0">
                <a:latin typeface="Microsoft Sans Serif"/>
                <a:cs typeface="Microsoft Sans Serif"/>
              </a:rPr>
              <a:t> </a:t>
            </a:r>
            <a:r>
              <a:rPr sz="2400" spc="-165" dirty="0">
                <a:latin typeface="Microsoft Sans Serif"/>
                <a:cs typeface="Microsoft Sans Serif"/>
              </a:rPr>
              <a:t>possível</a:t>
            </a:r>
            <a:r>
              <a:rPr sz="2400" spc="-1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criar </a:t>
            </a:r>
            <a:r>
              <a:rPr sz="2400" spc="-180" dirty="0">
                <a:latin typeface="Microsoft Sans Serif"/>
                <a:cs typeface="Microsoft Sans Serif"/>
              </a:rPr>
              <a:t>uma</a:t>
            </a:r>
            <a:r>
              <a:rPr sz="2400" spc="-215" dirty="0">
                <a:latin typeface="Microsoft Sans Serif"/>
                <a:cs typeface="Microsoft Sans Serif"/>
              </a:rPr>
              <a:t> </a:t>
            </a:r>
            <a:r>
              <a:rPr sz="2400" spc="-135" dirty="0">
                <a:latin typeface="Microsoft Sans Serif"/>
                <a:cs typeface="Microsoft Sans Serif"/>
              </a:rPr>
              <a:t>série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que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-80" dirty="0">
                <a:latin typeface="Microsoft Sans Serif"/>
                <a:cs typeface="Microsoft Sans Serif"/>
              </a:rPr>
              <a:t>utiliza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uma</a:t>
            </a:r>
            <a:r>
              <a:rPr sz="2400" spc="-185" dirty="0">
                <a:latin typeface="Microsoft Sans Serif"/>
                <a:cs typeface="Microsoft Sans Serif"/>
              </a:rPr>
              <a:t> </a:t>
            </a:r>
            <a:r>
              <a:rPr sz="2400" spc="-105" dirty="0">
                <a:latin typeface="Microsoft Sans Serif"/>
                <a:cs typeface="Microsoft Sans Serif"/>
              </a:rPr>
              <a:t>determinada</a:t>
            </a:r>
            <a:r>
              <a:rPr sz="2400" spc="-10" dirty="0">
                <a:latin typeface="Microsoft Sans Serif"/>
                <a:cs typeface="Microsoft Sans Serif"/>
              </a:rPr>
              <a:t> fórmula.</a:t>
            </a:r>
            <a:endParaRPr sz="2400" dirty="0">
              <a:latin typeface="Microsoft Sans Serif"/>
              <a:cs typeface="Microsoft Sans Serif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327A7A3-1730-4B93-882A-992C0738F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4088681"/>
            <a:ext cx="4315431" cy="247374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855" dirty="0">
                <a:solidFill>
                  <a:srgbClr val="000000"/>
                </a:solidFill>
                <a:latin typeface="Calibri"/>
                <a:cs typeface="Calibri"/>
              </a:rPr>
              <a:t>V</a:t>
            </a:r>
            <a:r>
              <a:rPr spc="-459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pc="-450" dirty="0">
                <a:solidFill>
                  <a:srgbClr val="000000"/>
                </a:solidFill>
                <a:latin typeface="Calibri"/>
                <a:cs typeface="Calibri"/>
              </a:rPr>
              <a:t>m</a:t>
            </a:r>
            <a:r>
              <a:rPr spc="-459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pc="-3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95" dirty="0">
                <a:solidFill>
                  <a:srgbClr val="000000"/>
                </a:solidFill>
                <a:latin typeface="Calibri"/>
                <a:cs typeface="Calibri"/>
              </a:rPr>
              <a:t>Praticar!!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501" y="1604009"/>
            <a:ext cx="8023859" cy="251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95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spc="-90" dirty="0">
                <a:latin typeface="Microsoft Sans Serif"/>
                <a:cs typeface="Microsoft Sans Serif"/>
              </a:rPr>
              <a:t>Crie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-220" dirty="0">
                <a:latin typeface="Microsoft Sans Serif"/>
                <a:cs typeface="Microsoft Sans Serif"/>
              </a:rPr>
              <a:t>uma</a:t>
            </a:r>
            <a:r>
              <a:rPr sz="2000" spc="35" dirty="0">
                <a:latin typeface="Microsoft Sans Serif"/>
                <a:cs typeface="Microsoft Sans Serif"/>
              </a:rPr>
              <a:t> </a:t>
            </a:r>
            <a:r>
              <a:rPr sz="2000" spc="-150" dirty="0">
                <a:latin typeface="Microsoft Sans Serif"/>
                <a:cs typeface="Microsoft Sans Serif"/>
              </a:rPr>
              <a:t>nova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80" dirty="0">
                <a:latin typeface="Microsoft Sans Serif"/>
                <a:cs typeface="Microsoft Sans Serif"/>
              </a:rPr>
              <a:t>planilha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para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-35" dirty="0">
                <a:latin typeface="Microsoft Sans Serif"/>
                <a:cs typeface="Microsoft Sans Serif"/>
              </a:rPr>
              <a:t>realizar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130" dirty="0">
                <a:latin typeface="Microsoft Sans Serif"/>
                <a:cs typeface="Microsoft Sans Serif"/>
              </a:rPr>
              <a:t>cálculo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do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-150" dirty="0">
                <a:latin typeface="Microsoft Sans Serif"/>
                <a:cs typeface="Microsoft Sans Serif"/>
              </a:rPr>
              <a:t>aumento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-60" dirty="0">
                <a:latin typeface="Microsoft Sans Serif"/>
                <a:cs typeface="Microsoft Sans Serif"/>
              </a:rPr>
              <a:t>dos</a:t>
            </a:r>
            <a:r>
              <a:rPr sz="2000" spc="-335" dirty="0">
                <a:latin typeface="Microsoft Sans Serif"/>
                <a:cs typeface="Microsoft Sans Serif"/>
              </a:rPr>
              <a:t> </a:t>
            </a:r>
            <a:r>
              <a:rPr lang="pt-BR" sz="2000" spc="-335" dirty="0">
                <a:latin typeface="Microsoft Sans Serif"/>
                <a:cs typeface="Microsoft Sans Serif"/>
              </a:rPr>
              <a:t> </a:t>
            </a:r>
            <a:r>
              <a:rPr sz="2000" spc="-70" dirty="0" err="1">
                <a:latin typeface="Microsoft Sans Serif"/>
                <a:cs typeface="Microsoft Sans Serif"/>
              </a:rPr>
              <a:t>funcionários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spc="-35" dirty="0">
                <a:latin typeface="Microsoft Sans Serif"/>
                <a:cs typeface="Microsoft Sans Serif"/>
              </a:rPr>
              <a:t>de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-220" dirty="0">
                <a:latin typeface="Microsoft Sans Serif"/>
                <a:cs typeface="Microsoft Sans Serif"/>
              </a:rPr>
              <a:t>uma</a:t>
            </a:r>
            <a:r>
              <a:rPr sz="2000" spc="4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empresa.</a:t>
            </a:r>
            <a:endParaRPr sz="200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spc="-20" dirty="0">
                <a:latin typeface="Microsoft Sans Serif"/>
                <a:cs typeface="Microsoft Sans Serif"/>
              </a:rPr>
              <a:t>A</a:t>
            </a:r>
            <a:r>
              <a:rPr sz="2000" spc="-120" dirty="0">
                <a:latin typeface="Microsoft Sans Serif"/>
                <a:cs typeface="Microsoft Sans Serif"/>
              </a:rPr>
              <a:t> </a:t>
            </a:r>
            <a:r>
              <a:rPr sz="2000" spc="-80" dirty="0">
                <a:latin typeface="Microsoft Sans Serif"/>
                <a:cs typeface="Microsoft Sans Serif"/>
              </a:rPr>
              <a:t>planilha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100" dirty="0">
                <a:latin typeface="Microsoft Sans Serif"/>
                <a:cs typeface="Microsoft Sans Serif"/>
              </a:rPr>
              <a:t>deve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ter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105" dirty="0">
                <a:latin typeface="Microsoft Sans Serif"/>
                <a:cs typeface="Microsoft Sans Serif"/>
              </a:rPr>
              <a:t>as</a:t>
            </a:r>
            <a:r>
              <a:rPr sz="2000" spc="-145" dirty="0">
                <a:latin typeface="Microsoft Sans Serif"/>
                <a:cs typeface="Microsoft Sans Serif"/>
              </a:rPr>
              <a:t> </a:t>
            </a:r>
            <a:r>
              <a:rPr sz="2000" spc="-165" dirty="0">
                <a:latin typeface="Microsoft Sans Serif"/>
                <a:cs typeface="Microsoft Sans Serif"/>
              </a:rPr>
              <a:t>colunas:</a:t>
            </a:r>
            <a:r>
              <a:rPr sz="2000" spc="-114" dirty="0">
                <a:latin typeface="Microsoft Sans Serif"/>
                <a:cs typeface="Microsoft Sans Serif"/>
              </a:rPr>
              <a:t> </a:t>
            </a:r>
            <a:r>
              <a:rPr sz="2000" spc="-155" dirty="0">
                <a:latin typeface="Microsoft Sans Serif"/>
                <a:cs typeface="Microsoft Sans Serif"/>
              </a:rPr>
              <a:t>NOME,</a:t>
            </a:r>
            <a:r>
              <a:rPr sz="2000" spc="-125" dirty="0">
                <a:latin typeface="Microsoft Sans Serif"/>
                <a:cs typeface="Microsoft Sans Serif"/>
              </a:rPr>
              <a:t> </a:t>
            </a:r>
            <a:r>
              <a:rPr sz="2000" spc="-210" dirty="0">
                <a:latin typeface="Microsoft Sans Serif"/>
                <a:cs typeface="Microsoft Sans Serif"/>
              </a:rPr>
              <a:t>SALÁRIO,</a:t>
            </a:r>
            <a:r>
              <a:rPr sz="2000" spc="-145" dirty="0">
                <a:latin typeface="Microsoft Sans Serif"/>
                <a:cs typeface="Microsoft Sans Serif"/>
              </a:rPr>
              <a:t> </a:t>
            </a:r>
            <a:r>
              <a:rPr sz="2000" spc="-90" dirty="0">
                <a:latin typeface="Microsoft Sans Serif"/>
                <a:cs typeface="Microsoft Sans Serif"/>
              </a:rPr>
              <a:t>NOVO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-45" dirty="0">
                <a:latin typeface="Microsoft Sans Serif"/>
                <a:cs typeface="Microsoft Sans Serif"/>
              </a:rPr>
              <a:t>SALÁRIO.</a:t>
            </a:r>
            <a:endParaRPr sz="200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spc="-80" dirty="0">
                <a:latin typeface="Microsoft Sans Serif"/>
                <a:cs typeface="Microsoft Sans Serif"/>
              </a:rPr>
              <a:t>Utilize</a:t>
            </a:r>
            <a:r>
              <a:rPr sz="2000" spc="-114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125" dirty="0" err="1">
                <a:latin typeface="Microsoft Sans Serif"/>
                <a:cs typeface="Microsoft Sans Serif"/>
              </a:rPr>
              <a:t>função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60" dirty="0">
                <a:latin typeface="Microsoft Sans Serif"/>
                <a:cs typeface="Microsoft Sans Serif"/>
              </a:rPr>
              <a:t>SE</a:t>
            </a:r>
            <a:r>
              <a:rPr lang="pt-BR" sz="2000" spc="-60" dirty="0">
                <a:latin typeface="Microsoft Sans Serif"/>
                <a:cs typeface="Microsoft Sans Serif"/>
              </a:rPr>
              <a:t> </a:t>
            </a:r>
            <a:r>
              <a:rPr sz="2000" spc="-60" dirty="0">
                <a:latin typeface="Microsoft Sans Serif"/>
                <a:cs typeface="Microsoft Sans Serif"/>
              </a:rPr>
              <a:t>para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40" dirty="0">
                <a:latin typeface="Microsoft Sans Serif"/>
                <a:cs typeface="Microsoft Sans Serif"/>
              </a:rPr>
              <a:t>realizar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210" dirty="0">
                <a:latin typeface="Microsoft Sans Serif"/>
                <a:cs typeface="Microsoft Sans Serif"/>
              </a:rPr>
              <a:t>esse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cálculo.</a:t>
            </a:r>
            <a:endParaRPr sz="2000" dirty="0">
              <a:latin typeface="Microsoft Sans Serif"/>
              <a:cs typeface="Microsoft Sans Serif"/>
            </a:endParaRPr>
          </a:p>
          <a:p>
            <a:pPr marL="332740" marR="365125" indent="-320040">
              <a:lnSpc>
                <a:spcPct val="100000"/>
              </a:lnSpc>
              <a:spcBef>
                <a:spcPts val="700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spc="-155" dirty="0">
                <a:latin typeface="Microsoft Sans Serif"/>
                <a:cs typeface="Microsoft Sans Serif"/>
              </a:rPr>
              <a:t>Caso</a:t>
            </a:r>
            <a:r>
              <a:rPr sz="2000" spc="-1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spc="-70" dirty="0">
                <a:latin typeface="Microsoft Sans Serif"/>
                <a:cs typeface="Microsoft Sans Serif"/>
              </a:rPr>
              <a:t>salário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do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105" dirty="0">
                <a:latin typeface="Microsoft Sans Serif"/>
                <a:cs typeface="Microsoft Sans Serif"/>
              </a:rPr>
              <a:t>funcionário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105" dirty="0">
                <a:latin typeface="Microsoft Sans Serif"/>
                <a:cs typeface="Microsoft Sans Serif"/>
              </a:rPr>
              <a:t>seja</a:t>
            </a:r>
            <a:r>
              <a:rPr sz="2000" spc="-120" dirty="0">
                <a:latin typeface="Microsoft Sans Serif"/>
                <a:cs typeface="Microsoft Sans Serif"/>
              </a:rPr>
              <a:t> </a:t>
            </a:r>
            <a:r>
              <a:rPr sz="2000" spc="-95" dirty="0">
                <a:latin typeface="Microsoft Sans Serif"/>
                <a:cs typeface="Microsoft Sans Serif"/>
              </a:rPr>
              <a:t>maior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110" dirty="0">
                <a:latin typeface="Microsoft Sans Serif"/>
                <a:cs typeface="Microsoft Sans Serif"/>
              </a:rPr>
              <a:t>que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-85" dirty="0">
                <a:latin typeface="Microsoft Sans Serif"/>
                <a:cs typeface="Microsoft Sans Serif"/>
              </a:rPr>
              <a:t>R$1.250,00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spc="-175" dirty="0">
                <a:latin typeface="Microsoft Sans Serif"/>
                <a:cs typeface="Microsoft Sans Serif"/>
              </a:rPr>
              <a:t>seu</a:t>
            </a:r>
            <a:r>
              <a:rPr sz="2000" spc="-204" dirty="0">
                <a:latin typeface="Microsoft Sans Serif"/>
                <a:cs typeface="Microsoft Sans Serif"/>
              </a:rPr>
              <a:t> </a:t>
            </a:r>
            <a:r>
              <a:rPr sz="2000" spc="-90" dirty="0">
                <a:latin typeface="Microsoft Sans Serif"/>
                <a:cs typeface="Microsoft Sans Serif"/>
              </a:rPr>
              <a:t>aumento </a:t>
            </a:r>
            <a:r>
              <a:rPr sz="2000" spc="-80" dirty="0">
                <a:latin typeface="Microsoft Sans Serif"/>
                <a:cs typeface="Microsoft Sans Serif"/>
              </a:rPr>
              <a:t>deverá</a:t>
            </a:r>
            <a:r>
              <a:rPr sz="2000" spc="-55" dirty="0">
                <a:latin typeface="Microsoft Sans Serif"/>
                <a:cs typeface="Microsoft Sans Serif"/>
              </a:rPr>
              <a:t> </a:t>
            </a:r>
            <a:r>
              <a:rPr sz="2000" spc="-165" dirty="0">
                <a:latin typeface="Microsoft Sans Serif"/>
                <a:cs typeface="Microsoft Sans Serif"/>
              </a:rPr>
              <a:t>ser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10%.</a:t>
            </a:r>
            <a:endParaRPr sz="200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spc="-155" dirty="0">
                <a:latin typeface="Microsoft Sans Serif"/>
                <a:cs typeface="Microsoft Sans Serif"/>
              </a:rPr>
              <a:t>Caso </a:t>
            </a:r>
            <a:r>
              <a:rPr sz="2000" spc="-100" dirty="0">
                <a:latin typeface="Microsoft Sans Serif"/>
                <a:cs typeface="Microsoft Sans Serif"/>
              </a:rPr>
              <a:t>contrário,</a:t>
            </a:r>
            <a:r>
              <a:rPr sz="2000" spc="-130" dirty="0">
                <a:latin typeface="Microsoft Sans Serif"/>
                <a:cs typeface="Microsoft Sans Serif"/>
              </a:rPr>
              <a:t> </a:t>
            </a:r>
            <a:r>
              <a:rPr sz="2000" spc="-175" dirty="0">
                <a:latin typeface="Microsoft Sans Serif"/>
                <a:cs typeface="Microsoft Sans Serif"/>
              </a:rPr>
              <a:t>seu</a:t>
            </a:r>
            <a:r>
              <a:rPr sz="2000" spc="-210" dirty="0">
                <a:latin typeface="Microsoft Sans Serif"/>
                <a:cs typeface="Microsoft Sans Serif"/>
              </a:rPr>
              <a:t> </a:t>
            </a:r>
            <a:r>
              <a:rPr sz="2000" spc="-150" dirty="0">
                <a:latin typeface="Microsoft Sans Serif"/>
                <a:cs typeface="Microsoft Sans Serif"/>
              </a:rPr>
              <a:t>aumento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é</a:t>
            </a:r>
            <a:r>
              <a:rPr sz="2000" spc="-1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15%.</a:t>
            </a:r>
            <a:endParaRPr sz="2000" dirty="0">
              <a:latin typeface="Microsoft Sans Serif"/>
              <a:cs typeface="Microsoft Sans Serif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75AF41-CE38-4232-BD35-836066704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4111211"/>
            <a:ext cx="5486400" cy="250671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195" dirty="0">
                <a:solidFill>
                  <a:srgbClr val="000000"/>
                </a:solidFill>
                <a:latin typeface="Calibri"/>
                <a:cs typeface="Calibri"/>
              </a:rPr>
              <a:t>Criando</a:t>
            </a:r>
            <a:r>
              <a:rPr spc="-2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695" dirty="0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r>
              <a:rPr spc="-345" dirty="0">
                <a:solidFill>
                  <a:srgbClr val="000000"/>
                </a:solidFill>
                <a:latin typeface="Calibri"/>
                <a:cs typeface="Calibri"/>
              </a:rPr>
              <a:t>ab</a:t>
            </a:r>
            <a:r>
              <a:rPr spc="-335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-345" dirty="0">
                <a:solidFill>
                  <a:srgbClr val="000000"/>
                </a:solidFill>
                <a:latin typeface="Calibri"/>
                <a:cs typeface="Calibri"/>
              </a:rPr>
              <a:t>la</a:t>
            </a: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9339" y="1399219"/>
            <a:ext cx="7858759" cy="203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spc="-95" dirty="0">
                <a:latin typeface="Microsoft Sans Serif"/>
                <a:cs typeface="Microsoft Sans Serif"/>
              </a:rPr>
              <a:t>No</a:t>
            </a:r>
            <a:r>
              <a:rPr sz="2400" spc="-145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Excel,</a:t>
            </a:r>
            <a:r>
              <a:rPr sz="2400" spc="-170" dirty="0">
                <a:latin typeface="Microsoft Sans Serif"/>
                <a:cs typeface="Microsoft Sans Serif"/>
              </a:rPr>
              <a:t> </a:t>
            </a:r>
            <a:r>
              <a:rPr sz="2400" spc="-155" dirty="0">
                <a:latin typeface="Microsoft Sans Serif"/>
                <a:cs typeface="Microsoft Sans Serif"/>
              </a:rPr>
              <a:t>você</a:t>
            </a:r>
            <a:r>
              <a:rPr sz="2400" spc="-145" dirty="0">
                <a:latin typeface="Microsoft Sans Serif"/>
                <a:cs typeface="Microsoft Sans Serif"/>
              </a:rPr>
              <a:t> </a:t>
            </a:r>
            <a:r>
              <a:rPr sz="2400" spc="-60" dirty="0">
                <a:latin typeface="Microsoft Sans Serif"/>
                <a:cs typeface="Microsoft Sans Serif"/>
              </a:rPr>
              <a:t>pode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spc="-55" dirty="0">
                <a:latin typeface="Microsoft Sans Serif"/>
                <a:cs typeface="Microsoft Sans Serif"/>
              </a:rPr>
              <a:t>criar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uma</a:t>
            </a:r>
            <a:r>
              <a:rPr sz="2400" spc="-21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tabela</a:t>
            </a:r>
            <a:r>
              <a:rPr sz="2400" dirty="0">
                <a:latin typeface="Microsoft Sans Serif"/>
                <a:cs typeface="Microsoft Sans Serif"/>
              </a:rPr>
              <a:t> e</a:t>
            </a:r>
            <a:r>
              <a:rPr sz="2400" spc="-120" dirty="0">
                <a:latin typeface="Microsoft Sans Serif"/>
                <a:cs typeface="Microsoft Sans Serif"/>
              </a:rPr>
              <a:t> calcular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</a:t>
            </a:r>
            <a:r>
              <a:rPr sz="2400" spc="-135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analisar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os </a:t>
            </a:r>
            <a:r>
              <a:rPr sz="2400" spc="-120" dirty="0">
                <a:latin typeface="Microsoft Sans Serif"/>
                <a:cs typeface="Microsoft Sans Serif"/>
              </a:rPr>
              <a:t>dados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que</a:t>
            </a:r>
            <a:r>
              <a:rPr sz="2400" spc="-1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ela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30" dirty="0">
                <a:latin typeface="Microsoft Sans Serif"/>
                <a:cs typeface="Microsoft Sans Serif"/>
              </a:rPr>
              <a:t>contém.</a:t>
            </a:r>
            <a:endParaRPr sz="2400" dirty="0">
              <a:latin typeface="Microsoft Sans Serif"/>
              <a:cs typeface="Microsoft Sans Serif"/>
            </a:endParaRPr>
          </a:p>
          <a:p>
            <a:pPr marL="332740" marR="461009" indent="-320040">
              <a:lnSpc>
                <a:spcPct val="100000"/>
              </a:lnSpc>
              <a:spcBef>
                <a:spcPts val="70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spc="-114" dirty="0">
                <a:latin typeface="Microsoft Sans Serif"/>
                <a:cs typeface="Microsoft Sans Serif"/>
              </a:rPr>
              <a:t>Arraste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para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45" dirty="0">
                <a:latin typeface="Microsoft Sans Serif"/>
                <a:cs typeface="Microsoft Sans Serif"/>
              </a:rPr>
              <a:t>selecionar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</a:t>
            </a:r>
            <a:r>
              <a:rPr sz="2400" spc="-110" dirty="0">
                <a:latin typeface="Microsoft Sans Serif"/>
                <a:cs typeface="Microsoft Sans Serif"/>
              </a:rPr>
              <a:t> </a:t>
            </a:r>
            <a:r>
              <a:rPr sz="2400" spc="-90" dirty="0">
                <a:latin typeface="Microsoft Sans Serif"/>
                <a:cs typeface="Microsoft Sans Serif"/>
              </a:rPr>
              <a:t>intervalo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de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-165" dirty="0">
                <a:latin typeface="Microsoft Sans Serif"/>
                <a:cs typeface="Microsoft Sans Serif"/>
              </a:rPr>
              <a:t>células</a:t>
            </a:r>
            <a:r>
              <a:rPr sz="2400" spc="-1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135" dirty="0">
                <a:latin typeface="Microsoft Sans Serif"/>
                <a:cs typeface="Microsoft Sans Serif"/>
              </a:rPr>
              <a:t>ser</a:t>
            </a:r>
            <a:r>
              <a:rPr sz="2400" spc="-130" dirty="0">
                <a:latin typeface="Microsoft Sans Serif"/>
                <a:cs typeface="Microsoft Sans Serif"/>
              </a:rPr>
              <a:t> </a:t>
            </a:r>
            <a:r>
              <a:rPr sz="2400" spc="-75" dirty="0">
                <a:latin typeface="Microsoft Sans Serif"/>
                <a:cs typeface="Microsoft Sans Serif"/>
              </a:rPr>
              <a:t>usado </a:t>
            </a:r>
            <a:r>
              <a:rPr sz="2400" dirty="0">
                <a:latin typeface="Microsoft Sans Serif"/>
                <a:cs typeface="Microsoft Sans Serif"/>
              </a:rPr>
              <a:t>para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60" dirty="0">
                <a:latin typeface="Microsoft Sans Serif"/>
                <a:cs typeface="Microsoft Sans Serif"/>
              </a:rPr>
              <a:t>criar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tabela.</a:t>
            </a:r>
            <a:endParaRPr sz="240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sz="2400" spc="-135" dirty="0">
                <a:latin typeface="Microsoft Sans Serif"/>
                <a:cs typeface="Microsoft Sans Serif"/>
              </a:rPr>
              <a:t>Clique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160" dirty="0">
                <a:latin typeface="Microsoft Sans Serif"/>
                <a:cs typeface="Microsoft Sans Serif"/>
              </a:rPr>
              <a:t>em</a:t>
            </a:r>
            <a:r>
              <a:rPr sz="2400" spc="-240" dirty="0">
                <a:latin typeface="Microsoft Sans Serif"/>
                <a:cs typeface="Microsoft Sans Serif"/>
              </a:rPr>
              <a:t> </a:t>
            </a:r>
            <a:r>
              <a:rPr sz="2400" spc="-135" dirty="0">
                <a:latin typeface="Microsoft Sans Serif"/>
                <a:cs typeface="Microsoft Sans Serif"/>
              </a:rPr>
              <a:t>Tabela,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na</a:t>
            </a:r>
            <a:r>
              <a:rPr sz="2400" spc="-120" dirty="0">
                <a:latin typeface="Microsoft Sans Serif"/>
                <a:cs typeface="Microsoft Sans Serif"/>
              </a:rPr>
              <a:t> </a:t>
            </a:r>
            <a:r>
              <a:rPr sz="2400" spc="-110" dirty="0">
                <a:latin typeface="Microsoft Sans Serif"/>
                <a:cs typeface="Microsoft Sans Serif"/>
              </a:rPr>
              <a:t>opção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135" dirty="0">
                <a:latin typeface="Microsoft Sans Serif"/>
                <a:cs typeface="Microsoft Sans Serif"/>
              </a:rPr>
              <a:t>Tabela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75" dirty="0">
                <a:latin typeface="Microsoft Sans Serif"/>
                <a:cs typeface="Microsoft Sans Serif"/>
              </a:rPr>
              <a:t>guia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Inserir.</a:t>
            </a:r>
            <a:endParaRPr sz="2400" dirty="0">
              <a:latin typeface="Microsoft Sans Serif"/>
              <a:cs typeface="Microsoft Sans Serif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D58A91C-8093-448A-AC61-461E9147E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733800"/>
            <a:ext cx="6724650" cy="24288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86EE875-78FD-4A33-BF3B-5C1CED847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886200"/>
            <a:ext cx="4733925" cy="1914525"/>
          </a:xfrm>
          <a:prstGeom prst="rect">
            <a:avLst/>
          </a:prstGeom>
        </p:spPr>
      </p:pic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B1EFEAA2-71BC-4A81-BAE1-0EAC3E4DEBD8}"/>
              </a:ext>
            </a:extLst>
          </p:cNvPr>
          <p:cNvSpPr/>
          <p:nvPr/>
        </p:nvSpPr>
        <p:spPr>
          <a:xfrm>
            <a:off x="7105650" y="4948237"/>
            <a:ext cx="133350" cy="157163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195" dirty="0">
                <a:solidFill>
                  <a:srgbClr val="000000"/>
                </a:solidFill>
                <a:latin typeface="Calibri"/>
                <a:cs typeface="Calibri"/>
              </a:rPr>
              <a:t>Criando</a:t>
            </a:r>
            <a:r>
              <a:rPr spc="-2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695" dirty="0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r>
              <a:rPr spc="-345" dirty="0">
                <a:solidFill>
                  <a:srgbClr val="000000"/>
                </a:solidFill>
                <a:latin typeface="Calibri"/>
                <a:cs typeface="Calibri"/>
              </a:rPr>
              <a:t>ab</a:t>
            </a:r>
            <a:r>
              <a:rPr spc="-335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-345" dirty="0">
                <a:solidFill>
                  <a:srgbClr val="000000"/>
                </a:solidFill>
                <a:latin typeface="Calibri"/>
                <a:cs typeface="Calibri"/>
              </a:rPr>
              <a:t>la</a:t>
            </a: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701" y="1620519"/>
            <a:ext cx="68916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spc="-20" dirty="0">
                <a:latin typeface="Microsoft Sans Serif"/>
                <a:cs typeface="Microsoft Sans Serif"/>
              </a:rPr>
              <a:t>A</a:t>
            </a:r>
            <a:r>
              <a:rPr sz="2000" spc="-140" dirty="0">
                <a:latin typeface="Microsoft Sans Serif"/>
                <a:cs typeface="Microsoft Sans Serif"/>
              </a:rPr>
              <a:t> </a:t>
            </a:r>
            <a:r>
              <a:rPr sz="2000" spc="-40" dirty="0">
                <a:latin typeface="Microsoft Sans Serif"/>
                <a:cs typeface="Microsoft Sans Serif"/>
              </a:rPr>
              <a:t>caixa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spc="-45" dirty="0">
                <a:latin typeface="Microsoft Sans Serif"/>
                <a:cs typeface="Microsoft Sans Serif"/>
              </a:rPr>
              <a:t>diálogo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-40" dirty="0">
                <a:latin typeface="Microsoft Sans Serif"/>
                <a:cs typeface="Microsoft Sans Serif"/>
              </a:rPr>
              <a:t>Criar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110" dirty="0">
                <a:latin typeface="Microsoft Sans Serif"/>
                <a:cs typeface="Microsoft Sans Serif"/>
              </a:rPr>
              <a:t>Tabela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é</a:t>
            </a:r>
            <a:r>
              <a:rPr sz="2000" spc="-120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exibida.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-110" dirty="0">
                <a:latin typeface="Microsoft Sans Serif"/>
                <a:cs typeface="Microsoft Sans Serif"/>
              </a:rPr>
              <a:t>Clique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spc="-114" dirty="0">
                <a:latin typeface="Microsoft Sans Serif"/>
                <a:cs typeface="Microsoft Sans Serif"/>
              </a:rPr>
              <a:t>no</a:t>
            </a:r>
            <a:r>
              <a:rPr sz="2000" spc="-145" dirty="0">
                <a:latin typeface="Microsoft Sans Serif"/>
                <a:cs typeface="Microsoft Sans Serif"/>
              </a:rPr>
              <a:t> </a:t>
            </a:r>
            <a:r>
              <a:rPr sz="2000" spc="-60" dirty="0">
                <a:latin typeface="Microsoft Sans Serif"/>
                <a:cs typeface="Microsoft Sans Serif"/>
              </a:rPr>
              <a:t>botão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OK.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0701" y="3831335"/>
            <a:ext cx="67748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476F1E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dirty="0">
                <a:latin typeface="Microsoft Sans Serif"/>
                <a:cs typeface="Microsoft Sans Serif"/>
              </a:rPr>
              <a:t>O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75" dirty="0">
                <a:latin typeface="Microsoft Sans Serif"/>
                <a:cs typeface="Microsoft Sans Serif"/>
              </a:rPr>
              <a:t>intervalo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140" dirty="0">
                <a:latin typeface="Microsoft Sans Serif"/>
                <a:cs typeface="Microsoft Sans Serif"/>
              </a:rPr>
              <a:t>células</a:t>
            </a:r>
            <a:r>
              <a:rPr sz="2000" spc="-120" dirty="0">
                <a:latin typeface="Microsoft Sans Serif"/>
                <a:cs typeface="Microsoft Sans Serif"/>
              </a:rPr>
              <a:t> </a:t>
            </a:r>
            <a:r>
              <a:rPr sz="2000" spc="-130" dirty="0">
                <a:latin typeface="Microsoft Sans Serif"/>
                <a:cs typeface="Microsoft Sans Serif"/>
              </a:rPr>
              <a:t>selecionado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é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-105" dirty="0">
                <a:latin typeface="Microsoft Sans Serif"/>
                <a:cs typeface="Microsoft Sans Serif"/>
              </a:rPr>
              <a:t>convertido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-120" dirty="0">
                <a:latin typeface="Microsoft Sans Serif"/>
                <a:cs typeface="Microsoft Sans Serif"/>
              </a:rPr>
              <a:t>em</a:t>
            </a:r>
            <a:r>
              <a:rPr sz="2000" spc="-200" dirty="0">
                <a:latin typeface="Microsoft Sans Serif"/>
                <a:cs typeface="Microsoft Sans Serif"/>
              </a:rPr>
              <a:t> </a:t>
            </a:r>
            <a:r>
              <a:rPr sz="2000" spc="-155" dirty="0">
                <a:latin typeface="Microsoft Sans Serif"/>
                <a:cs typeface="Microsoft Sans Serif"/>
              </a:rPr>
              <a:t>uma</a:t>
            </a:r>
            <a:r>
              <a:rPr sz="2000" spc="-14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tabela.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6201DCA-5135-40AB-B3E5-4ADE68D01A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323" t="12549" b="9020"/>
          <a:stretch/>
        </p:blipFill>
        <p:spPr>
          <a:xfrm>
            <a:off x="3814761" y="1996852"/>
            <a:ext cx="2533650" cy="1905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AA0D3F2-BFFD-43CD-B419-D0C1DB671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4369603"/>
            <a:ext cx="5464033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195" dirty="0">
                <a:solidFill>
                  <a:srgbClr val="000000"/>
                </a:solidFill>
                <a:latin typeface="Calibri"/>
                <a:cs typeface="Calibri"/>
              </a:rPr>
              <a:t>Criando</a:t>
            </a:r>
            <a:r>
              <a:rPr spc="-2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695" dirty="0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r>
              <a:rPr spc="-345" dirty="0">
                <a:solidFill>
                  <a:srgbClr val="000000"/>
                </a:solidFill>
                <a:latin typeface="Calibri"/>
                <a:cs typeface="Calibri"/>
              </a:rPr>
              <a:t>ab</a:t>
            </a:r>
            <a:r>
              <a:rPr spc="-335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-345" dirty="0">
                <a:solidFill>
                  <a:srgbClr val="000000"/>
                </a:solidFill>
                <a:latin typeface="Calibri"/>
                <a:cs typeface="Calibri"/>
              </a:rPr>
              <a:t>la</a:t>
            </a: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701" y="1524507"/>
            <a:ext cx="7940040" cy="130111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sz="2400" spc="-235" dirty="0">
                <a:latin typeface="Microsoft Sans Serif"/>
                <a:cs typeface="Microsoft Sans Serif"/>
              </a:rPr>
              <a:t>Podemos</a:t>
            </a:r>
            <a:r>
              <a:rPr sz="2400" spc="-215" dirty="0">
                <a:latin typeface="Microsoft Sans Serif"/>
                <a:cs typeface="Microsoft Sans Serif"/>
              </a:rPr>
              <a:t> </a:t>
            </a:r>
            <a:r>
              <a:rPr sz="2400" spc="-55" dirty="0" err="1">
                <a:latin typeface="Microsoft Sans Serif"/>
                <a:cs typeface="Microsoft Sans Serif"/>
              </a:rPr>
              <a:t>criar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40" dirty="0">
                <a:latin typeface="Microsoft Sans Serif"/>
                <a:cs typeface="Microsoft Sans Serif"/>
              </a:rPr>
              <a:t>um</a:t>
            </a:r>
            <a:r>
              <a:rPr lang="pt-BR" sz="2400" spc="-140" dirty="0">
                <a:latin typeface="Microsoft Sans Serif"/>
                <a:cs typeface="Microsoft Sans Serif"/>
              </a:rPr>
              <a:t> </a:t>
            </a:r>
            <a:r>
              <a:rPr sz="2400" spc="-140" dirty="0" err="1">
                <a:latin typeface="Microsoft Sans Serif"/>
                <a:cs typeface="Microsoft Sans Serif"/>
              </a:rPr>
              <a:t>cabeçalho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160" dirty="0">
                <a:latin typeface="Microsoft Sans Serif"/>
                <a:cs typeface="Microsoft Sans Serif"/>
              </a:rPr>
              <a:t>em</a:t>
            </a:r>
            <a:r>
              <a:rPr sz="2400" spc="-240" dirty="0">
                <a:latin typeface="Microsoft Sans Serif"/>
                <a:cs typeface="Microsoft Sans Serif"/>
              </a:rPr>
              <a:t> </a:t>
            </a:r>
            <a:r>
              <a:rPr sz="2400" spc="-220" dirty="0">
                <a:latin typeface="Microsoft Sans Serif"/>
                <a:cs typeface="Microsoft Sans Serif"/>
              </a:rPr>
              <a:t>nossa</a:t>
            </a:r>
            <a:r>
              <a:rPr sz="2400" spc="-20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tabela.</a:t>
            </a:r>
            <a:endParaRPr sz="2400" dirty="0">
              <a:latin typeface="Microsoft Sans Serif"/>
              <a:cs typeface="Microsoft Sans Serif"/>
            </a:endParaRPr>
          </a:p>
          <a:p>
            <a:pPr marL="332740" marR="5080" indent="-320040">
              <a:lnSpc>
                <a:spcPct val="100000"/>
              </a:lnSpc>
              <a:spcBef>
                <a:spcPts val="705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spc="-155" dirty="0">
                <a:latin typeface="Microsoft Sans Serif"/>
                <a:cs typeface="Microsoft Sans Serif"/>
              </a:rPr>
              <a:t>Inicialmente</a:t>
            </a:r>
            <a:r>
              <a:rPr sz="2400" spc="-125" dirty="0">
                <a:latin typeface="Microsoft Sans Serif"/>
                <a:cs typeface="Microsoft Sans Serif"/>
              </a:rPr>
              <a:t> </a:t>
            </a:r>
            <a:r>
              <a:rPr sz="2400" spc="-130" dirty="0">
                <a:latin typeface="Microsoft Sans Serif"/>
                <a:cs typeface="Microsoft Sans Serif"/>
              </a:rPr>
              <a:t>insira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nas</a:t>
            </a:r>
            <a:r>
              <a:rPr sz="2400" spc="-175" dirty="0">
                <a:latin typeface="Microsoft Sans Serif"/>
                <a:cs typeface="Microsoft Sans Serif"/>
              </a:rPr>
              <a:t> </a:t>
            </a:r>
            <a:r>
              <a:rPr sz="2400" spc="-195" dirty="0">
                <a:latin typeface="Microsoft Sans Serif"/>
                <a:cs typeface="Microsoft Sans Serif"/>
              </a:rPr>
              <a:t>colunas</a:t>
            </a:r>
            <a:r>
              <a:rPr sz="2400" spc="-150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que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110" dirty="0">
                <a:latin typeface="Microsoft Sans Serif"/>
                <a:cs typeface="Microsoft Sans Serif"/>
              </a:rPr>
              <a:t>desejar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140" dirty="0">
                <a:latin typeface="Microsoft Sans Serif"/>
                <a:cs typeface="Microsoft Sans Serif"/>
              </a:rPr>
              <a:t>cabeçalho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para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a </a:t>
            </a:r>
            <a:r>
              <a:rPr sz="2400" spc="-10" dirty="0">
                <a:latin typeface="Microsoft Sans Serif"/>
                <a:cs typeface="Microsoft Sans Serif"/>
              </a:rPr>
              <a:t>tabela.</a:t>
            </a:r>
            <a:endParaRPr sz="2400" dirty="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10584" y="2667000"/>
            <a:ext cx="6158230" cy="3896360"/>
            <a:chOff x="3910584" y="2667000"/>
            <a:chExt cx="6158230" cy="38963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0584" y="2667000"/>
              <a:ext cx="4181856" cy="11193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200" y="4953000"/>
              <a:ext cx="2644140" cy="16002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934200" y="5181600"/>
              <a:ext cx="3124200" cy="1371600"/>
            </a:xfrm>
            <a:custGeom>
              <a:avLst/>
              <a:gdLst/>
              <a:ahLst/>
              <a:cxnLst/>
              <a:rect l="l" t="t" r="r" b="b"/>
              <a:pathLst>
                <a:path w="3124200" h="1371600">
                  <a:moveTo>
                    <a:pt x="3124200" y="0"/>
                  </a:moveTo>
                  <a:lnTo>
                    <a:pt x="747014" y="0"/>
                  </a:lnTo>
                  <a:lnTo>
                    <a:pt x="747014" y="514350"/>
                  </a:lnTo>
                  <a:lnTo>
                    <a:pt x="342900" y="514350"/>
                  </a:lnTo>
                  <a:lnTo>
                    <a:pt x="342900" y="342900"/>
                  </a:lnTo>
                  <a:lnTo>
                    <a:pt x="0" y="685800"/>
                  </a:lnTo>
                  <a:lnTo>
                    <a:pt x="342900" y="1028700"/>
                  </a:lnTo>
                  <a:lnTo>
                    <a:pt x="342900" y="857250"/>
                  </a:lnTo>
                  <a:lnTo>
                    <a:pt x="747014" y="857250"/>
                  </a:lnTo>
                  <a:lnTo>
                    <a:pt x="747014" y="1371600"/>
                  </a:lnTo>
                  <a:lnTo>
                    <a:pt x="3124200" y="1371600"/>
                  </a:lnTo>
                  <a:lnTo>
                    <a:pt x="312420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934581" y="5181980"/>
              <a:ext cx="3124200" cy="1371600"/>
            </a:xfrm>
            <a:custGeom>
              <a:avLst/>
              <a:gdLst/>
              <a:ahLst/>
              <a:cxnLst/>
              <a:rect l="l" t="t" r="r" b="b"/>
              <a:pathLst>
                <a:path w="3124200" h="1371600">
                  <a:moveTo>
                    <a:pt x="0" y="685800"/>
                  </a:moveTo>
                  <a:lnTo>
                    <a:pt x="342900" y="342900"/>
                  </a:lnTo>
                  <a:lnTo>
                    <a:pt x="342900" y="514350"/>
                  </a:lnTo>
                  <a:lnTo>
                    <a:pt x="747014" y="514350"/>
                  </a:lnTo>
                  <a:lnTo>
                    <a:pt x="747014" y="0"/>
                  </a:lnTo>
                  <a:lnTo>
                    <a:pt x="3124200" y="0"/>
                  </a:lnTo>
                  <a:lnTo>
                    <a:pt x="3124200" y="1371600"/>
                  </a:lnTo>
                  <a:lnTo>
                    <a:pt x="747014" y="1371600"/>
                  </a:lnTo>
                  <a:lnTo>
                    <a:pt x="747014" y="857250"/>
                  </a:lnTo>
                  <a:lnTo>
                    <a:pt x="342900" y="857250"/>
                  </a:lnTo>
                  <a:lnTo>
                    <a:pt x="342900" y="1028700"/>
                  </a:lnTo>
                  <a:lnTo>
                    <a:pt x="0" y="685800"/>
                  </a:lnTo>
                  <a:close/>
                </a:path>
              </a:pathLst>
            </a:custGeom>
            <a:ln w="19050">
              <a:solidFill>
                <a:srgbClr val="6A96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060701" y="3876802"/>
            <a:ext cx="8014970" cy="2560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spc="-175" dirty="0">
                <a:latin typeface="Microsoft Sans Serif"/>
                <a:cs typeface="Microsoft Sans Serif"/>
              </a:rPr>
              <a:t>Selecione</a:t>
            </a:r>
            <a:r>
              <a:rPr sz="2400" spc="-1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</a:t>
            </a:r>
            <a:r>
              <a:rPr sz="2400" spc="-160" dirty="0">
                <a:latin typeface="Microsoft Sans Serif"/>
                <a:cs typeface="Microsoft Sans Serif"/>
              </a:rPr>
              <a:t> </a:t>
            </a:r>
            <a:r>
              <a:rPr sz="2400" spc="-90" dirty="0">
                <a:latin typeface="Microsoft Sans Serif"/>
                <a:cs typeface="Microsoft Sans Serif"/>
              </a:rPr>
              <a:t>intervalo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</a:t>
            </a:r>
            <a:r>
              <a:rPr sz="2400" spc="-160" dirty="0">
                <a:latin typeface="Microsoft Sans Serif"/>
                <a:cs typeface="Microsoft Sans Serif"/>
              </a:rPr>
              <a:t> células</a:t>
            </a:r>
            <a:r>
              <a:rPr sz="2400" spc="-135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que </a:t>
            </a:r>
            <a:r>
              <a:rPr sz="2400" dirty="0">
                <a:latin typeface="Microsoft Sans Serif"/>
                <a:cs typeface="Microsoft Sans Serif"/>
              </a:rPr>
              <a:t>farão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parte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-175" dirty="0">
                <a:latin typeface="Microsoft Sans Serif"/>
                <a:cs typeface="Microsoft Sans Serif"/>
              </a:rPr>
              <a:t>sua</a:t>
            </a:r>
            <a:r>
              <a:rPr sz="2400" spc="-21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tabela </a:t>
            </a:r>
            <a:r>
              <a:rPr sz="2400" spc="-20" dirty="0">
                <a:latin typeface="Microsoft Sans Serif"/>
                <a:cs typeface="Microsoft Sans Serif"/>
              </a:rPr>
              <a:t>e</a:t>
            </a:r>
            <a:r>
              <a:rPr sz="2400" spc="-240" dirty="0">
                <a:latin typeface="Microsoft Sans Serif"/>
                <a:cs typeface="Microsoft Sans Serif"/>
              </a:rPr>
              <a:t> </a:t>
            </a:r>
            <a:r>
              <a:rPr sz="2400" spc="-130" dirty="0">
                <a:latin typeface="Microsoft Sans Serif"/>
                <a:cs typeface="Microsoft Sans Serif"/>
              </a:rPr>
              <a:t>clique</a:t>
            </a:r>
            <a:r>
              <a:rPr sz="2400" spc="-195" dirty="0">
                <a:latin typeface="Microsoft Sans Serif"/>
                <a:cs typeface="Microsoft Sans Serif"/>
              </a:rPr>
              <a:t> </a:t>
            </a:r>
            <a:r>
              <a:rPr sz="2400" spc="-130" dirty="0">
                <a:latin typeface="Microsoft Sans Serif"/>
                <a:cs typeface="Microsoft Sans Serif"/>
              </a:rPr>
              <a:t>no</a:t>
            </a:r>
            <a:r>
              <a:rPr sz="2400" spc="-390" dirty="0">
                <a:latin typeface="Microsoft Sans Serif"/>
                <a:cs typeface="Microsoft Sans Serif"/>
              </a:rPr>
              <a:t> </a:t>
            </a:r>
            <a:r>
              <a:rPr sz="2400" spc="-160" dirty="0">
                <a:latin typeface="Microsoft Sans Serif"/>
                <a:cs typeface="Microsoft Sans Serif"/>
              </a:rPr>
              <a:t>ícone</a:t>
            </a:r>
            <a:r>
              <a:rPr sz="2400" spc="-305" dirty="0">
                <a:latin typeface="Microsoft Sans Serif"/>
                <a:cs typeface="Microsoft Sans Serif"/>
              </a:rPr>
              <a:t> </a:t>
            </a:r>
            <a:r>
              <a:rPr sz="2400" b="1" spc="-175" dirty="0">
                <a:latin typeface="Arial"/>
                <a:cs typeface="Arial"/>
              </a:rPr>
              <a:t>Tabela</a:t>
            </a:r>
            <a:r>
              <a:rPr sz="2400" spc="-175" dirty="0">
                <a:latin typeface="Microsoft Sans Serif"/>
                <a:cs typeface="Microsoft Sans Serif"/>
              </a:rPr>
              <a:t>,</a:t>
            </a:r>
            <a:r>
              <a:rPr sz="2400" spc="-270" dirty="0">
                <a:latin typeface="Microsoft Sans Serif"/>
                <a:cs typeface="Microsoft Sans Serif"/>
              </a:rPr>
              <a:t> </a:t>
            </a:r>
            <a:r>
              <a:rPr sz="2400" spc="-185" dirty="0">
                <a:latin typeface="Microsoft Sans Serif"/>
                <a:cs typeface="Microsoft Sans Serif"/>
              </a:rPr>
              <a:t>semelhante</a:t>
            </a:r>
            <a:r>
              <a:rPr sz="2400" spc="-310" dirty="0">
                <a:latin typeface="Microsoft Sans Serif"/>
                <a:cs typeface="Microsoft Sans Serif"/>
              </a:rPr>
              <a:t> </a:t>
            </a:r>
            <a:r>
              <a:rPr sz="2400" spc="-65" dirty="0">
                <a:latin typeface="Microsoft Sans Serif"/>
                <a:cs typeface="Microsoft Sans Serif"/>
              </a:rPr>
              <a:t>ao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que</a:t>
            </a:r>
            <a:r>
              <a:rPr sz="2400" spc="-2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fizemos </a:t>
            </a:r>
            <a:r>
              <a:rPr sz="2400" spc="-60" dirty="0">
                <a:latin typeface="Microsoft Sans Serif"/>
                <a:cs typeface="Microsoft Sans Serif"/>
              </a:rPr>
              <a:t>anteriormente.</a:t>
            </a:r>
            <a:endParaRPr sz="2400" dirty="0">
              <a:latin typeface="Microsoft Sans Serif"/>
              <a:cs typeface="Microsoft Sans Serif"/>
            </a:endParaRPr>
          </a:p>
          <a:p>
            <a:pPr marL="5804535" marR="170180" indent="-8890" algn="ctr">
              <a:lnSpc>
                <a:spcPct val="100000"/>
              </a:lnSpc>
              <a:spcBef>
                <a:spcPts val="2680"/>
              </a:spcBef>
            </a:pPr>
            <a:r>
              <a:rPr sz="1800" b="1" spc="-95" dirty="0">
                <a:solidFill>
                  <a:srgbClr val="FFFFFF"/>
                </a:solidFill>
                <a:latin typeface="Arial"/>
                <a:cs typeface="Arial"/>
              </a:rPr>
              <a:t>MARQUE</a:t>
            </a:r>
            <a:r>
              <a:rPr lang="pt-BR" sz="1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b="1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OPÇÃO </a:t>
            </a:r>
            <a:r>
              <a:rPr sz="1800" b="1" spc="-80" dirty="0">
                <a:solidFill>
                  <a:srgbClr val="FFFFFF"/>
                </a:solidFill>
                <a:latin typeface="Arial"/>
                <a:cs typeface="Arial"/>
              </a:rPr>
              <a:t>“MINHA</a:t>
            </a:r>
            <a:r>
              <a:rPr sz="1800" b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09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b="1" spc="-36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800" b="1" spc="-35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800" b="1" spc="-35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b="1" spc="-165" dirty="0">
                <a:solidFill>
                  <a:srgbClr val="FFFFFF"/>
                </a:solidFill>
                <a:latin typeface="Arial"/>
                <a:cs typeface="Arial"/>
              </a:rPr>
              <a:t> TEM </a:t>
            </a:r>
            <a:r>
              <a:rPr sz="1800" b="1" spc="-215" dirty="0">
                <a:solidFill>
                  <a:srgbClr val="FFFFFF"/>
                </a:solidFill>
                <a:latin typeface="Arial"/>
                <a:cs typeface="Arial"/>
              </a:rPr>
              <a:t>CABEÇALHOS”</a:t>
            </a:r>
            <a:r>
              <a:rPr sz="1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CLIQUE</a:t>
            </a:r>
            <a:r>
              <a:rPr lang="pt-BR" sz="1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OK.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5EFDF05-FCEA-4D88-974B-71F005122F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2323" t="12549" b="9020"/>
          <a:stretch/>
        </p:blipFill>
        <p:spPr>
          <a:xfrm>
            <a:off x="4170045" y="4837557"/>
            <a:ext cx="2741295" cy="1905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BA65588-327F-4938-96F5-C0CE4921F4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90" y="2625525"/>
            <a:ext cx="4352587" cy="129142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150" y="315468"/>
            <a:ext cx="40201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4" dirty="0">
                <a:solidFill>
                  <a:srgbClr val="000000"/>
                </a:solidFill>
                <a:latin typeface="Calibri"/>
                <a:cs typeface="Calibri"/>
              </a:rPr>
              <a:t>Classificação</a:t>
            </a:r>
            <a:r>
              <a:rPr spc="-2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pc="-2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50" dirty="0">
                <a:solidFill>
                  <a:srgbClr val="000000"/>
                </a:solidFill>
                <a:latin typeface="Calibri"/>
                <a:cs typeface="Calibri"/>
              </a:rPr>
              <a:t>Filtro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701" y="1557020"/>
            <a:ext cx="795845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spc="-55" dirty="0">
                <a:latin typeface="Microsoft Sans Serif"/>
                <a:cs typeface="Microsoft Sans Serif"/>
              </a:rPr>
              <a:t>Você</a:t>
            </a:r>
            <a:r>
              <a:rPr sz="2400" spc="1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pode</a:t>
            </a:r>
            <a:r>
              <a:rPr sz="2400" spc="275" dirty="0">
                <a:latin typeface="Microsoft Sans Serif"/>
                <a:cs typeface="Microsoft Sans Serif"/>
              </a:rPr>
              <a:t> </a:t>
            </a:r>
            <a:r>
              <a:rPr sz="2400" spc="-70" dirty="0">
                <a:latin typeface="Microsoft Sans Serif"/>
                <a:cs typeface="Microsoft Sans Serif"/>
              </a:rPr>
              <a:t>classificar</a:t>
            </a:r>
            <a:r>
              <a:rPr sz="2400" spc="2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dados</a:t>
            </a:r>
            <a:r>
              <a:rPr sz="2400" spc="2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por</a:t>
            </a:r>
            <a:r>
              <a:rPr sz="2400" spc="3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texto</a:t>
            </a:r>
            <a:r>
              <a:rPr sz="2400" spc="2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(A</a:t>
            </a:r>
            <a:r>
              <a:rPr sz="2400" spc="2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3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Z</a:t>
            </a:r>
            <a:r>
              <a:rPr sz="2400" spc="1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ou</a:t>
            </a:r>
            <a:r>
              <a:rPr sz="2400" spc="1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Z</a:t>
            </a:r>
            <a:r>
              <a:rPr sz="2400" spc="114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33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A), </a:t>
            </a:r>
            <a:r>
              <a:rPr sz="2400" spc="-225" dirty="0">
                <a:latin typeface="Microsoft Sans Serif"/>
                <a:cs typeface="Microsoft Sans Serif"/>
              </a:rPr>
              <a:t>números</a:t>
            </a:r>
            <a:r>
              <a:rPr sz="2400" spc="65" dirty="0">
                <a:latin typeface="Microsoft Sans Serif"/>
                <a:cs typeface="Microsoft Sans Serif"/>
              </a:rPr>
              <a:t> </a:t>
            </a:r>
            <a:r>
              <a:rPr sz="2400" spc="-105" dirty="0">
                <a:latin typeface="Microsoft Sans Serif"/>
                <a:cs typeface="Microsoft Sans Serif"/>
              </a:rPr>
              <a:t>(dos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-195" dirty="0">
                <a:latin typeface="Microsoft Sans Serif"/>
                <a:cs typeface="Microsoft Sans Serif"/>
              </a:rPr>
              <a:t>menores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para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os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30" dirty="0">
                <a:latin typeface="Microsoft Sans Serif"/>
                <a:cs typeface="Microsoft Sans Serif"/>
              </a:rPr>
              <a:t>maiores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ou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70" dirty="0">
                <a:latin typeface="Microsoft Sans Serif"/>
                <a:cs typeface="Microsoft Sans Serif"/>
              </a:rPr>
              <a:t>dos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130" dirty="0">
                <a:latin typeface="Microsoft Sans Serif"/>
                <a:cs typeface="Microsoft Sans Serif"/>
              </a:rPr>
              <a:t>maiores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para </a:t>
            </a:r>
            <a:r>
              <a:rPr sz="2400" dirty="0">
                <a:latin typeface="Microsoft Sans Serif"/>
                <a:cs typeface="Microsoft Sans Serif"/>
              </a:rPr>
              <a:t>os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65" dirty="0">
                <a:latin typeface="Microsoft Sans Serif"/>
                <a:cs typeface="Microsoft Sans Serif"/>
              </a:rPr>
              <a:t>menores)</a:t>
            </a:r>
            <a:r>
              <a:rPr sz="2400" spc="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</a:t>
            </a:r>
            <a:r>
              <a:rPr sz="2400" spc="1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datas</a:t>
            </a:r>
            <a:r>
              <a:rPr sz="2400" spc="1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</a:t>
            </a:r>
            <a:r>
              <a:rPr sz="2400" spc="130" dirty="0">
                <a:latin typeface="Microsoft Sans Serif"/>
                <a:cs typeface="Microsoft Sans Serif"/>
              </a:rPr>
              <a:t> </a:t>
            </a:r>
            <a:r>
              <a:rPr sz="2400" spc="-75" dirty="0">
                <a:latin typeface="Microsoft Sans Serif"/>
                <a:cs typeface="Microsoft Sans Serif"/>
              </a:rPr>
              <a:t>horas</a:t>
            </a:r>
            <a:r>
              <a:rPr sz="2400" spc="1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(da</a:t>
            </a:r>
            <a:r>
              <a:rPr sz="2400" spc="204" dirty="0">
                <a:latin typeface="Microsoft Sans Serif"/>
                <a:cs typeface="Microsoft Sans Serif"/>
              </a:rPr>
              <a:t> </a:t>
            </a:r>
            <a:r>
              <a:rPr sz="2400" spc="-70" dirty="0">
                <a:latin typeface="Microsoft Sans Serif"/>
                <a:cs typeface="Microsoft Sans Serif"/>
              </a:rPr>
              <a:t>mais</a:t>
            </a:r>
            <a:r>
              <a:rPr sz="2400" spc="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antiga</a:t>
            </a:r>
            <a:r>
              <a:rPr sz="2400" spc="1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para</a:t>
            </a:r>
            <a:r>
              <a:rPr sz="2400" spc="229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</a:t>
            </a:r>
            <a:r>
              <a:rPr sz="2400" spc="130" dirty="0">
                <a:latin typeface="Microsoft Sans Serif"/>
                <a:cs typeface="Microsoft Sans Serif"/>
              </a:rPr>
              <a:t> </a:t>
            </a:r>
            <a:r>
              <a:rPr sz="2400" spc="-65" dirty="0">
                <a:latin typeface="Microsoft Sans Serif"/>
                <a:cs typeface="Microsoft Sans Serif"/>
              </a:rPr>
              <a:t>mais </a:t>
            </a:r>
            <a:r>
              <a:rPr sz="2400" spc="-50" dirty="0">
                <a:latin typeface="Microsoft Sans Serif"/>
                <a:cs typeface="Microsoft Sans Serif"/>
              </a:rPr>
              <a:t>nova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da</a:t>
            </a:r>
            <a:r>
              <a:rPr sz="2400" spc="150" dirty="0">
                <a:latin typeface="Microsoft Sans Serif"/>
                <a:cs typeface="Microsoft Sans Serif"/>
              </a:rPr>
              <a:t> </a:t>
            </a:r>
            <a:r>
              <a:rPr sz="2400" spc="-125" dirty="0">
                <a:latin typeface="Microsoft Sans Serif"/>
                <a:cs typeface="Microsoft Sans Serif"/>
              </a:rPr>
              <a:t>mais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nova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para</a:t>
            </a:r>
            <a:r>
              <a:rPr sz="2400" spc="1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14" dirty="0">
                <a:latin typeface="Microsoft Sans Serif"/>
                <a:cs typeface="Microsoft Sans Serif"/>
              </a:rPr>
              <a:t>mais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antiga)</a:t>
            </a:r>
            <a:r>
              <a:rPr sz="2400" spc="10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em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uma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ou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-60" dirty="0">
                <a:latin typeface="Microsoft Sans Serif"/>
                <a:cs typeface="Microsoft Sans Serif"/>
              </a:rPr>
              <a:t>mais </a:t>
            </a:r>
            <a:r>
              <a:rPr sz="2400" spc="-65" dirty="0">
                <a:latin typeface="Microsoft Sans Serif"/>
                <a:cs typeface="Microsoft Sans Serif"/>
              </a:rPr>
              <a:t>colunas.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8942" y="3886200"/>
            <a:ext cx="2514600" cy="216027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01A616F-6F8C-4E92-9DFF-89DB71112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3800769"/>
            <a:ext cx="3161156" cy="233113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265" dirty="0">
                <a:solidFill>
                  <a:srgbClr val="000000"/>
                </a:solidFill>
                <a:latin typeface="Calibri"/>
                <a:cs typeface="Calibri"/>
              </a:rPr>
              <a:t>Classificação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9339" y="1367820"/>
            <a:ext cx="6335395" cy="90424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1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sz="2400" spc="-130" dirty="0">
                <a:latin typeface="Microsoft Sans Serif"/>
                <a:cs typeface="Microsoft Sans Serif"/>
              </a:rPr>
              <a:t>Para</a:t>
            </a:r>
            <a:r>
              <a:rPr sz="2400" spc="-140" dirty="0">
                <a:latin typeface="Microsoft Sans Serif"/>
                <a:cs typeface="Microsoft Sans Serif"/>
              </a:rPr>
              <a:t> </a:t>
            </a:r>
            <a:r>
              <a:rPr sz="2400" spc="-130" dirty="0">
                <a:latin typeface="Microsoft Sans Serif"/>
                <a:cs typeface="Microsoft Sans Serif"/>
              </a:rPr>
              <a:t>classificar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160" dirty="0">
                <a:latin typeface="Microsoft Sans Serif"/>
                <a:cs typeface="Microsoft Sans Serif"/>
              </a:rPr>
              <a:t>os</a:t>
            </a:r>
            <a:r>
              <a:rPr sz="2400" spc="-235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dados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uma</a:t>
            </a:r>
            <a:r>
              <a:rPr sz="2400" spc="-204" dirty="0">
                <a:latin typeface="Microsoft Sans Serif"/>
                <a:cs typeface="Microsoft Sans Serif"/>
              </a:rPr>
              <a:t> </a:t>
            </a:r>
            <a:r>
              <a:rPr sz="2400" spc="-90" dirty="0">
                <a:latin typeface="Microsoft Sans Serif"/>
                <a:cs typeface="Microsoft Sans Serif"/>
              </a:rPr>
              <a:t>planilha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basta:</a:t>
            </a:r>
            <a:endParaRPr sz="24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  <a:tabLst>
                <a:tab pos="468630" algn="l"/>
              </a:tabLst>
            </a:pPr>
            <a:r>
              <a:rPr sz="1250" spc="-25" dirty="0">
                <a:solidFill>
                  <a:srgbClr val="476F1E"/>
                </a:solidFill>
                <a:latin typeface="Microsoft Sans Serif"/>
                <a:cs typeface="Microsoft Sans Serif"/>
              </a:rPr>
              <a:t>1.</a:t>
            </a:r>
            <a:r>
              <a:rPr sz="1250" dirty="0">
                <a:solidFill>
                  <a:srgbClr val="476F1E"/>
                </a:solidFill>
                <a:latin typeface="Microsoft Sans Serif"/>
                <a:cs typeface="Microsoft Sans Serif"/>
              </a:rPr>
              <a:t>	</a:t>
            </a:r>
            <a:r>
              <a:rPr sz="2100" spc="-120" dirty="0">
                <a:latin typeface="Microsoft Sans Serif"/>
                <a:cs typeface="Microsoft Sans Serif"/>
              </a:rPr>
              <a:t>Selecionar</a:t>
            </a:r>
            <a:r>
              <a:rPr sz="2100" spc="-14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o</a:t>
            </a:r>
            <a:r>
              <a:rPr sz="2100" spc="-85" dirty="0">
                <a:latin typeface="Microsoft Sans Serif"/>
                <a:cs typeface="Microsoft Sans Serif"/>
              </a:rPr>
              <a:t> </a:t>
            </a:r>
            <a:r>
              <a:rPr sz="2100" spc="-75" dirty="0">
                <a:latin typeface="Microsoft Sans Serif"/>
                <a:cs typeface="Microsoft Sans Serif"/>
              </a:rPr>
              <a:t>intervalo</a:t>
            </a:r>
            <a:r>
              <a:rPr sz="2100" spc="-5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de</a:t>
            </a:r>
            <a:r>
              <a:rPr sz="2100" spc="-45" dirty="0">
                <a:latin typeface="Microsoft Sans Serif"/>
                <a:cs typeface="Microsoft Sans Serif"/>
              </a:rPr>
              <a:t> </a:t>
            </a:r>
            <a:r>
              <a:rPr sz="2100" spc="-130" dirty="0">
                <a:latin typeface="Microsoft Sans Serif"/>
                <a:cs typeface="Microsoft Sans Serif"/>
              </a:rPr>
              <a:t>células</a:t>
            </a:r>
            <a:r>
              <a:rPr sz="2100" spc="-135" dirty="0">
                <a:latin typeface="Microsoft Sans Serif"/>
                <a:cs typeface="Microsoft Sans Serif"/>
              </a:rPr>
              <a:t> </a:t>
            </a:r>
            <a:r>
              <a:rPr sz="2100" spc="-85" dirty="0">
                <a:latin typeface="Microsoft Sans Serif"/>
                <a:cs typeface="Microsoft Sans Serif"/>
              </a:rPr>
              <a:t>que</a:t>
            </a:r>
            <a:r>
              <a:rPr sz="2100" spc="-90" dirty="0">
                <a:latin typeface="Microsoft Sans Serif"/>
                <a:cs typeface="Microsoft Sans Serif"/>
              </a:rPr>
              <a:t> </a:t>
            </a:r>
            <a:r>
              <a:rPr sz="2100" spc="-95" dirty="0">
                <a:latin typeface="Microsoft Sans Serif"/>
                <a:cs typeface="Microsoft Sans Serif"/>
              </a:rPr>
              <a:t>deseja</a:t>
            </a:r>
            <a:r>
              <a:rPr sz="2100" spc="-110" dirty="0">
                <a:latin typeface="Microsoft Sans Serif"/>
                <a:cs typeface="Microsoft Sans Serif"/>
              </a:rPr>
              <a:t> </a:t>
            </a:r>
            <a:r>
              <a:rPr sz="2100" spc="-80" dirty="0">
                <a:latin typeface="Microsoft Sans Serif"/>
                <a:cs typeface="Microsoft Sans Serif"/>
              </a:rPr>
              <a:t>classificar;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7956" y="3972139"/>
            <a:ext cx="788035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tabLst>
                <a:tab pos="468630" algn="l"/>
              </a:tabLst>
            </a:pPr>
            <a:r>
              <a:rPr sz="1250" spc="-25" dirty="0">
                <a:solidFill>
                  <a:srgbClr val="476F1E"/>
                </a:solidFill>
                <a:latin typeface="Microsoft Sans Serif"/>
                <a:cs typeface="Microsoft Sans Serif"/>
              </a:rPr>
              <a:t>2.</a:t>
            </a:r>
            <a:r>
              <a:rPr sz="1250" dirty="0">
                <a:solidFill>
                  <a:srgbClr val="476F1E"/>
                </a:solidFill>
                <a:latin typeface="Microsoft Sans Serif"/>
                <a:cs typeface="Microsoft Sans Serif"/>
              </a:rPr>
              <a:t>	</a:t>
            </a:r>
            <a:r>
              <a:rPr sz="2100" spc="-35" dirty="0">
                <a:latin typeface="Microsoft Sans Serif"/>
                <a:cs typeface="Microsoft Sans Serif"/>
              </a:rPr>
              <a:t>Clicar</a:t>
            </a:r>
            <a:r>
              <a:rPr sz="2100" spc="114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no</a:t>
            </a:r>
            <a:r>
              <a:rPr sz="2100" spc="50" dirty="0">
                <a:latin typeface="Microsoft Sans Serif"/>
                <a:cs typeface="Microsoft Sans Serif"/>
              </a:rPr>
              <a:t> </a:t>
            </a:r>
            <a:r>
              <a:rPr sz="2100" spc="-70" dirty="0">
                <a:latin typeface="Microsoft Sans Serif"/>
                <a:cs typeface="Microsoft Sans Serif"/>
              </a:rPr>
              <a:t>ícone</a:t>
            </a:r>
            <a:r>
              <a:rPr sz="2100" spc="70" dirty="0">
                <a:latin typeface="Microsoft Sans Serif"/>
                <a:cs typeface="Microsoft Sans Serif"/>
              </a:rPr>
              <a:t> </a:t>
            </a:r>
            <a:r>
              <a:rPr sz="2100" spc="-80" dirty="0">
                <a:latin typeface="Microsoft Sans Serif"/>
                <a:cs typeface="Microsoft Sans Serif"/>
              </a:rPr>
              <a:t>Classificar</a:t>
            </a:r>
            <a:r>
              <a:rPr sz="2100" spc="10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e</a:t>
            </a:r>
            <a:r>
              <a:rPr sz="2100" spc="114" dirty="0">
                <a:latin typeface="Microsoft Sans Serif"/>
                <a:cs typeface="Microsoft Sans Serif"/>
              </a:rPr>
              <a:t> </a:t>
            </a:r>
            <a:r>
              <a:rPr sz="2100" spc="-55" dirty="0">
                <a:latin typeface="Microsoft Sans Serif"/>
                <a:cs typeface="Microsoft Sans Serif"/>
              </a:rPr>
              <a:t>Filtrar,</a:t>
            </a:r>
            <a:r>
              <a:rPr sz="2100" spc="125" dirty="0">
                <a:latin typeface="Microsoft Sans Serif"/>
                <a:cs typeface="Microsoft Sans Serif"/>
              </a:rPr>
              <a:t> </a:t>
            </a:r>
            <a:r>
              <a:rPr sz="2100" spc="-80" dirty="0" err="1">
                <a:latin typeface="Microsoft Sans Serif"/>
                <a:cs typeface="Microsoft Sans Serif"/>
              </a:rPr>
              <a:t>presente</a:t>
            </a:r>
            <a:r>
              <a:rPr sz="2100" spc="90" dirty="0">
                <a:latin typeface="Microsoft Sans Serif"/>
                <a:cs typeface="Microsoft Sans Serif"/>
              </a:rPr>
              <a:t> </a:t>
            </a:r>
            <a:r>
              <a:rPr sz="2100" dirty="0" err="1">
                <a:latin typeface="Microsoft Sans Serif"/>
                <a:cs typeface="Microsoft Sans Serif"/>
              </a:rPr>
              <a:t>na</a:t>
            </a:r>
            <a:endParaRPr lang="pt-BR" sz="2100" dirty="0">
              <a:latin typeface="Microsoft Sans Serif"/>
              <a:cs typeface="Microsoft Sans Serif"/>
            </a:endParaRPr>
          </a:p>
          <a:p>
            <a:pPr marL="469900" marR="5080" indent="-457200">
              <a:lnSpc>
                <a:spcPct val="100000"/>
              </a:lnSpc>
              <a:spcBef>
                <a:spcPts val="100"/>
              </a:spcBef>
              <a:tabLst>
                <a:tab pos="468630" algn="l"/>
              </a:tabLst>
            </a:pPr>
            <a:r>
              <a:rPr lang="pt-BR" sz="2100" spc="80" dirty="0">
                <a:latin typeface="Microsoft Sans Serif"/>
                <a:cs typeface="Microsoft Sans Serif"/>
              </a:rPr>
              <a:t>      </a:t>
            </a:r>
            <a:r>
              <a:rPr sz="2100" dirty="0" err="1">
                <a:latin typeface="Microsoft Sans Serif"/>
                <a:cs typeface="Microsoft Sans Serif"/>
              </a:rPr>
              <a:t>guia</a:t>
            </a:r>
            <a:r>
              <a:rPr sz="2100" spc="130" dirty="0">
                <a:latin typeface="Microsoft Sans Serif"/>
                <a:cs typeface="Microsoft Sans Serif"/>
              </a:rPr>
              <a:t> </a:t>
            </a:r>
            <a:r>
              <a:rPr sz="2100" spc="-90" dirty="0">
                <a:latin typeface="Microsoft Sans Serif"/>
                <a:cs typeface="Microsoft Sans Serif"/>
              </a:rPr>
              <a:t>Início,</a:t>
            </a:r>
            <a:r>
              <a:rPr sz="2100" spc="7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grupo Edição.</a:t>
            </a:r>
            <a:endParaRPr sz="2100" dirty="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60636" y="2376141"/>
            <a:ext cx="5800725" cy="4419600"/>
            <a:chOff x="2657855" y="2438400"/>
            <a:chExt cx="5800725" cy="44196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5350" y="2438400"/>
              <a:ext cx="2533650" cy="143865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9800" y="4572000"/>
              <a:ext cx="2049779" cy="11490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5476" y="5438393"/>
              <a:ext cx="1982724" cy="141960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666999" y="5181600"/>
              <a:ext cx="3657600" cy="1447800"/>
            </a:xfrm>
            <a:custGeom>
              <a:avLst/>
              <a:gdLst/>
              <a:ahLst/>
              <a:cxnLst/>
              <a:rect l="l" t="t" r="r" b="b"/>
              <a:pathLst>
                <a:path w="3657600" h="1447800">
                  <a:moveTo>
                    <a:pt x="2955671" y="0"/>
                  </a:moveTo>
                  <a:lnTo>
                    <a:pt x="0" y="0"/>
                  </a:lnTo>
                  <a:lnTo>
                    <a:pt x="0" y="1447800"/>
                  </a:lnTo>
                  <a:lnTo>
                    <a:pt x="2955671" y="1447800"/>
                  </a:lnTo>
                  <a:lnTo>
                    <a:pt x="2955671" y="904875"/>
                  </a:lnTo>
                  <a:lnTo>
                    <a:pt x="3295650" y="904875"/>
                  </a:lnTo>
                  <a:lnTo>
                    <a:pt x="3295650" y="1085850"/>
                  </a:lnTo>
                  <a:lnTo>
                    <a:pt x="3657600" y="723900"/>
                  </a:lnTo>
                  <a:lnTo>
                    <a:pt x="3295650" y="361950"/>
                  </a:lnTo>
                  <a:lnTo>
                    <a:pt x="3295650" y="542925"/>
                  </a:lnTo>
                  <a:lnTo>
                    <a:pt x="2955671" y="542925"/>
                  </a:lnTo>
                  <a:lnTo>
                    <a:pt x="2955671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67380" y="5181980"/>
              <a:ext cx="3657600" cy="1447800"/>
            </a:xfrm>
            <a:custGeom>
              <a:avLst/>
              <a:gdLst/>
              <a:ahLst/>
              <a:cxnLst/>
              <a:rect l="l" t="t" r="r" b="b"/>
              <a:pathLst>
                <a:path w="3657600" h="1447800">
                  <a:moveTo>
                    <a:pt x="0" y="0"/>
                  </a:moveTo>
                  <a:lnTo>
                    <a:pt x="2955671" y="0"/>
                  </a:lnTo>
                  <a:lnTo>
                    <a:pt x="2955671" y="542925"/>
                  </a:lnTo>
                  <a:lnTo>
                    <a:pt x="3295650" y="542925"/>
                  </a:lnTo>
                  <a:lnTo>
                    <a:pt x="3295650" y="361950"/>
                  </a:lnTo>
                  <a:lnTo>
                    <a:pt x="3657600" y="723900"/>
                  </a:lnTo>
                  <a:lnTo>
                    <a:pt x="3295650" y="1085850"/>
                  </a:lnTo>
                  <a:lnTo>
                    <a:pt x="3295650" y="904875"/>
                  </a:lnTo>
                  <a:lnTo>
                    <a:pt x="2955671" y="904875"/>
                  </a:lnTo>
                  <a:lnTo>
                    <a:pt x="2955671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6A96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47339" y="5418328"/>
            <a:ext cx="261366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95"/>
              </a:spcBef>
            </a:pP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00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60" dirty="0">
                <a:solidFill>
                  <a:srgbClr val="FFFFFF"/>
                </a:solidFill>
                <a:latin typeface="Arial"/>
                <a:cs typeface="Arial"/>
              </a:rPr>
              <a:t>classificação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45" dirty="0">
                <a:solidFill>
                  <a:srgbClr val="FFFFFF"/>
                </a:solidFill>
                <a:latin typeface="Arial"/>
                <a:cs typeface="Arial"/>
              </a:rPr>
              <a:t>pode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ser </a:t>
            </a:r>
            <a:r>
              <a:rPr sz="2000" b="1" spc="-85" dirty="0">
                <a:solidFill>
                  <a:srgbClr val="FFFFFF"/>
                </a:solidFill>
                <a:latin typeface="Arial"/>
                <a:cs typeface="Arial"/>
              </a:rPr>
              <a:t>feita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forma</a:t>
            </a:r>
            <a:r>
              <a:rPr sz="20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5" dirty="0">
                <a:solidFill>
                  <a:srgbClr val="FFFFFF"/>
                </a:solidFill>
                <a:latin typeface="Arial"/>
                <a:cs typeface="Arial"/>
              </a:rPr>
              <a:t>rápida</a:t>
            </a:r>
            <a:r>
              <a:rPr sz="20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ou 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personalizada.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709F67E-5536-4CF9-9315-2AEEFE43FC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142" y="1369567"/>
            <a:ext cx="3934374" cy="4001058"/>
          </a:xfrm>
          <a:prstGeom prst="rect">
            <a:avLst/>
          </a:prstGeom>
        </p:spPr>
      </p:pic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A61AA608-F642-481A-8148-41DE8CFD7A09}"/>
              </a:ext>
            </a:extLst>
          </p:cNvPr>
          <p:cNvSpPr/>
          <p:nvPr/>
        </p:nvSpPr>
        <p:spPr>
          <a:xfrm>
            <a:off x="9220200" y="2794762"/>
            <a:ext cx="457200" cy="25323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265" dirty="0">
                <a:solidFill>
                  <a:srgbClr val="000000"/>
                </a:solidFill>
                <a:latin typeface="Calibri"/>
                <a:cs typeface="Calibri"/>
              </a:rPr>
              <a:t>Classificação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701" y="1454004"/>
            <a:ext cx="7915909" cy="122428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1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sz="2400" spc="-130" dirty="0">
                <a:latin typeface="Microsoft Sans Serif"/>
                <a:cs typeface="Microsoft Sans Serif"/>
              </a:rPr>
              <a:t>Para</a:t>
            </a:r>
            <a:r>
              <a:rPr sz="2400" spc="-140" dirty="0">
                <a:latin typeface="Microsoft Sans Serif"/>
                <a:cs typeface="Microsoft Sans Serif"/>
              </a:rPr>
              <a:t> </a:t>
            </a:r>
            <a:r>
              <a:rPr sz="2400" spc="-130" dirty="0">
                <a:latin typeface="Microsoft Sans Serif"/>
                <a:cs typeface="Microsoft Sans Serif"/>
              </a:rPr>
              <a:t>classificar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160" dirty="0">
                <a:latin typeface="Microsoft Sans Serif"/>
                <a:cs typeface="Microsoft Sans Serif"/>
              </a:rPr>
              <a:t>os</a:t>
            </a:r>
            <a:r>
              <a:rPr sz="2400" spc="-235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dados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uma</a:t>
            </a:r>
            <a:r>
              <a:rPr sz="2400" spc="-204" dirty="0">
                <a:latin typeface="Microsoft Sans Serif"/>
                <a:cs typeface="Microsoft Sans Serif"/>
              </a:rPr>
              <a:t> </a:t>
            </a:r>
            <a:r>
              <a:rPr sz="2400" spc="-90" dirty="0">
                <a:latin typeface="Microsoft Sans Serif"/>
                <a:cs typeface="Microsoft Sans Serif"/>
              </a:rPr>
              <a:t>planilha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basta:</a:t>
            </a:r>
            <a:endParaRPr sz="2400">
              <a:latin typeface="Microsoft Sans Serif"/>
              <a:cs typeface="Microsoft Sans Serif"/>
            </a:endParaRPr>
          </a:p>
          <a:p>
            <a:pPr marL="469900" marR="5080" indent="-457200">
              <a:lnSpc>
                <a:spcPct val="100000"/>
              </a:lnSpc>
              <a:spcBef>
                <a:spcPts val="705"/>
              </a:spcBef>
              <a:tabLst>
                <a:tab pos="468630" algn="l"/>
                <a:tab pos="856615" algn="l"/>
                <a:tab pos="2414270" algn="l"/>
                <a:tab pos="4173854" algn="l"/>
                <a:tab pos="5079365" algn="l"/>
                <a:tab pos="5750560" algn="l"/>
                <a:tab pos="6487795" algn="l"/>
                <a:tab pos="7375525" algn="l"/>
              </a:tabLst>
            </a:pPr>
            <a:r>
              <a:rPr sz="1250" spc="-25" dirty="0">
                <a:solidFill>
                  <a:srgbClr val="476F1E"/>
                </a:solidFill>
                <a:latin typeface="Microsoft Sans Serif"/>
                <a:cs typeface="Microsoft Sans Serif"/>
              </a:rPr>
              <a:t>3.</a:t>
            </a:r>
            <a:r>
              <a:rPr sz="1250" dirty="0">
                <a:solidFill>
                  <a:srgbClr val="476F1E"/>
                </a:solidFill>
                <a:latin typeface="Microsoft Sans Serif"/>
                <a:cs typeface="Microsoft Sans Serif"/>
              </a:rPr>
              <a:t>	</a:t>
            </a:r>
            <a:r>
              <a:rPr sz="2100" spc="-50" dirty="0">
                <a:latin typeface="Microsoft Sans Serif"/>
                <a:cs typeface="Microsoft Sans Serif"/>
              </a:rPr>
              <a:t>A</a:t>
            </a:r>
            <a:r>
              <a:rPr sz="2100" dirty="0">
                <a:latin typeface="Microsoft Sans Serif"/>
                <a:cs typeface="Microsoft Sans Serif"/>
              </a:rPr>
              <a:t>	</a:t>
            </a:r>
            <a:r>
              <a:rPr sz="2100" spc="-10" dirty="0">
                <a:latin typeface="Microsoft Sans Serif"/>
                <a:cs typeface="Microsoft Sans Serif"/>
              </a:rPr>
              <a:t>classificação</a:t>
            </a:r>
            <a:r>
              <a:rPr sz="2100" dirty="0">
                <a:latin typeface="Microsoft Sans Serif"/>
                <a:cs typeface="Microsoft Sans Serif"/>
              </a:rPr>
              <a:t>	</a:t>
            </a:r>
            <a:r>
              <a:rPr sz="2100" spc="-10" dirty="0">
                <a:latin typeface="Microsoft Sans Serif"/>
                <a:cs typeface="Microsoft Sans Serif"/>
              </a:rPr>
              <a:t>personalizada</a:t>
            </a:r>
            <a:r>
              <a:rPr sz="2100" dirty="0">
                <a:latin typeface="Microsoft Sans Serif"/>
                <a:cs typeface="Microsoft Sans Serif"/>
              </a:rPr>
              <a:t>	</a:t>
            </a:r>
            <a:r>
              <a:rPr sz="2100" spc="-10" dirty="0">
                <a:latin typeface="Microsoft Sans Serif"/>
                <a:cs typeface="Microsoft Sans Serif"/>
              </a:rPr>
              <a:t>abrirá</a:t>
            </a:r>
            <a:r>
              <a:rPr sz="2100" dirty="0">
                <a:latin typeface="Microsoft Sans Serif"/>
                <a:cs typeface="Microsoft Sans Serif"/>
              </a:rPr>
              <a:t>	</a:t>
            </a:r>
            <a:r>
              <a:rPr sz="2100" spc="-25" dirty="0">
                <a:latin typeface="Microsoft Sans Serif"/>
                <a:cs typeface="Microsoft Sans Serif"/>
              </a:rPr>
              <a:t>uma</a:t>
            </a:r>
            <a:r>
              <a:rPr sz="2100" dirty="0">
                <a:latin typeface="Microsoft Sans Serif"/>
                <a:cs typeface="Microsoft Sans Serif"/>
              </a:rPr>
              <a:t>	</a:t>
            </a:r>
            <a:r>
              <a:rPr sz="2100" spc="-20" dirty="0">
                <a:latin typeface="Microsoft Sans Serif"/>
                <a:cs typeface="Microsoft Sans Serif"/>
              </a:rPr>
              <a:t>nova</a:t>
            </a:r>
            <a:r>
              <a:rPr sz="2100" dirty="0">
                <a:latin typeface="Microsoft Sans Serif"/>
                <a:cs typeface="Microsoft Sans Serif"/>
              </a:rPr>
              <a:t>	</a:t>
            </a:r>
            <a:r>
              <a:rPr sz="2100" spc="-10" dirty="0">
                <a:latin typeface="Microsoft Sans Serif"/>
                <a:cs typeface="Microsoft Sans Serif"/>
              </a:rPr>
              <a:t>janela</a:t>
            </a:r>
            <a:r>
              <a:rPr sz="2100" dirty="0">
                <a:latin typeface="Microsoft Sans Serif"/>
                <a:cs typeface="Microsoft Sans Serif"/>
              </a:rPr>
              <a:t>	</a:t>
            </a:r>
            <a:r>
              <a:rPr sz="2100" spc="-25" dirty="0">
                <a:latin typeface="Microsoft Sans Serif"/>
                <a:cs typeface="Microsoft Sans Serif"/>
              </a:rPr>
              <a:t>para configuração.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0701" y="5609335"/>
            <a:ext cx="79228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tabLst>
                <a:tab pos="468630" algn="l"/>
                <a:tab pos="2127885" algn="l"/>
                <a:tab pos="2411095" algn="l"/>
                <a:tab pos="3225165" algn="l"/>
                <a:tab pos="4189095" algn="l"/>
                <a:tab pos="5356225" algn="l"/>
                <a:tab pos="6854190" algn="l"/>
              </a:tabLst>
            </a:pPr>
            <a:r>
              <a:rPr sz="1250" spc="-25" dirty="0">
                <a:solidFill>
                  <a:srgbClr val="476F1E"/>
                </a:solidFill>
                <a:latin typeface="Microsoft Sans Serif"/>
                <a:cs typeface="Microsoft Sans Serif"/>
              </a:rPr>
              <a:t>4.</a:t>
            </a:r>
            <a:r>
              <a:rPr sz="1250" dirty="0">
                <a:solidFill>
                  <a:srgbClr val="476F1E"/>
                </a:solidFill>
                <a:latin typeface="Microsoft Sans Serif"/>
                <a:cs typeface="Microsoft Sans Serif"/>
              </a:rPr>
              <a:t>	</a:t>
            </a:r>
            <a:r>
              <a:rPr sz="2100" spc="-40" dirty="0">
                <a:latin typeface="Microsoft Sans Serif"/>
                <a:cs typeface="Microsoft Sans Serif"/>
              </a:rPr>
              <a:t>Após</a:t>
            </a:r>
            <a:r>
              <a:rPr sz="2100" spc="70" dirty="0">
                <a:latin typeface="Microsoft Sans Serif"/>
                <a:cs typeface="Microsoft Sans Serif"/>
              </a:rPr>
              <a:t> </a:t>
            </a:r>
            <a:r>
              <a:rPr sz="2100" spc="-25" dirty="0">
                <a:latin typeface="Microsoft Sans Serif"/>
                <a:cs typeface="Microsoft Sans Serif"/>
              </a:rPr>
              <a:t>escolher</a:t>
            </a:r>
            <a:r>
              <a:rPr sz="2100" dirty="0">
                <a:latin typeface="Microsoft Sans Serif"/>
                <a:cs typeface="Microsoft Sans Serif"/>
              </a:rPr>
              <a:t>	</a:t>
            </a:r>
            <a:r>
              <a:rPr sz="2100" spc="-50" dirty="0">
                <a:latin typeface="Microsoft Sans Serif"/>
                <a:cs typeface="Microsoft Sans Serif"/>
              </a:rPr>
              <a:t>a</a:t>
            </a:r>
            <a:r>
              <a:rPr sz="2100" dirty="0">
                <a:latin typeface="Microsoft Sans Serif"/>
                <a:cs typeface="Microsoft Sans Serif"/>
              </a:rPr>
              <a:t>	</a:t>
            </a:r>
            <a:r>
              <a:rPr sz="2100" spc="-10" dirty="0">
                <a:latin typeface="Microsoft Sans Serif"/>
                <a:cs typeface="Microsoft Sans Serif"/>
              </a:rPr>
              <a:t>coluna</a:t>
            </a:r>
            <a:r>
              <a:rPr sz="2100" dirty="0">
                <a:latin typeface="Microsoft Sans Serif"/>
                <a:cs typeface="Microsoft Sans Serif"/>
              </a:rPr>
              <a:t>	que</a:t>
            </a:r>
            <a:r>
              <a:rPr sz="2100" spc="130" dirty="0">
                <a:latin typeface="Microsoft Sans Serif"/>
                <a:cs typeface="Microsoft Sans Serif"/>
              </a:rPr>
              <a:t> </a:t>
            </a:r>
            <a:r>
              <a:rPr sz="2100" spc="-25" dirty="0">
                <a:latin typeface="Microsoft Sans Serif"/>
                <a:cs typeface="Microsoft Sans Serif"/>
              </a:rPr>
              <a:t>irá</a:t>
            </a:r>
            <a:r>
              <a:rPr sz="2100" dirty="0">
                <a:latin typeface="Microsoft Sans Serif"/>
                <a:cs typeface="Microsoft Sans Serif"/>
              </a:rPr>
              <a:t>	</a:t>
            </a:r>
            <a:r>
              <a:rPr sz="2100" spc="-10" dirty="0">
                <a:latin typeface="Microsoft Sans Serif"/>
                <a:cs typeface="Microsoft Sans Serif"/>
              </a:rPr>
              <a:t>classificar</a:t>
            </a:r>
            <a:r>
              <a:rPr sz="2100" dirty="0">
                <a:latin typeface="Microsoft Sans Serif"/>
                <a:cs typeface="Microsoft Sans Serif"/>
              </a:rPr>
              <a:t>	os</a:t>
            </a:r>
            <a:r>
              <a:rPr sz="2100" spc="20" dirty="0">
                <a:latin typeface="Microsoft Sans Serif"/>
                <a:cs typeface="Microsoft Sans Serif"/>
              </a:rPr>
              <a:t> </a:t>
            </a:r>
            <a:r>
              <a:rPr sz="2100" spc="-40" dirty="0">
                <a:latin typeface="Microsoft Sans Serif"/>
                <a:cs typeface="Microsoft Sans Serif"/>
              </a:rPr>
              <a:t>dados,</a:t>
            </a:r>
            <a:r>
              <a:rPr sz="2100" spc="120" dirty="0">
                <a:latin typeface="Microsoft Sans Serif"/>
                <a:cs typeface="Microsoft Sans Serif"/>
              </a:rPr>
              <a:t> </a:t>
            </a:r>
            <a:r>
              <a:rPr sz="2100" spc="-50" dirty="0">
                <a:latin typeface="Microsoft Sans Serif"/>
                <a:cs typeface="Microsoft Sans Serif"/>
              </a:rPr>
              <a:t>a</a:t>
            </a:r>
            <a:r>
              <a:rPr sz="2100" dirty="0">
                <a:latin typeface="Microsoft Sans Serif"/>
                <a:cs typeface="Microsoft Sans Serif"/>
              </a:rPr>
              <a:t>	forma</a:t>
            </a:r>
            <a:r>
              <a:rPr sz="2100" spc="130" dirty="0">
                <a:latin typeface="Microsoft Sans Serif"/>
                <a:cs typeface="Microsoft Sans Serif"/>
              </a:rPr>
              <a:t> </a:t>
            </a:r>
            <a:r>
              <a:rPr sz="2100" spc="-60" dirty="0">
                <a:latin typeface="Microsoft Sans Serif"/>
                <a:cs typeface="Microsoft Sans Serif"/>
              </a:rPr>
              <a:t>de </a:t>
            </a:r>
            <a:r>
              <a:rPr sz="2100" spc="-120" dirty="0">
                <a:latin typeface="Microsoft Sans Serif"/>
                <a:cs typeface="Microsoft Sans Serif"/>
              </a:rPr>
              <a:t>classificação</a:t>
            </a:r>
            <a:r>
              <a:rPr sz="2100" spc="-1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e</a:t>
            </a:r>
            <a:r>
              <a:rPr sz="2100" spc="-8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spc="-110" dirty="0">
                <a:latin typeface="Microsoft Sans Serif"/>
                <a:cs typeface="Microsoft Sans Serif"/>
              </a:rPr>
              <a:t>ordem,</a:t>
            </a:r>
            <a:r>
              <a:rPr sz="2100" spc="-130" dirty="0">
                <a:latin typeface="Microsoft Sans Serif"/>
                <a:cs typeface="Microsoft Sans Serif"/>
              </a:rPr>
              <a:t> </a:t>
            </a:r>
            <a:r>
              <a:rPr sz="2100" spc="-75" dirty="0">
                <a:latin typeface="Microsoft Sans Serif"/>
                <a:cs typeface="Microsoft Sans Serif"/>
              </a:rPr>
              <a:t>basta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spc="-85" dirty="0">
                <a:latin typeface="Microsoft Sans Serif"/>
                <a:cs typeface="Microsoft Sans Serif"/>
              </a:rPr>
              <a:t>clicar</a:t>
            </a:r>
            <a:r>
              <a:rPr sz="2100" spc="25" dirty="0">
                <a:latin typeface="Microsoft Sans Serif"/>
                <a:cs typeface="Microsoft Sans Serif"/>
              </a:rPr>
              <a:t> </a:t>
            </a:r>
            <a:r>
              <a:rPr sz="2100" spc="-114" dirty="0">
                <a:latin typeface="Microsoft Sans Serif"/>
                <a:cs typeface="Microsoft Sans Serif"/>
              </a:rPr>
              <a:t>em</a:t>
            </a:r>
            <a:r>
              <a:rPr sz="2100" spc="-225" dirty="0">
                <a:latin typeface="Microsoft Sans Serif"/>
                <a:cs typeface="Microsoft Sans Serif"/>
              </a:rPr>
              <a:t> </a:t>
            </a:r>
            <a:r>
              <a:rPr sz="2100" spc="-25" dirty="0">
                <a:latin typeface="Microsoft Sans Serif"/>
                <a:cs typeface="Microsoft Sans Serif"/>
              </a:rPr>
              <a:t>OK.</a:t>
            </a:r>
            <a:endParaRPr sz="21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2895600"/>
            <a:ext cx="5334000" cy="247693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993ED63-9DD1-4220-9C38-D800258C4D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87" t="4938" r="2078" b="7283"/>
          <a:stretch/>
        </p:blipFill>
        <p:spPr>
          <a:xfrm>
            <a:off x="5867400" y="2890812"/>
            <a:ext cx="6096000" cy="247693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7482" y="592155"/>
            <a:ext cx="8024495" cy="105409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180" dirty="0">
                <a:solidFill>
                  <a:srgbClr val="000000"/>
                </a:solidFill>
                <a:latin typeface="Calibri"/>
                <a:cs typeface="Calibri"/>
              </a:rPr>
              <a:t>Filtro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5409" y="1476075"/>
            <a:ext cx="6688392" cy="2498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spc="-114" dirty="0">
                <a:latin typeface="Microsoft Sans Serif"/>
                <a:cs typeface="Microsoft Sans Serif"/>
              </a:rPr>
              <a:t>Os</a:t>
            </a:r>
            <a:r>
              <a:rPr sz="2400" spc="-409" dirty="0">
                <a:latin typeface="Microsoft Sans Serif"/>
                <a:cs typeface="Microsoft Sans Serif"/>
              </a:rPr>
              <a:t> </a:t>
            </a:r>
            <a:r>
              <a:rPr sz="2400" spc="-110" dirty="0">
                <a:latin typeface="Microsoft Sans Serif"/>
                <a:cs typeface="Microsoft Sans Serif"/>
              </a:rPr>
              <a:t>dados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filtrados</a:t>
            </a:r>
            <a:r>
              <a:rPr sz="2400" spc="-200" dirty="0">
                <a:latin typeface="Microsoft Sans Serif"/>
                <a:cs typeface="Microsoft Sans Serif"/>
              </a:rPr>
              <a:t> </a:t>
            </a:r>
            <a:r>
              <a:rPr sz="2400" spc="-135" dirty="0">
                <a:latin typeface="Microsoft Sans Serif"/>
                <a:cs typeface="Microsoft Sans Serif"/>
              </a:rPr>
              <a:t>exibem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-204" dirty="0">
                <a:latin typeface="Microsoft Sans Serif"/>
                <a:cs typeface="Microsoft Sans Serif"/>
              </a:rPr>
              <a:t>somente</a:t>
            </a:r>
            <a:r>
              <a:rPr sz="2400" spc="-145" dirty="0">
                <a:latin typeface="Microsoft Sans Serif"/>
                <a:cs typeface="Microsoft Sans Serif"/>
              </a:rPr>
              <a:t> </a:t>
            </a:r>
            <a:r>
              <a:rPr sz="2400" spc="-130" dirty="0">
                <a:latin typeface="Microsoft Sans Serif"/>
                <a:cs typeface="Microsoft Sans Serif"/>
              </a:rPr>
              <a:t>as</a:t>
            </a:r>
            <a:r>
              <a:rPr sz="2400" spc="-145" dirty="0">
                <a:latin typeface="Microsoft Sans Serif"/>
                <a:cs typeface="Microsoft Sans Serif"/>
              </a:rPr>
              <a:t> </a:t>
            </a:r>
            <a:r>
              <a:rPr sz="2400" spc="-155" dirty="0">
                <a:latin typeface="Microsoft Sans Serif"/>
                <a:cs typeface="Microsoft Sans Serif"/>
              </a:rPr>
              <a:t>linhas </a:t>
            </a:r>
            <a:r>
              <a:rPr sz="2400" spc="-120" dirty="0">
                <a:latin typeface="Microsoft Sans Serif"/>
                <a:cs typeface="Microsoft Sans Serif"/>
              </a:rPr>
              <a:t>que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atendem </a:t>
            </a:r>
            <a:r>
              <a:rPr sz="2400" spc="-145" dirty="0">
                <a:latin typeface="Microsoft Sans Serif"/>
                <a:cs typeface="Microsoft Sans Serif"/>
              </a:rPr>
              <a:t>aos</a:t>
            </a:r>
            <a:r>
              <a:rPr sz="2400" spc="-150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critérios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145" dirty="0">
                <a:latin typeface="Microsoft Sans Serif"/>
                <a:cs typeface="Microsoft Sans Serif"/>
              </a:rPr>
              <a:t>especificados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-130" dirty="0">
                <a:latin typeface="Microsoft Sans Serif"/>
                <a:cs typeface="Microsoft Sans Serif"/>
              </a:rPr>
              <a:t>oculta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25" dirty="0">
                <a:latin typeface="Microsoft Sans Serif"/>
                <a:cs typeface="Microsoft Sans Serif"/>
              </a:rPr>
              <a:t>as</a:t>
            </a:r>
            <a:r>
              <a:rPr sz="2400" spc="-145" dirty="0">
                <a:latin typeface="Microsoft Sans Serif"/>
                <a:cs typeface="Microsoft Sans Serif"/>
              </a:rPr>
              <a:t> </a:t>
            </a:r>
            <a:r>
              <a:rPr sz="2400" spc="-165" dirty="0">
                <a:latin typeface="Microsoft Sans Serif"/>
                <a:cs typeface="Microsoft Sans Serif"/>
              </a:rPr>
              <a:t>linhas</a:t>
            </a:r>
            <a:r>
              <a:rPr sz="2400" spc="-114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que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não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deseja </a:t>
            </a:r>
            <a:r>
              <a:rPr sz="2400" spc="-10" dirty="0">
                <a:latin typeface="Microsoft Sans Serif"/>
                <a:cs typeface="Microsoft Sans Serif"/>
              </a:rPr>
              <a:t>exibir.</a:t>
            </a:r>
            <a:endParaRPr sz="240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sz="2400" spc="-114" dirty="0">
                <a:latin typeface="Microsoft Sans Serif"/>
                <a:cs typeface="Microsoft Sans Serif"/>
              </a:rPr>
              <a:t>Os</a:t>
            </a:r>
            <a:r>
              <a:rPr sz="2400" spc="-195" dirty="0">
                <a:latin typeface="Microsoft Sans Serif"/>
                <a:cs typeface="Microsoft Sans Serif"/>
              </a:rPr>
              <a:t> </a:t>
            </a:r>
            <a:r>
              <a:rPr sz="2400" spc="-60" dirty="0">
                <a:latin typeface="Microsoft Sans Serif"/>
                <a:cs typeface="Microsoft Sans Serif"/>
              </a:rPr>
              <a:t>filtros</a:t>
            </a:r>
            <a:r>
              <a:rPr sz="2400" spc="-229" dirty="0">
                <a:latin typeface="Microsoft Sans Serif"/>
                <a:cs typeface="Microsoft Sans Serif"/>
              </a:rPr>
              <a:t> </a:t>
            </a:r>
            <a:r>
              <a:rPr sz="2400" spc="-175" dirty="0">
                <a:latin typeface="Microsoft Sans Serif"/>
                <a:cs typeface="Microsoft Sans Serif"/>
              </a:rPr>
              <a:t>são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20" dirty="0" err="1">
                <a:latin typeface="Microsoft Sans Serif"/>
                <a:cs typeface="Microsoft Sans Serif"/>
              </a:rPr>
              <a:t>adicionados</a:t>
            </a:r>
            <a:r>
              <a:rPr sz="2400" spc="-195" dirty="0">
                <a:latin typeface="Microsoft Sans Serif"/>
                <a:cs typeface="Microsoft Sans Serif"/>
              </a:rPr>
              <a:t> </a:t>
            </a:r>
            <a:endParaRPr lang="pt-BR" sz="2400" spc="-195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  <a:buClr>
                <a:srgbClr val="476F1E"/>
              </a:buClr>
              <a:buSzPct val="60416"/>
              <a:tabLst>
                <a:tab pos="332105" algn="l"/>
              </a:tabLst>
            </a:pPr>
            <a:r>
              <a:rPr lang="pt-BR" sz="2400" spc="-185" dirty="0">
                <a:latin typeface="Microsoft Sans Serif"/>
                <a:cs typeface="Microsoft Sans Serif"/>
              </a:rPr>
              <a:t>      </a:t>
            </a:r>
            <a:r>
              <a:rPr sz="2400" spc="-185" dirty="0" err="1">
                <a:latin typeface="Microsoft Sans Serif"/>
                <a:cs typeface="Microsoft Sans Serif"/>
              </a:rPr>
              <a:t>sempre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130" dirty="0">
                <a:latin typeface="Microsoft Sans Serif"/>
                <a:cs typeface="Microsoft Sans Serif"/>
              </a:rPr>
              <a:t>no</a:t>
            </a:r>
            <a:r>
              <a:rPr sz="2400" spc="-165" dirty="0">
                <a:latin typeface="Microsoft Sans Serif"/>
                <a:cs typeface="Microsoft Sans Serif"/>
              </a:rPr>
              <a:t> </a:t>
            </a:r>
            <a:r>
              <a:rPr sz="2400" spc="-140" dirty="0">
                <a:latin typeface="Microsoft Sans Serif"/>
                <a:cs typeface="Microsoft Sans Serif"/>
              </a:rPr>
              <a:t>cabeçalho</a:t>
            </a:r>
            <a:r>
              <a:rPr sz="2400" dirty="0">
                <a:latin typeface="Microsoft Sans Serif"/>
                <a:cs typeface="Microsoft Sans Serif"/>
              </a:rPr>
              <a:t> da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endParaRPr lang="pt-BR" sz="2400" spc="55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  <a:buClr>
                <a:srgbClr val="476F1E"/>
              </a:buClr>
              <a:buSzPct val="60416"/>
              <a:tabLst>
                <a:tab pos="332105" algn="l"/>
              </a:tabLst>
            </a:pPr>
            <a:r>
              <a:rPr lang="pt-BR" sz="2400" spc="-10" dirty="0">
                <a:latin typeface="Microsoft Sans Serif"/>
                <a:cs typeface="Microsoft Sans Serif"/>
              </a:rPr>
              <a:t>    </a:t>
            </a:r>
            <a:r>
              <a:rPr sz="2400" spc="-10" dirty="0" err="1">
                <a:latin typeface="Microsoft Sans Serif"/>
                <a:cs typeface="Microsoft Sans Serif"/>
              </a:rPr>
              <a:t>tabela</a:t>
            </a:r>
            <a:r>
              <a:rPr sz="2400" spc="-10" dirty="0">
                <a:latin typeface="Microsoft Sans Serif"/>
                <a:cs typeface="Microsoft Sans Serif"/>
              </a:rPr>
              <a:t>.</a:t>
            </a:r>
            <a:endParaRPr sz="2400" dirty="0">
              <a:latin typeface="Microsoft Sans Serif"/>
              <a:cs typeface="Microsoft Sans Serif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F80BF8E-470C-4960-833C-552D39462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416" y="3937953"/>
            <a:ext cx="3742183" cy="259965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FA7A10B-706C-4F6E-A07B-B77C9D606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592" y="2286000"/>
            <a:ext cx="3962953" cy="425826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180" dirty="0">
                <a:solidFill>
                  <a:srgbClr val="000000"/>
                </a:solidFill>
                <a:latin typeface="Calibri"/>
                <a:cs typeface="Calibri"/>
              </a:rPr>
              <a:t>Filtro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701" y="1467685"/>
            <a:ext cx="7936865" cy="1755139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sz="2400" spc="-135" dirty="0">
                <a:latin typeface="Microsoft Sans Serif"/>
                <a:cs typeface="Microsoft Sans Serif"/>
              </a:rPr>
              <a:t>Para</a:t>
            </a:r>
            <a:r>
              <a:rPr sz="2400" spc="-145" dirty="0">
                <a:latin typeface="Microsoft Sans Serif"/>
                <a:cs typeface="Microsoft Sans Serif"/>
              </a:rPr>
              <a:t> </a:t>
            </a:r>
            <a:r>
              <a:rPr sz="2400" spc="-95" dirty="0">
                <a:latin typeface="Microsoft Sans Serif"/>
                <a:cs typeface="Microsoft Sans Serif"/>
              </a:rPr>
              <a:t>adicionar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65" dirty="0">
                <a:latin typeface="Microsoft Sans Serif"/>
                <a:cs typeface="Microsoft Sans Serif"/>
              </a:rPr>
              <a:t>filtros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na</a:t>
            </a:r>
            <a:r>
              <a:rPr sz="2400" spc="-105" dirty="0">
                <a:latin typeface="Microsoft Sans Serif"/>
                <a:cs typeface="Microsoft Sans Serif"/>
              </a:rPr>
              <a:t> </a:t>
            </a:r>
            <a:r>
              <a:rPr sz="2400" spc="-95" dirty="0">
                <a:latin typeface="Microsoft Sans Serif"/>
                <a:cs typeface="Microsoft Sans Serif"/>
              </a:rPr>
              <a:t>planilha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basta:</a:t>
            </a:r>
            <a:endParaRPr sz="2400">
              <a:latin typeface="Microsoft Sans Serif"/>
              <a:cs typeface="Microsoft Sans Serif"/>
            </a:endParaRPr>
          </a:p>
          <a:p>
            <a:pPr marL="469265" indent="-456565">
              <a:lnSpc>
                <a:spcPct val="100000"/>
              </a:lnSpc>
              <a:spcBef>
                <a:spcPts val="700"/>
              </a:spcBef>
              <a:buClr>
                <a:srgbClr val="476F1E"/>
              </a:buClr>
              <a:buSzPct val="60416"/>
              <a:buAutoNum type="arabicPeriod"/>
              <a:tabLst>
                <a:tab pos="469265" algn="l"/>
              </a:tabLst>
            </a:pPr>
            <a:r>
              <a:rPr sz="2400" spc="-145" dirty="0">
                <a:latin typeface="Microsoft Sans Serif"/>
                <a:cs typeface="Microsoft Sans Serif"/>
              </a:rPr>
              <a:t>Selecionar</a:t>
            </a:r>
            <a:r>
              <a:rPr sz="2400" spc="-1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</a:t>
            </a:r>
            <a:r>
              <a:rPr sz="2400" spc="-120" dirty="0">
                <a:latin typeface="Microsoft Sans Serif"/>
                <a:cs typeface="Microsoft Sans Serif"/>
              </a:rPr>
              <a:t> </a:t>
            </a:r>
            <a:r>
              <a:rPr sz="2400" spc="-95" dirty="0">
                <a:latin typeface="Microsoft Sans Serif"/>
                <a:cs typeface="Microsoft Sans Serif"/>
              </a:rPr>
              <a:t>intervalo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de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células.</a:t>
            </a:r>
            <a:endParaRPr sz="2400">
              <a:latin typeface="Microsoft Sans Serif"/>
              <a:cs typeface="Microsoft Sans Serif"/>
            </a:endParaRPr>
          </a:p>
          <a:p>
            <a:pPr marL="469900" marR="5080" indent="-457200">
              <a:lnSpc>
                <a:spcPct val="100000"/>
              </a:lnSpc>
              <a:spcBef>
                <a:spcPts val="700"/>
              </a:spcBef>
              <a:buClr>
                <a:srgbClr val="476F1E"/>
              </a:buClr>
              <a:buSzPct val="60416"/>
              <a:buAutoNum type="arabicPeriod"/>
              <a:tabLst>
                <a:tab pos="469900" algn="l"/>
                <a:tab pos="1011555" algn="l"/>
                <a:tab pos="1718945" algn="l"/>
                <a:tab pos="2551430" algn="l"/>
                <a:tab pos="3006725" algn="l"/>
                <a:tab pos="3905885" algn="l"/>
                <a:tab pos="4939665" algn="l"/>
                <a:tab pos="5814695" algn="l"/>
                <a:tab pos="6341745" algn="l"/>
                <a:tab pos="7753984" algn="l"/>
              </a:tabLst>
            </a:pPr>
            <a:r>
              <a:rPr sz="2400" spc="-25" dirty="0">
                <a:latin typeface="Microsoft Sans Serif"/>
                <a:cs typeface="Microsoft Sans Serif"/>
              </a:rPr>
              <a:t>Na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20" dirty="0">
                <a:latin typeface="Microsoft Sans Serif"/>
                <a:cs typeface="Microsoft Sans Serif"/>
              </a:rPr>
              <a:t>guia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10" dirty="0">
                <a:latin typeface="Microsoft Sans Serif"/>
                <a:cs typeface="Microsoft Sans Serif"/>
              </a:rPr>
              <a:t>Início,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25" dirty="0">
                <a:latin typeface="Microsoft Sans Serif"/>
                <a:cs typeface="Microsoft Sans Serif"/>
              </a:rPr>
              <a:t>no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10" dirty="0">
                <a:latin typeface="Microsoft Sans Serif"/>
                <a:cs typeface="Microsoft Sans Serif"/>
              </a:rPr>
              <a:t>grupo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10" dirty="0">
                <a:latin typeface="Microsoft Sans Serif"/>
                <a:cs typeface="Microsoft Sans Serif"/>
              </a:rPr>
              <a:t>Edição,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10" dirty="0">
                <a:latin typeface="Microsoft Sans Serif"/>
                <a:cs typeface="Microsoft Sans Serif"/>
              </a:rPr>
              <a:t>clique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25" dirty="0">
                <a:latin typeface="Microsoft Sans Serif"/>
                <a:cs typeface="Microsoft Sans Serif"/>
              </a:rPr>
              <a:t>em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10" dirty="0">
                <a:latin typeface="Microsoft Sans Serif"/>
                <a:cs typeface="Microsoft Sans Serif"/>
              </a:rPr>
              <a:t>Classificar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50" dirty="0">
                <a:latin typeface="Microsoft Sans Serif"/>
                <a:cs typeface="Microsoft Sans Serif"/>
              </a:rPr>
              <a:t>e </a:t>
            </a:r>
            <a:r>
              <a:rPr sz="2400" spc="-80" dirty="0">
                <a:latin typeface="Microsoft Sans Serif"/>
                <a:cs typeface="Microsoft Sans Serif"/>
              </a:rPr>
              <a:t>Filtrar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60" dirty="0">
                <a:latin typeface="Microsoft Sans Serif"/>
                <a:cs typeface="Microsoft Sans Serif"/>
              </a:rPr>
              <a:t>e,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160" dirty="0">
                <a:latin typeface="Microsoft Sans Serif"/>
                <a:cs typeface="Microsoft Sans Serif"/>
              </a:rPr>
              <a:t>em</a:t>
            </a:r>
            <a:r>
              <a:rPr sz="2400" spc="-235" dirty="0">
                <a:latin typeface="Microsoft Sans Serif"/>
                <a:cs typeface="Microsoft Sans Serif"/>
              </a:rPr>
              <a:t> </a:t>
            </a:r>
            <a:r>
              <a:rPr sz="2400" spc="-135" dirty="0">
                <a:latin typeface="Microsoft Sans Serif"/>
                <a:cs typeface="Microsoft Sans Serif"/>
              </a:rPr>
              <a:t>seguida,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-130" dirty="0">
                <a:latin typeface="Microsoft Sans Serif"/>
                <a:cs typeface="Microsoft Sans Serif"/>
              </a:rPr>
              <a:t>clique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60" dirty="0">
                <a:latin typeface="Microsoft Sans Serif"/>
                <a:cs typeface="Microsoft Sans Serif"/>
              </a:rPr>
              <a:t>em</a:t>
            </a:r>
            <a:r>
              <a:rPr sz="2400" spc="-2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Filtro.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86000" y="3429000"/>
            <a:ext cx="7848600" cy="3429000"/>
            <a:chOff x="2286000" y="3429000"/>
            <a:chExt cx="7848600" cy="3429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0" y="3429000"/>
              <a:ext cx="3304032" cy="1524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5200" y="3505200"/>
              <a:ext cx="2321813" cy="130149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32597" y="4524755"/>
              <a:ext cx="2302002" cy="16474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93464" y="5353049"/>
              <a:ext cx="3374136" cy="15049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180" dirty="0">
                <a:solidFill>
                  <a:srgbClr val="000000"/>
                </a:solidFill>
                <a:latin typeface="Calibri"/>
                <a:cs typeface="Calibri"/>
              </a:rPr>
              <a:t>Filtro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701" y="1557020"/>
            <a:ext cx="79470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dirty="0">
                <a:latin typeface="Microsoft Sans Serif"/>
                <a:cs typeface="Microsoft Sans Serif"/>
              </a:rPr>
              <a:t>Para</a:t>
            </a:r>
            <a:r>
              <a:rPr sz="2400" spc="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filtrar</a:t>
            </a:r>
            <a:r>
              <a:rPr sz="2400" spc="1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os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dados</a:t>
            </a:r>
            <a:r>
              <a:rPr sz="2400" spc="1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da</a:t>
            </a:r>
            <a:r>
              <a:rPr sz="2400" spc="1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planilha</a:t>
            </a:r>
            <a:r>
              <a:rPr sz="2400" spc="1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basta</a:t>
            </a:r>
            <a:r>
              <a:rPr sz="2400" spc="1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clicar</a:t>
            </a:r>
            <a:r>
              <a:rPr sz="2400" spc="114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na</a:t>
            </a:r>
            <a:r>
              <a:rPr sz="2400" spc="9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seta</a:t>
            </a:r>
            <a:r>
              <a:rPr sz="2400" spc="9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do </a:t>
            </a:r>
            <a:r>
              <a:rPr sz="2400" spc="-30" dirty="0">
                <a:latin typeface="Microsoft Sans Serif"/>
                <a:cs typeface="Microsoft Sans Serif"/>
              </a:rPr>
              <a:t>cabeçalho</a:t>
            </a:r>
            <a:r>
              <a:rPr sz="2400" spc="3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da</a:t>
            </a:r>
            <a:r>
              <a:rPr sz="2400" spc="39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coluna</a:t>
            </a:r>
            <a:r>
              <a:rPr sz="2400" spc="3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</a:t>
            </a:r>
            <a:r>
              <a:rPr sz="2400" spc="320" dirty="0">
                <a:latin typeface="Microsoft Sans Serif"/>
                <a:cs typeface="Microsoft Sans Serif"/>
              </a:rPr>
              <a:t> </a:t>
            </a:r>
            <a:r>
              <a:rPr sz="2400" spc="-60" dirty="0">
                <a:latin typeface="Microsoft Sans Serif"/>
                <a:cs typeface="Microsoft Sans Serif"/>
              </a:rPr>
              <a:t>escolher</a:t>
            </a:r>
            <a:r>
              <a:rPr sz="2400" spc="29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409" dirty="0">
                <a:latin typeface="Microsoft Sans Serif"/>
                <a:cs typeface="Microsoft Sans Serif"/>
              </a:rPr>
              <a:t> </a:t>
            </a:r>
            <a:r>
              <a:rPr sz="2400" spc="-30" dirty="0">
                <a:latin typeface="Microsoft Sans Serif"/>
                <a:cs typeface="Microsoft Sans Serif"/>
              </a:rPr>
              <a:t>informação</a:t>
            </a:r>
            <a:r>
              <a:rPr sz="2400" spc="3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que</a:t>
            </a:r>
            <a:r>
              <a:rPr sz="2400" spc="31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será </a:t>
            </a:r>
            <a:r>
              <a:rPr sz="2400" spc="-10" dirty="0">
                <a:latin typeface="Microsoft Sans Serif"/>
                <a:cs typeface="Microsoft Sans Serif"/>
              </a:rPr>
              <a:t>filtrada.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6C8A463-6CA4-48C9-BD33-4942834F8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2362200"/>
            <a:ext cx="3962953" cy="425826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270" dirty="0">
                <a:solidFill>
                  <a:srgbClr val="000000"/>
                </a:solidFill>
                <a:latin typeface="Calibri"/>
                <a:cs typeface="Calibri"/>
              </a:rPr>
              <a:t>Formatação </a:t>
            </a:r>
            <a:r>
              <a:rPr spc="-265" dirty="0">
                <a:solidFill>
                  <a:srgbClr val="000000"/>
                </a:solidFill>
                <a:latin typeface="Calibri"/>
                <a:cs typeface="Calibri"/>
              </a:rPr>
              <a:t>condicional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701" y="1608835"/>
            <a:ext cx="79686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spc="-200" dirty="0">
                <a:latin typeface="Microsoft Sans Serif"/>
                <a:cs typeface="Microsoft Sans Serif"/>
              </a:rPr>
              <a:t>Um</a:t>
            </a:r>
            <a:r>
              <a:rPr sz="2400" spc="-335" dirty="0">
                <a:latin typeface="Microsoft Sans Serif"/>
                <a:cs typeface="Microsoft Sans Serif"/>
              </a:rPr>
              <a:t> </a:t>
            </a:r>
            <a:r>
              <a:rPr sz="2400" spc="-90" dirty="0">
                <a:latin typeface="Microsoft Sans Serif"/>
                <a:cs typeface="Microsoft Sans Serif"/>
              </a:rPr>
              <a:t>formato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-145" dirty="0">
                <a:latin typeface="Microsoft Sans Serif"/>
                <a:cs typeface="Microsoft Sans Serif"/>
              </a:rPr>
              <a:t>condicional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altera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95" dirty="0">
                <a:latin typeface="Microsoft Sans Serif"/>
                <a:cs typeface="Microsoft Sans Serif"/>
              </a:rPr>
              <a:t>aparência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-195" dirty="0">
                <a:latin typeface="Microsoft Sans Serif"/>
                <a:cs typeface="Microsoft Sans Serif"/>
              </a:rPr>
              <a:t>um</a:t>
            </a:r>
            <a:r>
              <a:rPr sz="2400" spc="-320" dirty="0">
                <a:latin typeface="Microsoft Sans Serif"/>
                <a:cs typeface="Microsoft Sans Serif"/>
              </a:rPr>
              <a:t> </a:t>
            </a:r>
            <a:r>
              <a:rPr sz="2400" spc="-90" dirty="0">
                <a:latin typeface="Microsoft Sans Serif"/>
                <a:cs typeface="Microsoft Sans Serif"/>
              </a:rPr>
              <a:t>intervalo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de </a:t>
            </a:r>
            <a:r>
              <a:rPr sz="2400" spc="-165" dirty="0">
                <a:latin typeface="Microsoft Sans Serif"/>
                <a:cs typeface="Microsoft Sans Serif"/>
              </a:rPr>
              <a:t>células</a:t>
            </a:r>
            <a:r>
              <a:rPr sz="2400" spc="-125" dirty="0">
                <a:latin typeface="Microsoft Sans Serif"/>
                <a:cs typeface="Microsoft Sans Serif"/>
              </a:rPr>
              <a:t> </a:t>
            </a:r>
            <a:r>
              <a:rPr sz="2400" spc="-210" dirty="0">
                <a:latin typeface="Microsoft Sans Serif"/>
                <a:cs typeface="Microsoft Sans Serif"/>
              </a:rPr>
              <a:t>com </a:t>
            </a:r>
            <a:r>
              <a:rPr sz="2400" spc="-105" dirty="0">
                <a:latin typeface="Microsoft Sans Serif"/>
                <a:cs typeface="Microsoft Sans Serif"/>
              </a:rPr>
              <a:t>base</a:t>
            </a:r>
            <a:r>
              <a:rPr sz="2400" spc="-210" dirty="0">
                <a:latin typeface="Microsoft Sans Serif"/>
                <a:cs typeface="Microsoft Sans Serif"/>
              </a:rPr>
              <a:t> </a:t>
            </a:r>
            <a:r>
              <a:rPr sz="2400" spc="-160" dirty="0">
                <a:latin typeface="Microsoft Sans Serif"/>
                <a:cs typeface="Microsoft Sans Serif"/>
              </a:rPr>
              <a:t>em</a:t>
            </a:r>
            <a:r>
              <a:rPr sz="2400" spc="-204" dirty="0">
                <a:latin typeface="Microsoft Sans Serif"/>
                <a:cs typeface="Microsoft Sans Serif"/>
              </a:rPr>
              <a:t> </a:t>
            </a:r>
            <a:r>
              <a:rPr sz="2400" spc="-254" dirty="0">
                <a:latin typeface="Microsoft Sans Serif"/>
                <a:cs typeface="Microsoft Sans Serif"/>
              </a:rPr>
              <a:t>uma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155" dirty="0">
                <a:latin typeface="Microsoft Sans Serif"/>
                <a:cs typeface="Microsoft Sans Serif"/>
              </a:rPr>
              <a:t>condição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50" dirty="0">
                <a:latin typeface="Microsoft Sans Serif"/>
                <a:cs typeface="Microsoft Sans Serif"/>
              </a:rPr>
              <a:t>(ou</a:t>
            </a:r>
            <a:r>
              <a:rPr sz="2400" spc="-1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critério).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0701" y="4704333"/>
            <a:ext cx="834580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dirty="0">
                <a:latin typeface="Microsoft Sans Serif"/>
                <a:cs typeface="Microsoft Sans Serif"/>
              </a:rPr>
              <a:t>Se</a:t>
            </a:r>
            <a:r>
              <a:rPr sz="2400" spc="2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445" dirty="0">
                <a:latin typeface="Microsoft Sans Serif"/>
                <a:cs typeface="Microsoft Sans Serif"/>
              </a:rPr>
              <a:t> </a:t>
            </a:r>
            <a:r>
              <a:rPr sz="2400" spc="-30" dirty="0">
                <a:latin typeface="Microsoft Sans Serif"/>
                <a:cs typeface="Microsoft Sans Serif"/>
              </a:rPr>
              <a:t>condição</a:t>
            </a:r>
            <a:r>
              <a:rPr sz="2400" spc="3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for</a:t>
            </a:r>
            <a:r>
              <a:rPr sz="2400" spc="4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verdadeira,</a:t>
            </a:r>
            <a:r>
              <a:rPr sz="2400" spc="4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</a:t>
            </a:r>
            <a:r>
              <a:rPr sz="2400" spc="3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intervalo</a:t>
            </a:r>
            <a:r>
              <a:rPr sz="2400" spc="409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</a:t>
            </a:r>
            <a:r>
              <a:rPr sz="2400" spc="409" dirty="0">
                <a:latin typeface="Microsoft Sans Serif"/>
                <a:cs typeface="Microsoft Sans Serif"/>
              </a:rPr>
              <a:t> </a:t>
            </a:r>
            <a:r>
              <a:rPr sz="2400" spc="-30" dirty="0">
                <a:latin typeface="Microsoft Sans Serif"/>
                <a:cs typeface="Microsoft Sans Serif"/>
              </a:rPr>
              <a:t>células</a:t>
            </a:r>
            <a:r>
              <a:rPr sz="2400" spc="34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será </a:t>
            </a:r>
            <a:r>
              <a:rPr sz="2400" spc="-40" dirty="0">
                <a:latin typeface="Microsoft Sans Serif"/>
                <a:cs typeface="Microsoft Sans Serif"/>
              </a:rPr>
              <a:t>formatado</a:t>
            </a:r>
            <a:r>
              <a:rPr sz="2400" spc="-120" dirty="0">
                <a:latin typeface="Microsoft Sans Serif"/>
                <a:cs typeface="Microsoft Sans Serif"/>
              </a:rPr>
              <a:t> </a:t>
            </a:r>
            <a:r>
              <a:rPr sz="2400" spc="-220" dirty="0">
                <a:latin typeface="Microsoft Sans Serif"/>
                <a:cs typeface="Microsoft Sans Serif"/>
              </a:rPr>
              <a:t>com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spc="-70" dirty="0">
                <a:latin typeface="Microsoft Sans Serif"/>
                <a:cs typeface="Microsoft Sans Serif"/>
              </a:rPr>
              <a:t>base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220" dirty="0">
                <a:latin typeface="Microsoft Sans Serif"/>
                <a:cs typeface="Microsoft Sans Serif"/>
              </a:rPr>
              <a:t>nessa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spc="-114" dirty="0">
                <a:latin typeface="Microsoft Sans Serif"/>
                <a:cs typeface="Microsoft Sans Serif"/>
              </a:rPr>
              <a:t>condição;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165" dirty="0">
                <a:latin typeface="Microsoft Sans Serif"/>
                <a:cs typeface="Microsoft Sans Serif"/>
              </a:rPr>
              <a:t>se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140" dirty="0">
                <a:latin typeface="Microsoft Sans Serif"/>
                <a:cs typeface="Microsoft Sans Serif"/>
              </a:rPr>
              <a:t> </a:t>
            </a:r>
            <a:r>
              <a:rPr sz="2400" spc="-130" dirty="0">
                <a:latin typeface="Microsoft Sans Serif"/>
                <a:cs typeface="Microsoft Sans Serif"/>
              </a:rPr>
              <a:t>condição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for</a:t>
            </a:r>
            <a:r>
              <a:rPr sz="2400" spc="14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falsa,</a:t>
            </a:r>
            <a:r>
              <a:rPr sz="2400" spc="7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o </a:t>
            </a:r>
            <a:r>
              <a:rPr sz="2400" dirty="0">
                <a:latin typeface="Microsoft Sans Serif"/>
                <a:cs typeface="Microsoft Sans Serif"/>
              </a:rPr>
              <a:t>intervalo</a:t>
            </a:r>
            <a:r>
              <a:rPr sz="2400" spc="4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</a:t>
            </a:r>
            <a:r>
              <a:rPr sz="2400" spc="4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células</a:t>
            </a:r>
            <a:r>
              <a:rPr sz="2400" spc="4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não</a:t>
            </a:r>
            <a:r>
              <a:rPr sz="2400" spc="4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será</a:t>
            </a:r>
            <a:r>
              <a:rPr sz="2400" spc="434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formatado</a:t>
            </a:r>
            <a:r>
              <a:rPr sz="2400" spc="4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com</a:t>
            </a:r>
            <a:r>
              <a:rPr sz="2400" spc="3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base</a:t>
            </a:r>
            <a:r>
              <a:rPr sz="2400" spc="434" dirty="0">
                <a:latin typeface="Microsoft Sans Serif"/>
                <a:cs typeface="Microsoft Sans Serif"/>
              </a:rPr>
              <a:t> </a:t>
            </a:r>
            <a:r>
              <a:rPr sz="2400" spc="-130" dirty="0">
                <a:latin typeface="Microsoft Sans Serif"/>
                <a:cs typeface="Microsoft Sans Serif"/>
              </a:rPr>
              <a:t>nessa </a:t>
            </a:r>
            <a:r>
              <a:rPr sz="2400" spc="-45" dirty="0">
                <a:latin typeface="Microsoft Sans Serif"/>
                <a:cs typeface="Microsoft Sans Serif"/>
              </a:rPr>
              <a:t>condição.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7611610-A243-4990-A48D-CE8C35D81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933" y="2995295"/>
            <a:ext cx="9618133" cy="13525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270" dirty="0">
                <a:solidFill>
                  <a:srgbClr val="000000"/>
                </a:solidFill>
                <a:latin typeface="Calibri"/>
                <a:cs typeface="Calibri"/>
              </a:rPr>
              <a:t>Formatação </a:t>
            </a:r>
            <a:r>
              <a:rPr spc="-265" dirty="0">
                <a:solidFill>
                  <a:srgbClr val="000000"/>
                </a:solidFill>
                <a:latin typeface="Calibri"/>
                <a:cs typeface="Calibri"/>
              </a:rPr>
              <a:t>condicional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4241" y="1219200"/>
            <a:ext cx="8314690" cy="212153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2105" indent="-319405" algn="just">
              <a:lnSpc>
                <a:spcPct val="100000"/>
              </a:lnSpc>
              <a:spcBef>
                <a:spcPts val="80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sz="2400" spc="-135" dirty="0">
                <a:latin typeface="Microsoft Sans Serif"/>
                <a:cs typeface="Microsoft Sans Serif"/>
              </a:rPr>
              <a:t>Para</a:t>
            </a:r>
            <a:r>
              <a:rPr sz="2400" spc="-150" dirty="0">
                <a:latin typeface="Microsoft Sans Serif"/>
                <a:cs typeface="Microsoft Sans Serif"/>
              </a:rPr>
              <a:t> </a:t>
            </a:r>
            <a:r>
              <a:rPr sz="2400" spc="-60" dirty="0">
                <a:latin typeface="Microsoft Sans Serif"/>
                <a:cs typeface="Microsoft Sans Serif"/>
              </a:rPr>
              <a:t>utilizar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90" dirty="0">
                <a:latin typeface="Microsoft Sans Serif"/>
                <a:cs typeface="Microsoft Sans Serif"/>
              </a:rPr>
              <a:t>formatação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140" dirty="0">
                <a:latin typeface="Microsoft Sans Serif"/>
                <a:cs typeface="Microsoft Sans Serif"/>
              </a:rPr>
              <a:t>condicional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spc="-65" dirty="0">
                <a:latin typeface="Microsoft Sans Serif"/>
                <a:cs typeface="Microsoft Sans Serif"/>
              </a:rPr>
              <a:t>precisamos:</a:t>
            </a:r>
            <a:endParaRPr sz="2400" dirty="0">
              <a:latin typeface="Microsoft Sans Serif"/>
              <a:cs typeface="Microsoft Sans Serif"/>
            </a:endParaRPr>
          </a:p>
          <a:p>
            <a:pPr marL="470534" indent="-457834" algn="just">
              <a:lnSpc>
                <a:spcPct val="100000"/>
              </a:lnSpc>
              <a:spcBef>
                <a:spcPts val="705"/>
              </a:spcBef>
              <a:buClr>
                <a:srgbClr val="476F1E"/>
              </a:buClr>
              <a:buSzPct val="60416"/>
              <a:buAutoNum type="arabicPeriod"/>
              <a:tabLst>
                <a:tab pos="470534" algn="l"/>
              </a:tabLst>
            </a:pPr>
            <a:r>
              <a:rPr sz="2400" spc="-145" dirty="0">
                <a:latin typeface="Microsoft Sans Serif"/>
                <a:cs typeface="Microsoft Sans Serif"/>
              </a:rPr>
              <a:t>Selecionar</a:t>
            </a:r>
            <a:r>
              <a:rPr sz="2400" spc="-1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</a:t>
            </a:r>
            <a:r>
              <a:rPr sz="2400" spc="-160" dirty="0">
                <a:latin typeface="Microsoft Sans Serif"/>
                <a:cs typeface="Microsoft Sans Serif"/>
              </a:rPr>
              <a:t> </a:t>
            </a:r>
            <a:r>
              <a:rPr sz="2400" spc="-85" dirty="0">
                <a:latin typeface="Microsoft Sans Serif"/>
                <a:cs typeface="Microsoft Sans Serif"/>
              </a:rPr>
              <a:t>intervalo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de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células</a:t>
            </a:r>
            <a:endParaRPr sz="2400" dirty="0">
              <a:latin typeface="Microsoft Sans Serif"/>
              <a:cs typeface="Microsoft Sans Serif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695"/>
              </a:spcBef>
              <a:buSzPct val="60416"/>
              <a:buAutoNum type="arabicPeriod"/>
              <a:tabLst>
                <a:tab pos="469900" algn="l"/>
                <a:tab pos="471170" algn="l"/>
              </a:tabLst>
            </a:pPr>
            <a:r>
              <a:rPr sz="2400" dirty="0">
                <a:solidFill>
                  <a:srgbClr val="476F1E"/>
                </a:solidFill>
                <a:latin typeface="Microsoft Sans Serif"/>
                <a:cs typeface="Microsoft Sans Serif"/>
              </a:rPr>
              <a:t>	</a:t>
            </a:r>
            <a:r>
              <a:rPr sz="2400" dirty="0">
                <a:latin typeface="Microsoft Sans Serif"/>
                <a:cs typeface="Microsoft Sans Serif"/>
              </a:rPr>
              <a:t>Na</a:t>
            </a:r>
            <a:r>
              <a:rPr sz="2400" spc="229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guia</a:t>
            </a:r>
            <a:r>
              <a:rPr sz="2400" spc="220" dirty="0">
                <a:latin typeface="Microsoft Sans Serif"/>
                <a:cs typeface="Microsoft Sans Serif"/>
              </a:rPr>
              <a:t> </a:t>
            </a:r>
            <a:r>
              <a:rPr sz="2400" spc="-75" dirty="0">
                <a:latin typeface="Microsoft Sans Serif"/>
                <a:cs typeface="Microsoft Sans Serif"/>
              </a:rPr>
              <a:t>Início,</a:t>
            </a:r>
            <a:r>
              <a:rPr sz="2400" spc="1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</a:t>
            </a:r>
            <a:r>
              <a:rPr sz="2400" spc="1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grupo</a:t>
            </a:r>
            <a:r>
              <a:rPr sz="2400" spc="225" dirty="0">
                <a:latin typeface="Microsoft Sans Serif"/>
                <a:cs typeface="Microsoft Sans Serif"/>
              </a:rPr>
              <a:t> </a:t>
            </a:r>
            <a:r>
              <a:rPr sz="2400" spc="-145" dirty="0">
                <a:latin typeface="Microsoft Sans Serif"/>
                <a:cs typeface="Microsoft Sans Serif"/>
              </a:rPr>
              <a:t>Estilos,</a:t>
            </a:r>
            <a:r>
              <a:rPr sz="2400" spc="1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clique</a:t>
            </a:r>
            <a:r>
              <a:rPr sz="2400" spc="1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na</a:t>
            </a:r>
            <a:r>
              <a:rPr sz="2400" spc="1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seta</a:t>
            </a:r>
            <a:r>
              <a:rPr sz="2400" spc="1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ao</a:t>
            </a:r>
            <a:r>
              <a:rPr sz="2400" spc="2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lado</a:t>
            </a:r>
            <a:r>
              <a:rPr sz="2400" spc="24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de </a:t>
            </a:r>
            <a:r>
              <a:rPr sz="2400" spc="-114" dirty="0">
                <a:latin typeface="Microsoft Sans Serif"/>
                <a:cs typeface="Microsoft Sans Serif"/>
              </a:rPr>
              <a:t>Formatação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10" dirty="0">
                <a:latin typeface="Microsoft Sans Serif"/>
                <a:cs typeface="Microsoft Sans Serif"/>
              </a:rPr>
              <a:t>Condicional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e,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em</a:t>
            </a:r>
            <a:r>
              <a:rPr sz="2400" spc="-114" dirty="0">
                <a:latin typeface="Microsoft Sans Serif"/>
                <a:cs typeface="Microsoft Sans Serif"/>
              </a:rPr>
              <a:t> </a:t>
            </a:r>
            <a:r>
              <a:rPr sz="2400" spc="-80" dirty="0">
                <a:latin typeface="Microsoft Sans Serif"/>
                <a:cs typeface="Microsoft Sans Serif"/>
              </a:rPr>
              <a:t>seguida,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aplique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as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regras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de </a:t>
            </a:r>
            <a:r>
              <a:rPr sz="2400" spc="-105" dirty="0">
                <a:latin typeface="Microsoft Sans Serif"/>
                <a:cs typeface="Microsoft Sans Serif"/>
              </a:rPr>
              <a:t>acordo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200" dirty="0">
                <a:latin typeface="Microsoft Sans Serif"/>
                <a:cs typeface="Microsoft Sans Serif"/>
              </a:rPr>
              <a:t>com</a:t>
            </a:r>
            <a:r>
              <a:rPr sz="2400" spc="-229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75" dirty="0">
                <a:latin typeface="Microsoft Sans Serif"/>
                <a:cs typeface="Microsoft Sans Serif"/>
              </a:rPr>
              <a:t>necessidade.</a:t>
            </a:r>
            <a:endParaRPr sz="2400" dirty="0">
              <a:latin typeface="Microsoft Sans Serif"/>
              <a:cs typeface="Microsoft Sans Serif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80075D6-788F-4244-981C-7752776DA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341676"/>
            <a:ext cx="5273677" cy="324244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EAA58E6-9C99-4FE5-91AC-3D3760D2B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3341676"/>
            <a:ext cx="5993351" cy="324244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828A2AC-A917-4CAD-A248-11E373DC0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1441767"/>
            <a:ext cx="2105025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95"/>
              </a:spcBef>
            </a:pPr>
            <a:r>
              <a:rPr spc="-615" dirty="0"/>
              <a:t>E</a:t>
            </a:r>
            <a:r>
              <a:rPr spc="-550" dirty="0"/>
              <a:t>x</a:t>
            </a:r>
            <a:r>
              <a:rPr spc="-185" dirty="0"/>
              <a:t>e</a:t>
            </a:r>
            <a:r>
              <a:rPr spc="-114" dirty="0"/>
              <a:t>r</a:t>
            </a:r>
            <a:r>
              <a:rPr spc="-330" dirty="0"/>
              <a:t>c</a:t>
            </a:r>
            <a:r>
              <a:rPr spc="-335" dirty="0"/>
              <a:t>í</a:t>
            </a:r>
            <a:r>
              <a:rPr spc="-480" dirty="0"/>
              <a:t>c</a:t>
            </a:r>
            <a:r>
              <a:rPr spc="-180" dirty="0"/>
              <a:t>i</a:t>
            </a:r>
            <a:r>
              <a:rPr spc="-185" dirty="0"/>
              <a:t>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1828800"/>
            <a:ext cx="8249411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117"/>
            <a:ext cx="12192000" cy="6224905"/>
            <a:chOff x="0" y="633117"/>
            <a:chExt cx="12192000" cy="6224905"/>
          </a:xfrm>
        </p:grpSpPr>
        <p:sp>
          <p:nvSpPr>
            <p:cNvPr id="3" name="object 3"/>
            <p:cNvSpPr/>
            <p:nvPr/>
          </p:nvSpPr>
          <p:spPr>
            <a:xfrm>
              <a:off x="1524000" y="1280159"/>
              <a:ext cx="533400" cy="228600"/>
            </a:xfrm>
            <a:custGeom>
              <a:avLst/>
              <a:gdLst/>
              <a:ahLst/>
              <a:cxnLst/>
              <a:rect l="l" t="t" r="r" b="b"/>
              <a:pathLst>
                <a:path w="533400" h="228600">
                  <a:moveTo>
                    <a:pt x="5334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533400" y="2286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476F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14550" y="1280159"/>
              <a:ext cx="8553450" cy="228600"/>
            </a:xfrm>
            <a:custGeom>
              <a:avLst/>
              <a:gdLst/>
              <a:ahLst/>
              <a:cxnLst/>
              <a:rect l="l" t="t" r="r" b="b"/>
              <a:pathLst>
                <a:path w="8553450" h="228600">
                  <a:moveTo>
                    <a:pt x="855345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8553450" y="228600"/>
                  </a:lnTo>
                  <a:lnTo>
                    <a:pt x="855345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62707" y="649986"/>
            <a:ext cx="172021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0" dirty="0">
                <a:solidFill>
                  <a:srgbClr val="000000"/>
                </a:solidFill>
                <a:latin typeface="Calibri"/>
                <a:cs typeface="Calibri"/>
              </a:rPr>
              <a:t>Gráficos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37867" y="1262126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60701" y="1610359"/>
            <a:ext cx="7989570" cy="2413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marR="1633855" indent="-320040">
              <a:lnSpc>
                <a:spcPct val="100000"/>
              </a:lnSpc>
              <a:spcBef>
                <a:spcPts val="95"/>
              </a:spcBef>
              <a:buClr>
                <a:srgbClr val="476F1E"/>
              </a:buClr>
              <a:buSzPct val="58620"/>
              <a:buFont typeface="Wingdings"/>
              <a:buChar char=""/>
              <a:tabLst>
                <a:tab pos="332740" algn="l"/>
              </a:tabLst>
            </a:pPr>
            <a:r>
              <a:rPr sz="2900" spc="-245" dirty="0">
                <a:latin typeface="Arial MT"/>
                <a:cs typeface="Arial MT"/>
              </a:rPr>
              <a:t>Um</a:t>
            </a:r>
            <a:r>
              <a:rPr sz="2900" spc="-465" dirty="0">
                <a:latin typeface="Arial MT"/>
                <a:cs typeface="Arial MT"/>
              </a:rPr>
              <a:t> </a:t>
            </a:r>
            <a:r>
              <a:rPr sz="2900" spc="-50" dirty="0">
                <a:latin typeface="Arial MT"/>
                <a:cs typeface="Arial MT"/>
              </a:rPr>
              <a:t>gráfico</a:t>
            </a:r>
            <a:r>
              <a:rPr sz="2900" spc="-90" dirty="0">
                <a:latin typeface="Arial MT"/>
                <a:cs typeface="Arial MT"/>
              </a:rPr>
              <a:t> </a:t>
            </a:r>
            <a:r>
              <a:rPr sz="2900" spc="-185" dirty="0">
                <a:latin typeface="Arial MT"/>
                <a:cs typeface="Arial MT"/>
              </a:rPr>
              <a:t>transmite</a:t>
            </a:r>
            <a:r>
              <a:rPr sz="2900" spc="-19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 </a:t>
            </a:r>
            <a:r>
              <a:rPr sz="2900" spc="-215" dirty="0">
                <a:latin typeface="Arial MT"/>
                <a:cs typeface="Arial MT"/>
              </a:rPr>
              <a:t>sua</a:t>
            </a:r>
            <a:r>
              <a:rPr sz="2900" spc="-295" dirty="0">
                <a:latin typeface="Arial MT"/>
                <a:cs typeface="Arial MT"/>
              </a:rPr>
              <a:t> </a:t>
            </a:r>
            <a:r>
              <a:rPr sz="2900" spc="-254" dirty="0">
                <a:latin typeface="Arial MT"/>
                <a:cs typeface="Arial MT"/>
              </a:rPr>
              <a:t>mensagem</a:t>
            </a:r>
            <a:r>
              <a:rPr sz="2900" spc="-300" dirty="0">
                <a:latin typeface="Arial MT"/>
                <a:cs typeface="Arial MT"/>
              </a:rPr>
              <a:t> </a:t>
            </a:r>
            <a:r>
              <a:rPr sz="2900" spc="-50" dirty="0">
                <a:latin typeface="Cambria"/>
                <a:cs typeface="Cambria"/>
              </a:rPr>
              <a:t>— </a:t>
            </a:r>
            <a:r>
              <a:rPr sz="2900" spc="-10" dirty="0">
                <a:latin typeface="Arial MT"/>
                <a:cs typeface="Arial MT"/>
              </a:rPr>
              <a:t>rapidamente.</a:t>
            </a:r>
            <a:endParaRPr sz="2900">
              <a:latin typeface="Arial MT"/>
              <a:cs typeface="Arial MT"/>
            </a:endParaRPr>
          </a:p>
          <a:p>
            <a:pPr marL="331470" indent="-318770">
              <a:lnSpc>
                <a:spcPct val="100000"/>
              </a:lnSpc>
              <a:spcBef>
                <a:spcPts val="705"/>
              </a:spcBef>
              <a:buClr>
                <a:srgbClr val="476F1E"/>
              </a:buClr>
              <a:buSzPct val="58620"/>
              <a:buFont typeface="Wingdings"/>
              <a:buChar char=""/>
              <a:tabLst>
                <a:tab pos="331470" algn="l"/>
              </a:tabLst>
            </a:pPr>
            <a:r>
              <a:rPr sz="2900" spc="-240" dirty="0">
                <a:latin typeface="Arial MT"/>
                <a:cs typeface="Arial MT"/>
              </a:rPr>
              <a:t>Com</a:t>
            </a:r>
            <a:r>
              <a:rPr sz="2900" spc="-375" dirty="0">
                <a:latin typeface="Arial MT"/>
                <a:cs typeface="Arial MT"/>
              </a:rPr>
              <a:t> </a:t>
            </a:r>
            <a:r>
              <a:rPr sz="2900" spc="-220" dirty="0">
                <a:latin typeface="Arial MT"/>
                <a:cs typeface="Arial MT"/>
              </a:rPr>
              <a:t>um</a:t>
            </a:r>
            <a:r>
              <a:rPr sz="2900" spc="-409" dirty="0">
                <a:latin typeface="Arial MT"/>
                <a:cs typeface="Arial MT"/>
              </a:rPr>
              <a:t> </a:t>
            </a:r>
            <a:r>
              <a:rPr sz="2900" spc="-80" dirty="0">
                <a:latin typeface="Arial MT"/>
                <a:cs typeface="Arial MT"/>
              </a:rPr>
              <a:t>gráfico,</a:t>
            </a:r>
            <a:r>
              <a:rPr sz="2900" spc="-2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é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possível</a:t>
            </a:r>
            <a:endParaRPr sz="2900">
              <a:latin typeface="Arial MT"/>
              <a:cs typeface="Arial MT"/>
            </a:endParaRPr>
          </a:p>
          <a:p>
            <a:pPr marL="332740" marR="5080" indent="-320040">
              <a:lnSpc>
                <a:spcPct val="100000"/>
              </a:lnSpc>
              <a:spcBef>
                <a:spcPts val="695"/>
              </a:spcBef>
              <a:buClr>
                <a:srgbClr val="476F1E"/>
              </a:buClr>
              <a:buSzPct val="58620"/>
              <a:buFont typeface="Wingdings"/>
              <a:buChar char=""/>
              <a:tabLst>
                <a:tab pos="332740" algn="l"/>
              </a:tabLst>
            </a:pPr>
            <a:r>
              <a:rPr sz="2900" spc="-145" dirty="0">
                <a:latin typeface="Arial MT"/>
                <a:cs typeface="Arial MT"/>
              </a:rPr>
              <a:t>transformar</a:t>
            </a:r>
            <a:r>
              <a:rPr sz="2900" spc="-220" dirty="0">
                <a:latin typeface="Arial MT"/>
                <a:cs typeface="Arial MT"/>
              </a:rPr>
              <a:t> </a:t>
            </a:r>
            <a:r>
              <a:rPr sz="2900" spc="-185" dirty="0">
                <a:latin typeface="Arial MT"/>
                <a:cs typeface="Arial MT"/>
              </a:rPr>
              <a:t>os</a:t>
            </a:r>
            <a:r>
              <a:rPr sz="2900" spc="-350" dirty="0">
                <a:latin typeface="Arial MT"/>
                <a:cs typeface="Arial MT"/>
              </a:rPr>
              <a:t> </a:t>
            </a:r>
            <a:r>
              <a:rPr sz="2900" spc="-130" dirty="0">
                <a:latin typeface="Arial MT"/>
                <a:cs typeface="Arial MT"/>
              </a:rPr>
              <a:t>dados</a:t>
            </a:r>
            <a:r>
              <a:rPr sz="2900" spc="-2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de</a:t>
            </a:r>
            <a:r>
              <a:rPr sz="2900" spc="-125" dirty="0">
                <a:latin typeface="Arial MT"/>
                <a:cs typeface="Arial MT"/>
              </a:rPr>
              <a:t> </a:t>
            </a:r>
            <a:r>
              <a:rPr sz="2900" spc="-204" dirty="0">
                <a:latin typeface="Arial MT"/>
                <a:cs typeface="Arial MT"/>
              </a:rPr>
              <a:t>uma</a:t>
            </a:r>
            <a:r>
              <a:rPr sz="2900" spc="-290" dirty="0">
                <a:latin typeface="Arial MT"/>
                <a:cs typeface="Arial MT"/>
              </a:rPr>
              <a:t> </a:t>
            </a:r>
            <a:r>
              <a:rPr sz="2900" spc="-105" dirty="0">
                <a:latin typeface="Arial MT"/>
                <a:cs typeface="Arial MT"/>
              </a:rPr>
              <a:t>planilha</a:t>
            </a:r>
            <a:r>
              <a:rPr sz="2900" spc="-1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para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50" dirty="0">
                <a:latin typeface="Arial MT"/>
                <a:cs typeface="Arial MT"/>
              </a:rPr>
              <a:t>mostrar </a:t>
            </a:r>
            <a:r>
              <a:rPr sz="2900" spc="-215" dirty="0">
                <a:latin typeface="Arial MT"/>
                <a:cs typeface="Arial MT"/>
              </a:rPr>
              <a:t>comparações,</a:t>
            </a:r>
            <a:r>
              <a:rPr sz="2900" spc="-315" dirty="0">
                <a:latin typeface="Arial MT"/>
                <a:cs typeface="Arial MT"/>
              </a:rPr>
              <a:t> </a:t>
            </a:r>
            <a:r>
              <a:rPr sz="2900" spc="-125" dirty="0">
                <a:latin typeface="Arial MT"/>
                <a:cs typeface="Arial MT"/>
              </a:rPr>
              <a:t>padrões</a:t>
            </a:r>
            <a:r>
              <a:rPr sz="2900" spc="-18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e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tendências.</a:t>
            </a:r>
            <a:endParaRPr sz="2900">
              <a:latin typeface="Arial MT"/>
              <a:cs typeface="Arial MT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1A41303-0171-4B07-AF25-95BBA4064A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363"/>
          <a:stretch/>
        </p:blipFill>
        <p:spPr>
          <a:xfrm>
            <a:off x="0" y="4477767"/>
            <a:ext cx="11547953" cy="1100074"/>
          </a:xfrm>
          <a:prstGeom prst="rect">
            <a:avLst/>
          </a:prstGeom>
        </p:spPr>
      </p:pic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9FF47BD-11E9-44EF-9C47-AC64A247F08E}"/>
              </a:ext>
            </a:extLst>
          </p:cNvPr>
          <p:cNvSpPr/>
          <p:nvPr/>
        </p:nvSpPr>
        <p:spPr>
          <a:xfrm>
            <a:off x="4343400" y="4648200"/>
            <a:ext cx="3352800" cy="6858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689864"/>
            <a:ext cx="172021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0" dirty="0">
                <a:solidFill>
                  <a:srgbClr val="000000"/>
                </a:solidFill>
                <a:latin typeface="Calibri"/>
                <a:cs typeface="Calibri"/>
              </a:rPr>
              <a:t>Gráficos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600" y="1524000"/>
            <a:ext cx="7242809" cy="1120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95"/>
              </a:spcBef>
              <a:buClr>
                <a:srgbClr val="476F1E"/>
              </a:buClr>
              <a:buSzPct val="58620"/>
              <a:buFont typeface="Wingdings"/>
              <a:buChar char=""/>
              <a:tabLst>
                <a:tab pos="332740" algn="l"/>
              </a:tabLst>
            </a:pPr>
            <a:r>
              <a:rPr sz="2400" spc="-165" dirty="0">
                <a:latin typeface="Arial MT"/>
                <a:cs typeface="Arial MT"/>
              </a:rPr>
              <a:t>Para</a:t>
            </a:r>
            <a:r>
              <a:rPr sz="2400" spc="-240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criar</a:t>
            </a:r>
            <a:r>
              <a:rPr sz="2400" spc="-204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um</a:t>
            </a:r>
            <a:r>
              <a:rPr sz="2400" spc="-425" dirty="0">
                <a:latin typeface="Arial MT"/>
                <a:cs typeface="Arial MT"/>
              </a:rPr>
              <a:t> </a:t>
            </a:r>
            <a:r>
              <a:rPr sz="2400" spc="-80" dirty="0">
                <a:latin typeface="Arial MT"/>
                <a:cs typeface="Arial MT"/>
              </a:rPr>
              <a:t>gráfico,</a:t>
            </a:r>
            <a:r>
              <a:rPr sz="2400" spc="-1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partir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valores </a:t>
            </a:r>
            <a:r>
              <a:rPr sz="2400" spc="-160" dirty="0">
                <a:latin typeface="Arial MT"/>
                <a:cs typeface="Arial MT"/>
              </a:rPr>
              <a:t>introduzidos</a:t>
            </a:r>
            <a:r>
              <a:rPr sz="2400" spc="-225" dirty="0">
                <a:latin typeface="Arial MT"/>
                <a:cs typeface="Arial MT"/>
              </a:rPr>
              <a:t> </a:t>
            </a:r>
            <a:r>
              <a:rPr sz="2400" spc="-254" dirty="0">
                <a:latin typeface="Arial MT"/>
                <a:cs typeface="Arial MT"/>
              </a:rPr>
              <a:t>numa</a:t>
            </a:r>
            <a:r>
              <a:rPr sz="2400" spc="-290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folha</a:t>
            </a:r>
            <a:r>
              <a:rPr sz="2400" spc="-1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cálculo,</a:t>
            </a:r>
            <a:r>
              <a:rPr sz="2400" spc="-225" dirty="0">
                <a:latin typeface="Arial MT"/>
                <a:cs typeface="Arial MT"/>
              </a:rPr>
              <a:t> </a:t>
            </a:r>
            <a:r>
              <a:rPr sz="2400" spc="-245" dirty="0">
                <a:latin typeface="Arial MT"/>
                <a:cs typeface="Arial MT"/>
              </a:rPr>
              <a:t>comece</a:t>
            </a:r>
            <a:r>
              <a:rPr sz="2400" spc="-32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por </a:t>
            </a:r>
            <a:r>
              <a:rPr sz="2400" spc="-165" dirty="0">
                <a:latin typeface="Arial MT"/>
                <a:cs typeface="Arial MT"/>
              </a:rPr>
              <a:t>selecionar</a:t>
            </a:r>
            <a:r>
              <a:rPr sz="2400" spc="-2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guia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b="1" spc="-10" dirty="0">
                <a:latin typeface="Arial"/>
                <a:cs typeface="Arial"/>
              </a:rPr>
              <a:t>Inserir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8200" y="3200400"/>
            <a:ext cx="281686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spc="-150" dirty="0">
                <a:latin typeface="Arial MT"/>
                <a:cs typeface="Arial MT"/>
              </a:rPr>
              <a:t>Depois,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60" dirty="0">
                <a:latin typeface="Arial MT"/>
                <a:cs typeface="Arial MT"/>
              </a:rPr>
              <a:t>selecione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135" dirty="0">
                <a:latin typeface="Arial MT"/>
                <a:cs typeface="Arial MT"/>
              </a:rPr>
              <a:t>os</a:t>
            </a:r>
            <a:r>
              <a:rPr sz="2000" spc="-165" dirty="0">
                <a:latin typeface="Arial MT"/>
                <a:cs typeface="Arial MT"/>
              </a:rPr>
              <a:t> </a:t>
            </a:r>
            <a:r>
              <a:rPr sz="2000" spc="-70" dirty="0">
                <a:latin typeface="Arial MT"/>
                <a:cs typeface="Arial MT"/>
              </a:rPr>
              <a:t>valores </a:t>
            </a:r>
            <a:r>
              <a:rPr sz="2000" spc="-110" dirty="0">
                <a:latin typeface="Arial MT"/>
                <a:cs typeface="Arial MT"/>
              </a:rPr>
              <a:t>que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spc="-80" dirty="0">
                <a:latin typeface="Arial MT"/>
                <a:cs typeface="Arial MT"/>
              </a:rPr>
              <a:t>pretende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spc="-35" dirty="0">
                <a:latin typeface="Arial MT"/>
                <a:cs typeface="Arial MT"/>
              </a:rPr>
              <a:t>exibir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num </a:t>
            </a:r>
            <a:r>
              <a:rPr sz="2000" spc="-50" dirty="0">
                <a:latin typeface="Arial MT"/>
                <a:cs typeface="Arial MT"/>
              </a:rPr>
              <a:t>gráfico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14" dirty="0">
                <a:latin typeface="Arial MT"/>
                <a:cs typeface="Arial MT"/>
              </a:rPr>
              <a:t>clique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14" dirty="0">
                <a:latin typeface="Arial MT"/>
                <a:cs typeface="Arial MT"/>
              </a:rPr>
              <a:t>no</a:t>
            </a:r>
            <a:r>
              <a:rPr sz="2000" spc="-19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tipo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de </a:t>
            </a:r>
            <a:r>
              <a:rPr sz="2000" spc="-45" dirty="0">
                <a:latin typeface="Arial MT"/>
                <a:cs typeface="Arial MT"/>
              </a:rPr>
              <a:t>gráfico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escolhido.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E8A63C5-1B34-471D-A115-93520CA75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2286000"/>
            <a:ext cx="5715606" cy="446218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04576" y="619832"/>
            <a:ext cx="172021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0" dirty="0">
                <a:solidFill>
                  <a:srgbClr val="000000"/>
                </a:solidFill>
                <a:latin typeface="Calibri"/>
                <a:cs typeface="Calibri"/>
              </a:rPr>
              <a:t>Gráficos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37867" y="1262126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1470405"/>
            <a:ext cx="746125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95"/>
              </a:spcBef>
              <a:buClr>
                <a:srgbClr val="476F1E"/>
              </a:buClr>
              <a:buSzPct val="58620"/>
              <a:buFont typeface="Wingdings"/>
              <a:buChar char=""/>
              <a:tabLst>
                <a:tab pos="332105" algn="l"/>
              </a:tabLst>
            </a:pPr>
            <a:r>
              <a:rPr sz="2400" spc="-190" dirty="0">
                <a:latin typeface="Arial MT"/>
                <a:cs typeface="Arial MT"/>
              </a:rPr>
              <a:t>É</a:t>
            </a:r>
            <a:r>
              <a:rPr lang="pt-BR" sz="2400" spc="-190" dirty="0">
                <a:latin typeface="Arial MT"/>
                <a:cs typeface="Arial MT"/>
              </a:rPr>
              <a:t> </a:t>
            </a:r>
            <a:r>
              <a:rPr sz="2400" spc="-190" dirty="0" err="1">
                <a:latin typeface="Arial MT"/>
                <a:cs typeface="Arial MT"/>
              </a:rPr>
              <a:t>possível</a:t>
            </a:r>
            <a:r>
              <a:rPr sz="2400" spc="-2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editar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características</a:t>
            </a:r>
            <a:r>
              <a:rPr sz="2400" spc="-2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45" dirty="0">
                <a:latin typeface="Arial MT"/>
                <a:cs typeface="Arial MT"/>
              </a:rPr>
              <a:t>gráfico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14" dirty="0">
                <a:latin typeface="Arial MT"/>
                <a:cs typeface="Arial MT"/>
              </a:rPr>
              <a:t>como: </a:t>
            </a:r>
            <a:r>
              <a:rPr sz="2400" spc="-210" dirty="0">
                <a:latin typeface="Arial MT"/>
                <a:cs typeface="Arial MT"/>
              </a:rPr>
              <a:t>cores,</a:t>
            </a:r>
            <a:r>
              <a:rPr sz="2400" spc="-325" dirty="0">
                <a:latin typeface="Arial MT"/>
                <a:cs typeface="Arial MT"/>
              </a:rPr>
              <a:t> </a:t>
            </a:r>
            <a:r>
              <a:rPr sz="2400" spc="-30" dirty="0">
                <a:latin typeface="Arial MT"/>
                <a:cs typeface="Arial MT"/>
              </a:rPr>
              <a:t>tipo</a:t>
            </a:r>
            <a:r>
              <a:rPr sz="2400" spc="-1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layout.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633220A-11CB-4551-B9B4-00CFA5FDC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21252"/>
            <a:ext cx="9598025" cy="448920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7930" y="702921"/>
            <a:ext cx="378841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>
                <a:solidFill>
                  <a:srgbClr val="000000"/>
                </a:solidFill>
                <a:latin typeface="Calibri"/>
                <a:cs typeface="Calibri"/>
              </a:rPr>
              <a:t>Área</a:t>
            </a:r>
            <a:r>
              <a:rPr spc="-2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de</a:t>
            </a:r>
            <a:r>
              <a:rPr spc="-2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330" dirty="0">
                <a:solidFill>
                  <a:srgbClr val="000000"/>
                </a:solidFill>
                <a:latin typeface="Calibri"/>
                <a:cs typeface="Calibri"/>
              </a:rPr>
              <a:t>impressão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38200" y="1628661"/>
            <a:ext cx="4547870" cy="2247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0"/>
              </a:spcBef>
              <a:buClr>
                <a:srgbClr val="476F1E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dirty="0">
                <a:latin typeface="Arial MT"/>
                <a:cs typeface="Arial MT"/>
              </a:rPr>
              <a:t>Um</a:t>
            </a:r>
            <a:r>
              <a:rPr sz="2400" spc="5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comando</a:t>
            </a:r>
            <a:r>
              <a:rPr sz="2400" spc="1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essencial</a:t>
            </a:r>
            <a:r>
              <a:rPr sz="2400" spc="120" dirty="0">
                <a:latin typeface="Arial MT"/>
                <a:cs typeface="Arial MT"/>
              </a:rPr>
              <a:t>  </a:t>
            </a:r>
            <a:r>
              <a:rPr sz="2400" spc="-20" dirty="0">
                <a:latin typeface="Arial MT"/>
                <a:cs typeface="Arial MT"/>
              </a:rPr>
              <a:t>para </a:t>
            </a:r>
            <a:r>
              <a:rPr sz="2400" dirty="0">
                <a:latin typeface="Arial MT"/>
                <a:cs typeface="Arial MT"/>
              </a:rPr>
              <a:t>imprimir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Excel </a:t>
            </a:r>
            <a:r>
              <a:rPr sz="2400" dirty="0">
                <a:latin typeface="Arial MT"/>
                <a:cs typeface="Arial MT"/>
              </a:rPr>
              <a:t>é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aquele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que </a:t>
            </a:r>
            <a:r>
              <a:rPr sz="2400" dirty="0">
                <a:latin typeface="Arial MT"/>
                <a:cs typeface="Arial MT"/>
              </a:rPr>
              <a:t>permite</a:t>
            </a:r>
            <a:r>
              <a:rPr sz="2400" spc="5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definir</a:t>
            </a:r>
            <a:r>
              <a:rPr sz="2400" spc="5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qual</a:t>
            </a:r>
            <a:r>
              <a:rPr sz="2400" spc="5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5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área</a:t>
            </a:r>
            <a:r>
              <a:rPr sz="2400" spc="57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spc="-10" dirty="0">
                <a:latin typeface="Arial MT"/>
                <a:cs typeface="Arial MT"/>
              </a:rPr>
              <a:t>imprimir.</a:t>
            </a:r>
            <a:endParaRPr sz="2400" dirty="0">
              <a:latin typeface="Arial MT"/>
              <a:cs typeface="Arial MT"/>
            </a:endParaRPr>
          </a:p>
          <a:p>
            <a:pPr marL="490220" indent="-456565">
              <a:lnSpc>
                <a:spcPct val="100000"/>
              </a:lnSpc>
              <a:spcBef>
                <a:spcPts val="715"/>
              </a:spcBef>
              <a:buClr>
                <a:srgbClr val="476F1E"/>
              </a:buClr>
              <a:buSzPct val="60526"/>
              <a:buAutoNum type="arabicPeriod"/>
              <a:tabLst>
                <a:tab pos="490220" algn="l"/>
              </a:tabLst>
            </a:pPr>
            <a:r>
              <a:rPr sz="1900" spc="-185" dirty="0">
                <a:latin typeface="Arial MT"/>
                <a:cs typeface="Arial MT"/>
              </a:rPr>
              <a:t>Comece</a:t>
            </a:r>
            <a:r>
              <a:rPr sz="1900" spc="-2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por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spc="-125" dirty="0">
                <a:latin typeface="Arial MT"/>
                <a:cs typeface="Arial MT"/>
              </a:rPr>
              <a:t>selecionar</a:t>
            </a:r>
            <a:r>
              <a:rPr sz="1900" spc="-10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área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25" dirty="0">
                <a:latin typeface="Arial MT"/>
                <a:cs typeface="Arial MT"/>
              </a:rPr>
              <a:t> imprimir.</a:t>
            </a:r>
            <a:endParaRPr sz="1900" dirty="0">
              <a:latin typeface="Arial MT"/>
              <a:cs typeface="Arial MT"/>
            </a:endParaRPr>
          </a:p>
          <a:p>
            <a:pPr marL="474345" indent="-461645">
              <a:lnSpc>
                <a:spcPct val="100000"/>
              </a:lnSpc>
              <a:spcBef>
                <a:spcPts val="695"/>
              </a:spcBef>
              <a:buClr>
                <a:srgbClr val="476F1E"/>
              </a:buClr>
              <a:buSzPct val="60526"/>
              <a:buAutoNum type="arabicPeriod"/>
              <a:tabLst>
                <a:tab pos="474345" algn="l"/>
              </a:tabLst>
            </a:pPr>
            <a:r>
              <a:rPr sz="1900" spc="-55" dirty="0">
                <a:latin typeface="Arial MT"/>
                <a:cs typeface="Arial MT"/>
              </a:rPr>
              <a:t>Clique</a:t>
            </a:r>
            <a:r>
              <a:rPr sz="1900" spc="-10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no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botão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b="1" spc="-20" dirty="0">
                <a:latin typeface="Arial"/>
                <a:cs typeface="Arial"/>
              </a:rPr>
              <a:t>Área</a:t>
            </a:r>
            <a:r>
              <a:rPr sz="1900" b="1" spc="-7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de</a:t>
            </a:r>
            <a:r>
              <a:rPr sz="1900" b="1" spc="-65" dirty="0">
                <a:latin typeface="Arial"/>
                <a:cs typeface="Arial"/>
              </a:rPr>
              <a:t> </a:t>
            </a:r>
            <a:r>
              <a:rPr sz="1900" b="1" spc="-140" dirty="0">
                <a:latin typeface="Arial"/>
                <a:cs typeface="Arial"/>
              </a:rPr>
              <a:t>Impressão,</a:t>
            </a:r>
            <a:r>
              <a:rPr sz="1900" b="1" spc="-155" dirty="0">
                <a:latin typeface="Arial"/>
                <a:cs typeface="Arial"/>
              </a:rPr>
              <a:t> </a:t>
            </a:r>
            <a:r>
              <a:rPr sz="1900" spc="-25" dirty="0">
                <a:latin typeface="Arial MT"/>
                <a:cs typeface="Arial MT"/>
              </a:rPr>
              <a:t>na</a:t>
            </a:r>
            <a:endParaRPr sz="19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0167" y="3903406"/>
            <a:ext cx="409003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41295" algn="l"/>
              </a:tabLst>
            </a:pPr>
            <a:r>
              <a:rPr sz="1900" dirty="0">
                <a:latin typeface="Arial MT"/>
                <a:cs typeface="Arial MT"/>
              </a:rPr>
              <a:t>guia</a:t>
            </a:r>
            <a:r>
              <a:rPr sz="1900" spc="70" dirty="0">
                <a:latin typeface="Arial MT"/>
                <a:cs typeface="Arial MT"/>
              </a:rPr>
              <a:t> </a:t>
            </a:r>
            <a:r>
              <a:rPr sz="1900" b="1" spc="-80" dirty="0">
                <a:latin typeface="Arial"/>
                <a:cs typeface="Arial"/>
              </a:rPr>
              <a:t>Layout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da</a:t>
            </a:r>
            <a:r>
              <a:rPr sz="1900" b="1" spc="7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Página,</a:t>
            </a:r>
            <a:r>
              <a:rPr sz="1900" b="1" dirty="0">
                <a:latin typeface="Arial"/>
                <a:cs typeface="Arial"/>
              </a:rPr>
              <a:t>	</a:t>
            </a:r>
            <a:r>
              <a:rPr sz="1900" dirty="0">
                <a:latin typeface="Arial MT"/>
                <a:cs typeface="Arial MT"/>
              </a:rPr>
              <a:t>e</a:t>
            </a:r>
            <a:r>
              <a:rPr sz="1900" spc="110" dirty="0">
                <a:latin typeface="Arial MT"/>
                <a:cs typeface="Arial MT"/>
              </a:rPr>
              <a:t> </a:t>
            </a:r>
            <a:r>
              <a:rPr sz="1900" spc="-100" dirty="0">
                <a:latin typeface="Arial MT"/>
                <a:cs typeface="Arial MT"/>
              </a:rPr>
              <a:t>selecione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spc="-50" dirty="0">
                <a:latin typeface="Arial MT"/>
                <a:cs typeface="Arial MT"/>
              </a:rPr>
              <a:t>a</a:t>
            </a:r>
            <a:endParaRPr sz="19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5328" y="4246481"/>
            <a:ext cx="4550410" cy="211899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800"/>
              </a:spcBef>
            </a:pPr>
            <a:r>
              <a:rPr sz="1900" spc="-100" dirty="0">
                <a:latin typeface="Arial MT"/>
                <a:cs typeface="Arial MT"/>
              </a:rPr>
              <a:t>opção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b="1" spc="-114" dirty="0">
                <a:latin typeface="Arial"/>
                <a:cs typeface="Arial"/>
              </a:rPr>
              <a:t>Definir</a:t>
            </a:r>
            <a:r>
              <a:rPr sz="1900" b="1" spc="-135" dirty="0">
                <a:latin typeface="Arial"/>
                <a:cs typeface="Arial"/>
              </a:rPr>
              <a:t> </a:t>
            </a:r>
            <a:r>
              <a:rPr sz="1900" b="1" spc="-95" dirty="0">
                <a:latin typeface="Arial"/>
                <a:cs typeface="Arial"/>
              </a:rPr>
              <a:t>área</a:t>
            </a:r>
            <a:r>
              <a:rPr sz="1900" b="1" spc="-60" dirty="0">
                <a:latin typeface="Arial"/>
                <a:cs typeface="Arial"/>
              </a:rPr>
              <a:t> </a:t>
            </a:r>
            <a:r>
              <a:rPr sz="1900" b="1" spc="-100" dirty="0">
                <a:latin typeface="Arial"/>
                <a:cs typeface="Arial"/>
              </a:rPr>
              <a:t>de</a:t>
            </a:r>
            <a:r>
              <a:rPr sz="1900" b="1" spc="-13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impressão</a:t>
            </a:r>
            <a:r>
              <a:rPr sz="1900" spc="-10" dirty="0">
                <a:latin typeface="Arial MT"/>
                <a:cs typeface="Arial MT"/>
              </a:rPr>
              <a:t>.</a:t>
            </a:r>
            <a:endParaRPr sz="1900" dirty="0">
              <a:latin typeface="Arial MT"/>
              <a:cs typeface="Arial MT"/>
            </a:endParaRPr>
          </a:p>
          <a:p>
            <a:pPr marL="469900" marR="11430" indent="-416559">
              <a:lnSpc>
                <a:spcPct val="100000"/>
              </a:lnSpc>
              <a:spcBef>
                <a:spcPts val="700"/>
              </a:spcBef>
              <a:buAutoNum type="arabicPeriod" startAt="3"/>
              <a:tabLst>
                <a:tab pos="469900" algn="l"/>
                <a:tab pos="509905" algn="l"/>
              </a:tabLst>
            </a:pPr>
            <a:r>
              <a:rPr sz="1150" dirty="0">
                <a:solidFill>
                  <a:srgbClr val="476F1E"/>
                </a:solidFill>
                <a:latin typeface="Arial MT"/>
                <a:cs typeface="Arial MT"/>
              </a:rPr>
              <a:t>	</a:t>
            </a:r>
            <a:r>
              <a:rPr sz="1900" spc="-70" dirty="0">
                <a:latin typeface="Arial MT"/>
                <a:cs typeface="Arial MT"/>
              </a:rPr>
              <a:t>Clique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no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botão</a:t>
            </a:r>
            <a:r>
              <a:rPr sz="1900" spc="25" dirty="0">
                <a:latin typeface="Arial MT"/>
                <a:cs typeface="Arial MT"/>
              </a:rPr>
              <a:t> </a:t>
            </a:r>
            <a:r>
              <a:rPr sz="1900" b="1" spc="-114" dirty="0">
                <a:latin typeface="Arial"/>
                <a:cs typeface="Arial"/>
              </a:rPr>
              <a:t>Orientação</a:t>
            </a:r>
            <a:r>
              <a:rPr sz="1900" b="1" spc="-75" dirty="0">
                <a:latin typeface="Arial"/>
                <a:cs typeface="Arial"/>
              </a:rPr>
              <a:t> </a:t>
            </a:r>
            <a:r>
              <a:rPr sz="1900" dirty="0">
                <a:latin typeface="Arial MT"/>
                <a:cs typeface="Arial MT"/>
              </a:rPr>
              <a:t>e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spc="-125" dirty="0">
                <a:latin typeface="Arial MT"/>
                <a:cs typeface="Arial MT"/>
              </a:rPr>
              <a:t>escolha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spc="-50" dirty="0">
                <a:latin typeface="Arial MT"/>
                <a:cs typeface="Arial MT"/>
              </a:rPr>
              <a:t>a </a:t>
            </a:r>
            <a:r>
              <a:rPr sz="1900" spc="-95" dirty="0">
                <a:latin typeface="Arial MT"/>
                <a:cs typeface="Arial MT"/>
              </a:rPr>
              <a:t>opção </a:t>
            </a:r>
            <a:r>
              <a:rPr sz="1900" b="1" spc="-10" dirty="0">
                <a:latin typeface="Arial"/>
                <a:cs typeface="Arial"/>
              </a:rPr>
              <a:t>Horizontal</a:t>
            </a:r>
            <a:r>
              <a:rPr sz="1900" spc="-10" dirty="0">
                <a:latin typeface="Arial MT"/>
                <a:cs typeface="Arial MT"/>
              </a:rPr>
              <a:t>.</a:t>
            </a:r>
            <a:endParaRPr sz="1900" dirty="0">
              <a:latin typeface="Arial MT"/>
              <a:cs typeface="Arial MT"/>
            </a:endParaRPr>
          </a:p>
          <a:p>
            <a:pPr marL="383540" marR="5080" indent="-359410">
              <a:lnSpc>
                <a:spcPct val="100000"/>
              </a:lnSpc>
              <a:spcBef>
                <a:spcPts val="705"/>
              </a:spcBef>
              <a:buAutoNum type="arabicPeriod" startAt="3"/>
              <a:tabLst>
                <a:tab pos="383540" algn="l"/>
                <a:tab pos="480695" algn="l"/>
                <a:tab pos="3759200" algn="l"/>
              </a:tabLst>
            </a:pPr>
            <a:r>
              <a:rPr sz="1150" dirty="0">
                <a:solidFill>
                  <a:srgbClr val="476F1E"/>
                </a:solidFill>
                <a:latin typeface="Arial MT"/>
                <a:cs typeface="Arial MT"/>
              </a:rPr>
              <a:t>	</a:t>
            </a:r>
            <a:r>
              <a:rPr sz="1900" dirty="0">
                <a:latin typeface="Arial MT"/>
                <a:cs typeface="Arial MT"/>
              </a:rPr>
              <a:t>Verifique</a:t>
            </a:r>
            <a:r>
              <a:rPr sz="1900" spc="2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novamenteantes</a:t>
            </a:r>
            <a:r>
              <a:rPr sz="1900" spc="-110" dirty="0">
                <a:latin typeface="Arial MT"/>
                <a:cs typeface="Arial MT"/>
              </a:rPr>
              <a:t> </a:t>
            </a:r>
            <a:r>
              <a:rPr sz="1900" spc="-35" dirty="0">
                <a:latin typeface="Arial MT"/>
                <a:cs typeface="Arial MT"/>
              </a:rPr>
              <a:t>de</a:t>
            </a:r>
            <a:r>
              <a:rPr sz="1900" dirty="0">
                <a:latin typeface="Arial MT"/>
                <a:cs typeface="Arial MT"/>
              </a:rPr>
              <a:t>	</a:t>
            </a:r>
            <a:r>
              <a:rPr sz="1900" spc="-95" dirty="0">
                <a:latin typeface="Arial MT"/>
                <a:cs typeface="Arial MT"/>
              </a:rPr>
              <a:t>imprimir </a:t>
            </a:r>
            <a:r>
              <a:rPr sz="1900" spc="-90" dirty="0">
                <a:latin typeface="Arial MT"/>
                <a:cs typeface="Arial MT"/>
              </a:rPr>
              <a:t>através</a:t>
            </a:r>
            <a:r>
              <a:rPr sz="1900" spc="-1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do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spc="-155" dirty="0">
                <a:latin typeface="Arial MT"/>
                <a:cs typeface="Arial MT"/>
              </a:rPr>
              <a:t>comando</a:t>
            </a:r>
            <a:r>
              <a:rPr sz="1900" spc="-1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65" dirty="0">
                <a:latin typeface="Arial MT"/>
                <a:cs typeface="Arial MT"/>
              </a:rPr>
              <a:t>pré-</a:t>
            </a:r>
            <a:r>
              <a:rPr sz="1900" spc="-10" dirty="0">
                <a:latin typeface="Arial MT"/>
                <a:cs typeface="Arial MT"/>
              </a:rPr>
              <a:t>visualização.</a:t>
            </a:r>
            <a:endParaRPr sz="1900" dirty="0">
              <a:latin typeface="Arial MT"/>
              <a:cs typeface="Arial MT"/>
            </a:endParaRPr>
          </a:p>
          <a:p>
            <a:pPr marL="468630" indent="-455930">
              <a:lnSpc>
                <a:spcPct val="100000"/>
              </a:lnSpc>
              <a:spcBef>
                <a:spcPts val="695"/>
              </a:spcBef>
              <a:buClr>
                <a:srgbClr val="476F1E"/>
              </a:buClr>
              <a:buSzPct val="60526"/>
              <a:buAutoNum type="arabicPeriod" startAt="3"/>
              <a:tabLst>
                <a:tab pos="468630" algn="l"/>
              </a:tabLst>
            </a:pPr>
            <a:r>
              <a:rPr sz="1900" spc="-130" dirty="0">
                <a:latin typeface="Arial MT"/>
                <a:cs typeface="Arial MT"/>
              </a:rPr>
              <a:t>Imprima</a:t>
            </a:r>
            <a:r>
              <a:rPr sz="1900" spc="-105" dirty="0">
                <a:latin typeface="Arial MT"/>
                <a:cs typeface="Arial MT"/>
              </a:rPr>
              <a:t> </a:t>
            </a:r>
            <a:r>
              <a:rPr sz="1900" spc="-114" dirty="0">
                <a:latin typeface="Arial MT"/>
                <a:cs typeface="Arial MT"/>
              </a:rPr>
              <a:t>clicando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spc="-114" dirty="0">
                <a:latin typeface="Arial MT"/>
                <a:cs typeface="Arial MT"/>
              </a:rPr>
              <a:t>no</a:t>
            </a:r>
            <a:r>
              <a:rPr sz="1900" spc="-150" dirty="0">
                <a:latin typeface="Arial MT"/>
                <a:cs typeface="Arial MT"/>
              </a:rPr>
              <a:t> </a:t>
            </a:r>
            <a:r>
              <a:rPr sz="1900" spc="-60" dirty="0">
                <a:latin typeface="Arial MT"/>
                <a:cs typeface="Arial MT"/>
              </a:rPr>
              <a:t>botão</a:t>
            </a:r>
            <a:r>
              <a:rPr sz="1900" spc="-1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</a:t>
            </a:r>
            <a:r>
              <a:rPr sz="1900" spc="1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impressão</a:t>
            </a:r>
            <a:endParaRPr sz="1900" dirty="0">
              <a:latin typeface="Arial MT"/>
              <a:cs typeface="Arial MT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908D476-7F02-408D-A128-F2B11E402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021075"/>
            <a:ext cx="6248400" cy="376466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250167" y="3903406"/>
            <a:ext cx="409003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41295" algn="l"/>
              </a:tabLst>
            </a:pPr>
            <a:r>
              <a:rPr sz="1900" dirty="0">
                <a:latin typeface="Arial MT"/>
                <a:cs typeface="Arial MT"/>
              </a:rPr>
              <a:t>guia</a:t>
            </a:r>
            <a:r>
              <a:rPr sz="1900" spc="70" dirty="0">
                <a:latin typeface="Arial MT"/>
                <a:cs typeface="Arial MT"/>
              </a:rPr>
              <a:t> </a:t>
            </a:r>
            <a:r>
              <a:rPr sz="1900" b="1" spc="-80" dirty="0">
                <a:latin typeface="Arial"/>
                <a:cs typeface="Arial"/>
              </a:rPr>
              <a:t>Layout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da</a:t>
            </a:r>
            <a:r>
              <a:rPr sz="1900" b="1" spc="7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Página,</a:t>
            </a:r>
            <a:r>
              <a:rPr sz="1900" b="1" dirty="0">
                <a:latin typeface="Arial"/>
                <a:cs typeface="Arial"/>
              </a:rPr>
              <a:t>	</a:t>
            </a:r>
            <a:r>
              <a:rPr sz="1900" dirty="0">
                <a:latin typeface="Arial MT"/>
                <a:cs typeface="Arial MT"/>
              </a:rPr>
              <a:t>e</a:t>
            </a:r>
            <a:r>
              <a:rPr sz="1900" spc="110" dirty="0">
                <a:latin typeface="Arial MT"/>
                <a:cs typeface="Arial MT"/>
              </a:rPr>
              <a:t> </a:t>
            </a:r>
            <a:r>
              <a:rPr sz="1900" spc="-100" dirty="0">
                <a:latin typeface="Arial MT"/>
                <a:cs typeface="Arial MT"/>
              </a:rPr>
              <a:t>selecione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spc="-50" dirty="0">
                <a:latin typeface="Arial MT"/>
                <a:cs typeface="Arial MT"/>
              </a:rPr>
              <a:t>a</a:t>
            </a:r>
            <a:endParaRPr sz="19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5328" y="4246481"/>
            <a:ext cx="4550410" cy="211899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800"/>
              </a:spcBef>
            </a:pPr>
            <a:r>
              <a:rPr sz="1900" spc="-100" dirty="0">
                <a:latin typeface="Arial MT"/>
                <a:cs typeface="Arial MT"/>
              </a:rPr>
              <a:t>opção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b="1" spc="-114" dirty="0">
                <a:latin typeface="Arial"/>
                <a:cs typeface="Arial"/>
              </a:rPr>
              <a:t>Definir</a:t>
            </a:r>
            <a:r>
              <a:rPr sz="1900" b="1" spc="-135" dirty="0">
                <a:latin typeface="Arial"/>
                <a:cs typeface="Arial"/>
              </a:rPr>
              <a:t> </a:t>
            </a:r>
            <a:r>
              <a:rPr sz="1900" b="1" spc="-95" dirty="0">
                <a:latin typeface="Arial"/>
                <a:cs typeface="Arial"/>
              </a:rPr>
              <a:t>área</a:t>
            </a:r>
            <a:r>
              <a:rPr sz="1900" b="1" spc="-60" dirty="0">
                <a:latin typeface="Arial"/>
                <a:cs typeface="Arial"/>
              </a:rPr>
              <a:t> </a:t>
            </a:r>
            <a:r>
              <a:rPr sz="1900" b="1" spc="-100" dirty="0">
                <a:latin typeface="Arial"/>
                <a:cs typeface="Arial"/>
              </a:rPr>
              <a:t>de</a:t>
            </a:r>
            <a:r>
              <a:rPr sz="1900" b="1" spc="-13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impressão</a:t>
            </a:r>
            <a:r>
              <a:rPr sz="1900" spc="-10" dirty="0">
                <a:latin typeface="Arial MT"/>
                <a:cs typeface="Arial MT"/>
              </a:rPr>
              <a:t>.</a:t>
            </a:r>
            <a:endParaRPr sz="1900" dirty="0">
              <a:latin typeface="Arial MT"/>
              <a:cs typeface="Arial MT"/>
            </a:endParaRPr>
          </a:p>
          <a:p>
            <a:pPr marL="469900" marR="11430" indent="-416559">
              <a:lnSpc>
                <a:spcPct val="100000"/>
              </a:lnSpc>
              <a:spcBef>
                <a:spcPts val="700"/>
              </a:spcBef>
              <a:buAutoNum type="arabicPeriod" startAt="3"/>
              <a:tabLst>
                <a:tab pos="469900" algn="l"/>
                <a:tab pos="509905" algn="l"/>
              </a:tabLst>
            </a:pPr>
            <a:r>
              <a:rPr sz="1150" dirty="0">
                <a:solidFill>
                  <a:srgbClr val="476F1E"/>
                </a:solidFill>
                <a:latin typeface="Arial MT"/>
                <a:cs typeface="Arial MT"/>
              </a:rPr>
              <a:t>	</a:t>
            </a:r>
            <a:r>
              <a:rPr sz="1900" spc="-70" dirty="0">
                <a:latin typeface="Arial MT"/>
                <a:cs typeface="Arial MT"/>
              </a:rPr>
              <a:t>Clique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no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botão</a:t>
            </a:r>
            <a:r>
              <a:rPr sz="1900" spc="25" dirty="0">
                <a:latin typeface="Arial MT"/>
                <a:cs typeface="Arial MT"/>
              </a:rPr>
              <a:t> </a:t>
            </a:r>
            <a:r>
              <a:rPr sz="1900" b="1" spc="-114" dirty="0">
                <a:latin typeface="Arial"/>
                <a:cs typeface="Arial"/>
              </a:rPr>
              <a:t>Orientação</a:t>
            </a:r>
            <a:r>
              <a:rPr sz="1900" b="1" spc="-75" dirty="0">
                <a:latin typeface="Arial"/>
                <a:cs typeface="Arial"/>
              </a:rPr>
              <a:t> </a:t>
            </a:r>
            <a:r>
              <a:rPr sz="1900" dirty="0">
                <a:latin typeface="Arial MT"/>
                <a:cs typeface="Arial MT"/>
              </a:rPr>
              <a:t>e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spc="-125" dirty="0">
                <a:latin typeface="Arial MT"/>
                <a:cs typeface="Arial MT"/>
              </a:rPr>
              <a:t>escolha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spc="-50" dirty="0">
                <a:latin typeface="Arial MT"/>
                <a:cs typeface="Arial MT"/>
              </a:rPr>
              <a:t>a </a:t>
            </a:r>
            <a:r>
              <a:rPr sz="1900" spc="-95" dirty="0">
                <a:latin typeface="Arial MT"/>
                <a:cs typeface="Arial MT"/>
              </a:rPr>
              <a:t>opção </a:t>
            </a:r>
            <a:r>
              <a:rPr sz="1900" b="1" spc="-10" dirty="0">
                <a:latin typeface="Arial"/>
                <a:cs typeface="Arial"/>
              </a:rPr>
              <a:t>Horizontal</a:t>
            </a:r>
            <a:r>
              <a:rPr sz="1900" spc="-10" dirty="0">
                <a:latin typeface="Arial MT"/>
                <a:cs typeface="Arial MT"/>
              </a:rPr>
              <a:t>.</a:t>
            </a:r>
            <a:endParaRPr sz="1900" dirty="0">
              <a:latin typeface="Arial MT"/>
              <a:cs typeface="Arial MT"/>
            </a:endParaRPr>
          </a:p>
          <a:p>
            <a:pPr marL="383540" marR="5080" indent="-359410">
              <a:lnSpc>
                <a:spcPct val="100000"/>
              </a:lnSpc>
              <a:spcBef>
                <a:spcPts val="705"/>
              </a:spcBef>
              <a:buAutoNum type="arabicPeriod" startAt="3"/>
              <a:tabLst>
                <a:tab pos="383540" algn="l"/>
                <a:tab pos="480695" algn="l"/>
                <a:tab pos="3759200" algn="l"/>
              </a:tabLst>
            </a:pPr>
            <a:r>
              <a:rPr sz="1150" dirty="0">
                <a:solidFill>
                  <a:srgbClr val="476F1E"/>
                </a:solidFill>
                <a:latin typeface="Arial MT"/>
                <a:cs typeface="Arial MT"/>
              </a:rPr>
              <a:t>	</a:t>
            </a:r>
            <a:r>
              <a:rPr sz="1900" dirty="0">
                <a:latin typeface="Arial MT"/>
                <a:cs typeface="Arial MT"/>
              </a:rPr>
              <a:t>Verifique</a:t>
            </a:r>
            <a:r>
              <a:rPr sz="1900" spc="2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novamenteantes</a:t>
            </a:r>
            <a:r>
              <a:rPr sz="1900" spc="-110" dirty="0">
                <a:latin typeface="Arial MT"/>
                <a:cs typeface="Arial MT"/>
              </a:rPr>
              <a:t> </a:t>
            </a:r>
            <a:r>
              <a:rPr sz="1900" spc="-35" dirty="0">
                <a:latin typeface="Arial MT"/>
                <a:cs typeface="Arial MT"/>
              </a:rPr>
              <a:t>de</a:t>
            </a:r>
            <a:r>
              <a:rPr sz="1900" dirty="0">
                <a:latin typeface="Arial MT"/>
                <a:cs typeface="Arial MT"/>
              </a:rPr>
              <a:t>	</a:t>
            </a:r>
            <a:r>
              <a:rPr sz="1900" spc="-95" dirty="0">
                <a:latin typeface="Arial MT"/>
                <a:cs typeface="Arial MT"/>
              </a:rPr>
              <a:t>imprimir </a:t>
            </a:r>
            <a:r>
              <a:rPr sz="1900" spc="-90" dirty="0">
                <a:latin typeface="Arial MT"/>
                <a:cs typeface="Arial MT"/>
              </a:rPr>
              <a:t>através</a:t>
            </a:r>
            <a:r>
              <a:rPr sz="1900" spc="-1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do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spc="-155" dirty="0">
                <a:latin typeface="Arial MT"/>
                <a:cs typeface="Arial MT"/>
              </a:rPr>
              <a:t>comando</a:t>
            </a:r>
            <a:r>
              <a:rPr sz="1900" spc="-1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65" dirty="0">
                <a:latin typeface="Arial MT"/>
                <a:cs typeface="Arial MT"/>
              </a:rPr>
              <a:t>pré-</a:t>
            </a:r>
            <a:r>
              <a:rPr sz="1900" spc="-10" dirty="0">
                <a:latin typeface="Arial MT"/>
                <a:cs typeface="Arial MT"/>
              </a:rPr>
              <a:t>visualização.</a:t>
            </a:r>
            <a:endParaRPr sz="1900" dirty="0">
              <a:latin typeface="Arial MT"/>
              <a:cs typeface="Arial MT"/>
            </a:endParaRPr>
          </a:p>
          <a:p>
            <a:pPr marL="468630" indent="-455930">
              <a:lnSpc>
                <a:spcPct val="100000"/>
              </a:lnSpc>
              <a:spcBef>
                <a:spcPts val="695"/>
              </a:spcBef>
              <a:buClr>
                <a:srgbClr val="476F1E"/>
              </a:buClr>
              <a:buSzPct val="60526"/>
              <a:buAutoNum type="arabicPeriod" startAt="3"/>
              <a:tabLst>
                <a:tab pos="468630" algn="l"/>
              </a:tabLst>
            </a:pPr>
            <a:r>
              <a:rPr sz="1900" spc="-130" dirty="0">
                <a:latin typeface="Arial MT"/>
                <a:cs typeface="Arial MT"/>
              </a:rPr>
              <a:t>Imprima</a:t>
            </a:r>
            <a:r>
              <a:rPr sz="1900" spc="-105" dirty="0">
                <a:latin typeface="Arial MT"/>
                <a:cs typeface="Arial MT"/>
              </a:rPr>
              <a:t> </a:t>
            </a:r>
            <a:r>
              <a:rPr sz="1900" spc="-114" dirty="0">
                <a:latin typeface="Arial MT"/>
                <a:cs typeface="Arial MT"/>
              </a:rPr>
              <a:t>clicando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spc="-114" dirty="0">
                <a:latin typeface="Arial MT"/>
                <a:cs typeface="Arial MT"/>
              </a:rPr>
              <a:t>no</a:t>
            </a:r>
            <a:r>
              <a:rPr sz="1900" spc="-150" dirty="0">
                <a:latin typeface="Arial MT"/>
                <a:cs typeface="Arial MT"/>
              </a:rPr>
              <a:t> </a:t>
            </a:r>
            <a:r>
              <a:rPr sz="1900" spc="-60" dirty="0">
                <a:latin typeface="Arial MT"/>
                <a:cs typeface="Arial MT"/>
              </a:rPr>
              <a:t>botão</a:t>
            </a:r>
            <a:r>
              <a:rPr sz="1900" spc="-1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</a:t>
            </a:r>
            <a:r>
              <a:rPr sz="1900" spc="1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impressão</a:t>
            </a:r>
            <a:endParaRPr sz="1900" dirty="0">
              <a:latin typeface="Arial MT"/>
              <a:cs typeface="Arial MT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0EC1A91-EF62-4685-89EB-106FF8807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006"/>
            <a:ext cx="12192000" cy="6679987"/>
          </a:xfrm>
          <a:prstGeom prst="rect">
            <a:avLst/>
          </a:prstGeom>
        </p:spPr>
      </p:pic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88733F3F-F399-4988-B3BF-3E999BF68DEE}"/>
              </a:ext>
            </a:extLst>
          </p:cNvPr>
          <p:cNvSpPr/>
          <p:nvPr/>
        </p:nvSpPr>
        <p:spPr>
          <a:xfrm>
            <a:off x="2743200" y="1828800"/>
            <a:ext cx="304800" cy="1524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para a Esquerda 10">
            <a:extLst>
              <a:ext uri="{FF2B5EF4-FFF2-40B4-BE49-F238E27FC236}">
                <a16:creationId xmlns:a16="http://schemas.microsoft.com/office/drawing/2014/main" id="{DB94FD84-D2CD-4990-BA12-20D68670356D}"/>
              </a:ext>
            </a:extLst>
          </p:cNvPr>
          <p:cNvSpPr/>
          <p:nvPr/>
        </p:nvSpPr>
        <p:spPr>
          <a:xfrm>
            <a:off x="2775733" y="2590800"/>
            <a:ext cx="304800" cy="1524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: para a Esquerda 11">
            <a:extLst>
              <a:ext uri="{FF2B5EF4-FFF2-40B4-BE49-F238E27FC236}">
                <a16:creationId xmlns:a16="http://schemas.microsoft.com/office/drawing/2014/main" id="{CF942F51-E55C-4D5E-ABF3-384561E0A81A}"/>
              </a:ext>
            </a:extLst>
          </p:cNvPr>
          <p:cNvSpPr/>
          <p:nvPr/>
        </p:nvSpPr>
        <p:spPr>
          <a:xfrm>
            <a:off x="787554" y="2488814"/>
            <a:ext cx="304800" cy="1524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30654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0204" rIns="0" bIns="0" rtlCol="0">
            <a:spAutoFit/>
          </a:bodyPr>
          <a:lstStyle/>
          <a:p>
            <a:pPr marL="1305560">
              <a:lnSpc>
                <a:spcPct val="100000"/>
              </a:lnSpc>
              <a:spcBef>
                <a:spcPts val="95"/>
              </a:spcBef>
            </a:pPr>
            <a:r>
              <a:rPr spc="-335" dirty="0"/>
              <a:t>Exercício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2057400"/>
            <a:ext cx="5595366" cy="3352797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0204" rIns="0" bIns="0" rtlCol="0">
            <a:spAutoFit/>
          </a:bodyPr>
          <a:lstStyle/>
          <a:p>
            <a:pPr marL="1305560">
              <a:lnSpc>
                <a:spcPct val="100000"/>
              </a:lnSpc>
              <a:spcBef>
                <a:spcPts val="95"/>
              </a:spcBef>
            </a:pPr>
            <a:r>
              <a:rPr spc="-335" dirty="0"/>
              <a:t>Exercício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2286000"/>
            <a:ext cx="4343400" cy="267690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117"/>
            <a:ext cx="12192000" cy="6224905"/>
            <a:chOff x="0" y="633117"/>
            <a:chExt cx="12192000" cy="6224905"/>
          </a:xfrm>
        </p:grpSpPr>
        <p:sp>
          <p:nvSpPr>
            <p:cNvPr id="3" name="object 3"/>
            <p:cNvSpPr/>
            <p:nvPr/>
          </p:nvSpPr>
          <p:spPr>
            <a:xfrm>
              <a:off x="1524000" y="1280159"/>
              <a:ext cx="533400" cy="228600"/>
            </a:xfrm>
            <a:custGeom>
              <a:avLst/>
              <a:gdLst/>
              <a:ahLst/>
              <a:cxnLst/>
              <a:rect l="l" t="t" r="r" b="b"/>
              <a:pathLst>
                <a:path w="533400" h="228600">
                  <a:moveTo>
                    <a:pt x="5334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533400" y="2286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476F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14550" y="1280159"/>
              <a:ext cx="8553450" cy="228600"/>
            </a:xfrm>
            <a:custGeom>
              <a:avLst/>
              <a:gdLst/>
              <a:ahLst/>
              <a:cxnLst/>
              <a:rect l="l" t="t" r="r" b="b"/>
              <a:pathLst>
                <a:path w="8553450" h="228600">
                  <a:moveTo>
                    <a:pt x="855345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8553450" y="228600"/>
                  </a:lnTo>
                  <a:lnTo>
                    <a:pt x="855345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62707" y="649986"/>
            <a:ext cx="16649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5" dirty="0">
                <a:solidFill>
                  <a:srgbClr val="000000"/>
                </a:solidFill>
                <a:latin typeface="Calibri"/>
                <a:cs typeface="Calibri"/>
              </a:rPr>
              <a:t>Exercício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95195" y="1262126"/>
            <a:ext cx="188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60701" y="1908555"/>
            <a:ext cx="769302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6535">
              <a:lnSpc>
                <a:spcPct val="100000"/>
              </a:lnSpc>
              <a:spcBef>
                <a:spcPts val="100"/>
              </a:spcBef>
              <a:buFont typeface="Cambria"/>
              <a:buChar char="•"/>
              <a:tabLst>
                <a:tab pos="229235" algn="l"/>
              </a:tabLst>
            </a:pPr>
            <a:r>
              <a:rPr sz="2800" spc="-160" dirty="0">
                <a:latin typeface="Arial MT"/>
                <a:cs typeface="Arial MT"/>
              </a:rPr>
              <a:t>Inserir</a:t>
            </a:r>
            <a:r>
              <a:rPr sz="2800" spc="-204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uma</a:t>
            </a:r>
            <a:r>
              <a:rPr sz="2800" spc="-26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área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04" dirty="0">
                <a:latin typeface="Arial MT"/>
                <a:cs typeface="Arial MT"/>
              </a:rPr>
              <a:t>impressão</a:t>
            </a:r>
            <a:r>
              <a:rPr sz="2800" spc="-265" dirty="0">
                <a:latin typeface="Arial MT"/>
                <a:cs typeface="Arial MT"/>
              </a:rPr>
              <a:t> </a:t>
            </a:r>
            <a:r>
              <a:rPr sz="2800" spc="-170" dirty="0">
                <a:latin typeface="Arial MT"/>
                <a:cs typeface="Arial MT"/>
              </a:rPr>
              <a:t>(apenas</a:t>
            </a:r>
            <a:r>
              <a:rPr sz="2800" spc="-225" dirty="0">
                <a:latin typeface="Arial MT"/>
                <a:cs typeface="Arial MT"/>
              </a:rPr>
              <a:t> </a:t>
            </a:r>
            <a:r>
              <a:rPr sz="2800" spc="-150" dirty="0">
                <a:latin typeface="Arial MT"/>
                <a:cs typeface="Arial MT"/>
              </a:rPr>
              <a:t>no</a:t>
            </a:r>
            <a:r>
              <a:rPr sz="2800" spc="-229" dirty="0">
                <a:latin typeface="Arial MT"/>
                <a:cs typeface="Arial MT"/>
              </a:rPr>
              <a:t> </a:t>
            </a:r>
            <a:r>
              <a:rPr sz="2800" spc="-80" dirty="0">
                <a:latin typeface="Arial MT"/>
                <a:cs typeface="Arial MT"/>
              </a:rPr>
              <a:t>gráfico)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e </a:t>
            </a:r>
            <a:r>
              <a:rPr sz="2800" spc="-130" dirty="0">
                <a:latin typeface="Arial MT"/>
                <a:cs typeface="Arial MT"/>
              </a:rPr>
              <a:t>visualizar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impressão.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4B2CE-0F78-8983-E3F5-9A435FC83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5257A3DF-07EE-86BE-90B5-B91A787A9366}"/>
              </a:ext>
            </a:extLst>
          </p:cNvPr>
          <p:cNvSpPr txBox="1"/>
          <p:nvPr/>
        </p:nvSpPr>
        <p:spPr>
          <a:xfrm>
            <a:off x="1695195" y="1262126"/>
            <a:ext cx="188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4103FE3-660F-93D0-CEAD-03824F1F7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575438"/>
            <a:ext cx="6781800" cy="512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7024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FA865-E0C6-9FAB-A9A1-82E87E474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A6A1A776-5EEA-B4A9-67D6-058535BAC2F6}"/>
              </a:ext>
            </a:extLst>
          </p:cNvPr>
          <p:cNvSpPr txBox="1"/>
          <p:nvPr/>
        </p:nvSpPr>
        <p:spPr>
          <a:xfrm>
            <a:off x="1695195" y="1262126"/>
            <a:ext cx="188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318AF0A-780A-E54A-8DBF-31832875C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498114"/>
            <a:ext cx="6799498" cy="522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6344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279EF-8052-71B8-D5B8-241DF9DA7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CB5E0D5D-A051-8167-3C06-FFA524B351FB}"/>
              </a:ext>
            </a:extLst>
          </p:cNvPr>
          <p:cNvSpPr txBox="1"/>
          <p:nvPr/>
        </p:nvSpPr>
        <p:spPr>
          <a:xfrm>
            <a:off x="1695195" y="1262126"/>
            <a:ext cx="188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292C6E8-6685-EF85-8195-9875ACC75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195" y="1470405"/>
            <a:ext cx="7034760" cy="501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8339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6B738-98C0-93D5-18AC-BF4EA80F0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A8771740-9956-3D5C-953A-266337EE1301}"/>
              </a:ext>
            </a:extLst>
          </p:cNvPr>
          <p:cNvSpPr txBox="1"/>
          <p:nvPr/>
        </p:nvSpPr>
        <p:spPr>
          <a:xfrm>
            <a:off x="1695195" y="1262126"/>
            <a:ext cx="188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3845AFB-5197-0FA5-CF9B-EE6F202DC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66800"/>
            <a:ext cx="7532934" cy="557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7812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83D4D-980F-C171-6A26-DFC9FDB3E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426A491F-89B9-EC2C-2F4C-4E917384F080}"/>
              </a:ext>
            </a:extLst>
          </p:cNvPr>
          <p:cNvSpPr txBox="1"/>
          <p:nvPr/>
        </p:nvSpPr>
        <p:spPr>
          <a:xfrm>
            <a:off x="1695195" y="1262126"/>
            <a:ext cx="188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82302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C3349-6251-8C0D-2BCD-1F08D4FD2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86026786-986A-94EB-EA86-3F2CCDACE807}"/>
              </a:ext>
            </a:extLst>
          </p:cNvPr>
          <p:cNvSpPr txBox="1"/>
          <p:nvPr/>
        </p:nvSpPr>
        <p:spPr>
          <a:xfrm>
            <a:off x="1695195" y="1262126"/>
            <a:ext cx="188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88602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CC607-F22F-F3AD-5AC0-C7B75AAEF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7D5B7181-BB60-BEE6-B381-B869DD538073}"/>
              </a:ext>
            </a:extLst>
          </p:cNvPr>
          <p:cNvSpPr txBox="1"/>
          <p:nvPr/>
        </p:nvSpPr>
        <p:spPr>
          <a:xfrm>
            <a:off x="1695195" y="1262126"/>
            <a:ext cx="188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32355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4321E-C071-8AB5-452A-04AE47904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B43F2A00-62A0-01C8-4CBF-883ABEBD792B}"/>
              </a:ext>
            </a:extLst>
          </p:cNvPr>
          <p:cNvSpPr txBox="1"/>
          <p:nvPr/>
        </p:nvSpPr>
        <p:spPr>
          <a:xfrm>
            <a:off x="1695195" y="1262126"/>
            <a:ext cx="188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69995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766316" y="3022904"/>
              <a:ext cx="3178810" cy="811530"/>
            </a:xfrm>
            <a:custGeom>
              <a:avLst/>
              <a:gdLst/>
              <a:ahLst/>
              <a:cxnLst/>
              <a:rect l="l" t="t" r="r" b="b"/>
              <a:pathLst>
                <a:path w="3178810" h="811529">
                  <a:moveTo>
                    <a:pt x="3178683" y="0"/>
                  </a:moveTo>
                  <a:lnTo>
                    <a:pt x="0" y="0"/>
                  </a:lnTo>
                  <a:lnTo>
                    <a:pt x="0" y="811352"/>
                  </a:lnTo>
                  <a:lnTo>
                    <a:pt x="3178683" y="811352"/>
                  </a:lnTo>
                  <a:lnTo>
                    <a:pt x="3178683" y="0"/>
                  </a:lnTo>
                  <a:close/>
                </a:path>
              </a:pathLst>
            </a:custGeom>
            <a:solidFill>
              <a:srgbClr val="E10F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66316" y="3127247"/>
              <a:ext cx="3178810" cy="601980"/>
            </a:xfrm>
            <a:custGeom>
              <a:avLst/>
              <a:gdLst/>
              <a:ahLst/>
              <a:cxnLst/>
              <a:rect l="l" t="t" r="r" b="b"/>
              <a:pathLst>
                <a:path w="3178810" h="601979">
                  <a:moveTo>
                    <a:pt x="170738" y="568337"/>
                  </a:moveTo>
                  <a:lnTo>
                    <a:pt x="0" y="568337"/>
                  </a:lnTo>
                  <a:lnTo>
                    <a:pt x="0" y="589661"/>
                  </a:lnTo>
                  <a:lnTo>
                    <a:pt x="170738" y="589661"/>
                  </a:lnTo>
                  <a:lnTo>
                    <a:pt x="170738" y="568337"/>
                  </a:lnTo>
                  <a:close/>
                </a:path>
                <a:path w="3178810" h="601979">
                  <a:moveTo>
                    <a:pt x="170738" y="431812"/>
                  </a:moveTo>
                  <a:lnTo>
                    <a:pt x="0" y="431812"/>
                  </a:lnTo>
                  <a:lnTo>
                    <a:pt x="0" y="453148"/>
                  </a:lnTo>
                  <a:lnTo>
                    <a:pt x="170738" y="453148"/>
                  </a:lnTo>
                  <a:lnTo>
                    <a:pt x="170738" y="431812"/>
                  </a:lnTo>
                  <a:close/>
                </a:path>
                <a:path w="3178810" h="601979">
                  <a:moveTo>
                    <a:pt x="170738" y="290207"/>
                  </a:moveTo>
                  <a:lnTo>
                    <a:pt x="0" y="290207"/>
                  </a:lnTo>
                  <a:lnTo>
                    <a:pt x="0" y="311531"/>
                  </a:lnTo>
                  <a:lnTo>
                    <a:pt x="170738" y="311531"/>
                  </a:lnTo>
                  <a:lnTo>
                    <a:pt x="170738" y="290207"/>
                  </a:lnTo>
                  <a:close/>
                </a:path>
                <a:path w="3178810" h="601979">
                  <a:moveTo>
                    <a:pt x="170738" y="150482"/>
                  </a:moveTo>
                  <a:lnTo>
                    <a:pt x="0" y="150482"/>
                  </a:lnTo>
                  <a:lnTo>
                    <a:pt x="0" y="171831"/>
                  </a:lnTo>
                  <a:lnTo>
                    <a:pt x="170738" y="171831"/>
                  </a:lnTo>
                  <a:lnTo>
                    <a:pt x="170738" y="150482"/>
                  </a:lnTo>
                  <a:close/>
                </a:path>
                <a:path w="3178810" h="601979">
                  <a:moveTo>
                    <a:pt x="170738" y="14363"/>
                  </a:moveTo>
                  <a:lnTo>
                    <a:pt x="0" y="14363"/>
                  </a:lnTo>
                  <a:lnTo>
                    <a:pt x="0" y="35687"/>
                  </a:lnTo>
                  <a:lnTo>
                    <a:pt x="170738" y="35687"/>
                  </a:lnTo>
                  <a:lnTo>
                    <a:pt x="170738" y="14363"/>
                  </a:lnTo>
                  <a:close/>
                </a:path>
                <a:path w="3178810" h="601979">
                  <a:moveTo>
                    <a:pt x="782193" y="124079"/>
                  </a:moveTo>
                  <a:lnTo>
                    <a:pt x="771525" y="78994"/>
                  </a:lnTo>
                  <a:lnTo>
                    <a:pt x="745490" y="45339"/>
                  </a:lnTo>
                  <a:lnTo>
                    <a:pt x="707517" y="21971"/>
                  </a:lnTo>
                  <a:lnTo>
                    <a:pt x="660654" y="7493"/>
                  </a:lnTo>
                  <a:lnTo>
                    <a:pt x="608076" y="762"/>
                  </a:lnTo>
                  <a:lnTo>
                    <a:pt x="580771" y="0"/>
                  </a:lnTo>
                  <a:lnTo>
                    <a:pt x="552704" y="635"/>
                  </a:lnTo>
                  <a:lnTo>
                    <a:pt x="497078" y="6731"/>
                  </a:lnTo>
                  <a:lnTo>
                    <a:pt x="443611" y="20193"/>
                  </a:lnTo>
                  <a:lnTo>
                    <a:pt x="394589" y="42291"/>
                  </a:lnTo>
                  <a:lnTo>
                    <a:pt x="352298" y="74549"/>
                  </a:lnTo>
                  <a:lnTo>
                    <a:pt x="318643" y="118110"/>
                  </a:lnTo>
                  <a:lnTo>
                    <a:pt x="296037" y="174498"/>
                  </a:lnTo>
                  <a:lnTo>
                    <a:pt x="291973" y="204724"/>
                  </a:lnTo>
                  <a:lnTo>
                    <a:pt x="293243" y="233045"/>
                  </a:lnTo>
                  <a:lnTo>
                    <a:pt x="312039" y="281305"/>
                  </a:lnTo>
                  <a:lnTo>
                    <a:pt x="353314" y="315341"/>
                  </a:lnTo>
                  <a:lnTo>
                    <a:pt x="415417" y="339217"/>
                  </a:lnTo>
                  <a:lnTo>
                    <a:pt x="499999" y="361696"/>
                  </a:lnTo>
                  <a:lnTo>
                    <a:pt x="523367" y="368554"/>
                  </a:lnTo>
                  <a:lnTo>
                    <a:pt x="543052" y="376301"/>
                  </a:lnTo>
                  <a:lnTo>
                    <a:pt x="558419" y="385826"/>
                  </a:lnTo>
                  <a:lnTo>
                    <a:pt x="569087" y="397764"/>
                  </a:lnTo>
                  <a:lnTo>
                    <a:pt x="574040" y="413004"/>
                  </a:lnTo>
                  <a:lnTo>
                    <a:pt x="572770" y="432181"/>
                  </a:lnTo>
                  <a:lnTo>
                    <a:pt x="559562" y="457327"/>
                  </a:lnTo>
                  <a:lnTo>
                    <a:pt x="535432" y="475373"/>
                  </a:lnTo>
                  <a:lnTo>
                    <a:pt x="505968" y="486156"/>
                  </a:lnTo>
                  <a:lnTo>
                    <a:pt x="476377" y="489712"/>
                  </a:lnTo>
                  <a:lnTo>
                    <a:pt x="444881" y="486283"/>
                  </a:lnTo>
                  <a:lnTo>
                    <a:pt x="420116" y="475869"/>
                  </a:lnTo>
                  <a:lnTo>
                    <a:pt x="403352" y="458851"/>
                  </a:lnTo>
                  <a:lnTo>
                    <a:pt x="395351" y="435356"/>
                  </a:lnTo>
                  <a:lnTo>
                    <a:pt x="397383" y="405765"/>
                  </a:lnTo>
                  <a:lnTo>
                    <a:pt x="237109" y="405765"/>
                  </a:lnTo>
                  <a:lnTo>
                    <a:pt x="232410" y="439801"/>
                  </a:lnTo>
                  <a:lnTo>
                    <a:pt x="232537" y="470027"/>
                  </a:lnTo>
                  <a:lnTo>
                    <a:pt x="236855" y="496443"/>
                  </a:lnTo>
                  <a:lnTo>
                    <a:pt x="273050" y="555498"/>
                  </a:lnTo>
                  <a:lnTo>
                    <a:pt x="313182" y="580009"/>
                  </a:lnTo>
                  <a:lnTo>
                    <a:pt x="363220" y="594741"/>
                  </a:lnTo>
                  <a:lnTo>
                    <a:pt x="420497" y="601218"/>
                  </a:lnTo>
                  <a:lnTo>
                    <a:pt x="451104" y="601980"/>
                  </a:lnTo>
                  <a:lnTo>
                    <a:pt x="481838" y="600837"/>
                  </a:lnTo>
                  <a:lnTo>
                    <a:pt x="542163" y="592582"/>
                  </a:lnTo>
                  <a:lnTo>
                    <a:pt x="598805" y="575945"/>
                  </a:lnTo>
                  <a:lnTo>
                    <a:pt x="649605" y="550672"/>
                  </a:lnTo>
                  <a:lnTo>
                    <a:pt x="692023" y="516890"/>
                  </a:lnTo>
                  <a:lnTo>
                    <a:pt x="724027" y="474091"/>
                  </a:lnTo>
                  <a:lnTo>
                    <a:pt x="743204" y="422529"/>
                  </a:lnTo>
                  <a:lnTo>
                    <a:pt x="747903" y="389001"/>
                  </a:lnTo>
                  <a:lnTo>
                    <a:pt x="747014" y="360299"/>
                  </a:lnTo>
                  <a:lnTo>
                    <a:pt x="717550" y="298196"/>
                  </a:lnTo>
                  <a:lnTo>
                    <a:pt x="681355" y="272542"/>
                  </a:lnTo>
                  <a:lnTo>
                    <a:pt x="637413" y="255397"/>
                  </a:lnTo>
                  <a:lnTo>
                    <a:pt x="567690" y="237617"/>
                  </a:lnTo>
                  <a:lnTo>
                    <a:pt x="545719" y="232029"/>
                  </a:lnTo>
                  <a:lnTo>
                    <a:pt x="515112" y="222758"/>
                  </a:lnTo>
                  <a:lnTo>
                    <a:pt x="487680" y="210185"/>
                  </a:lnTo>
                  <a:lnTo>
                    <a:pt x="469265" y="191643"/>
                  </a:lnTo>
                  <a:lnTo>
                    <a:pt x="466217" y="164846"/>
                  </a:lnTo>
                  <a:lnTo>
                    <a:pt x="476250" y="144399"/>
                  </a:lnTo>
                  <a:lnTo>
                    <a:pt x="494792" y="127635"/>
                  </a:lnTo>
                  <a:lnTo>
                    <a:pt x="519176" y="116205"/>
                  </a:lnTo>
                  <a:lnTo>
                    <a:pt x="546354" y="112014"/>
                  </a:lnTo>
                  <a:lnTo>
                    <a:pt x="565404" y="113157"/>
                  </a:lnTo>
                  <a:lnTo>
                    <a:pt x="594360" y="122555"/>
                  </a:lnTo>
                  <a:lnTo>
                    <a:pt x="611505" y="140335"/>
                  </a:lnTo>
                  <a:lnTo>
                    <a:pt x="616585" y="165862"/>
                  </a:lnTo>
                  <a:lnTo>
                    <a:pt x="614172" y="181610"/>
                  </a:lnTo>
                  <a:lnTo>
                    <a:pt x="774446" y="181610"/>
                  </a:lnTo>
                  <a:lnTo>
                    <a:pt x="780796" y="151257"/>
                  </a:lnTo>
                  <a:lnTo>
                    <a:pt x="782193" y="124079"/>
                  </a:lnTo>
                  <a:close/>
                </a:path>
                <a:path w="3178810" h="601979">
                  <a:moveTo>
                    <a:pt x="1360805" y="11938"/>
                  </a:moveTo>
                  <a:lnTo>
                    <a:pt x="920242" y="11938"/>
                  </a:lnTo>
                  <a:lnTo>
                    <a:pt x="797306" y="589788"/>
                  </a:lnTo>
                  <a:lnTo>
                    <a:pt x="1237869" y="589788"/>
                  </a:lnTo>
                  <a:lnTo>
                    <a:pt x="1261745" y="477774"/>
                  </a:lnTo>
                  <a:lnTo>
                    <a:pt x="981329" y="477774"/>
                  </a:lnTo>
                  <a:lnTo>
                    <a:pt x="1007491" y="355346"/>
                  </a:lnTo>
                  <a:lnTo>
                    <a:pt x="1265428" y="355346"/>
                  </a:lnTo>
                  <a:lnTo>
                    <a:pt x="1289177" y="243332"/>
                  </a:lnTo>
                  <a:lnTo>
                    <a:pt x="1031240" y="243332"/>
                  </a:lnTo>
                  <a:lnTo>
                    <a:pt x="1056513" y="124079"/>
                  </a:lnTo>
                  <a:lnTo>
                    <a:pt x="1336929" y="124079"/>
                  </a:lnTo>
                  <a:lnTo>
                    <a:pt x="1360805" y="11938"/>
                  </a:lnTo>
                  <a:close/>
                </a:path>
                <a:path w="3178810" h="601979">
                  <a:moveTo>
                    <a:pt x="2015363" y="11938"/>
                  </a:moveTo>
                  <a:lnTo>
                    <a:pt x="1871091" y="11938"/>
                  </a:lnTo>
                  <a:lnTo>
                    <a:pt x="1779778" y="440944"/>
                  </a:lnTo>
                  <a:lnTo>
                    <a:pt x="1778000" y="442595"/>
                  </a:lnTo>
                  <a:lnTo>
                    <a:pt x="1675638" y="11938"/>
                  </a:lnTo>
                  <a:lnTo>
                    <a:pt x="1451356" y="11938"/>
                  </a:lnTo>
                  <a:lnTo>
                    <a:pt x="1328420" y="589788"/>
                  </a:lnTo>
                  <a:lnTo>
                    <a:pt x="1472565" y="589788"/>
                  </a:lnTo>
                  <a:lnTo>
                    <a:pt x="1566799" y="147193"/>
                  </a:lnTo>
                  <a:lnTo>
                    <a:pt x="1568323" y="147193"/>
                  </a:lnTo>
                  <a:lnTo>
                    <a:pt x="1670431" y="589788"/>
                  </a:lnTo>
                  <a:lnTo>
                    <a:pt x="1892427" y="589788"/>
                  </a:lnTo>
                  <a:lnTo>
                    <a:pt x="2015363" y="11938"/>
                  </a:lnTo>
                  <a:close/>
                </a:path>
                <a:path w="3178810" h="601979">
                  <a:moveTo>
                    <a:pt x="2603754" y="589788"/>
                  </a:moveTo>
                  <a:lnTo>
                    <a:pt x="2583180" y="476897"/>
                  </a:lnTo>
                  <a:lnTo>
                    <a:pt x="2562733" y="364871"/>
                  </a:lnTo>
                  <a:lnTo>
                    <a:pt x="2498471" y="11938"/>
                  </a:lnTo>
                  <a:lnTo>
                    <a:pt x="2392807" y="11938"/>
                  </a:lnTo>
                  <a:lnTo>
                    <a:pt x="2392807" y="364871"/>
                  </a:lnTo>
                  <a:lnTo>
                    <a:pt x="2238248" y="364871"/>
                  </a:lnTo>
                  <a:lnTo>
                    <a:pt x="2367788" y="124841"/>
                  </a:lnTo>
                  <a:lnTo>
                    <a:pt x="2370201" y="124841"/>
                  </a:lnTo>
                  <a:lnTo>
                    <a:pt x="2392807" y="364871"/>
                  </a:lnTo>
                  <a:lnTo>
                    <a:pt x="2392807" y="11938"/>
                  </a:lnTo>
                  <a:lnTo>
                    <a:pt x="2302891" y="11938"/>
                  </a:lnTo>
                  <a:lnTo>
                    <a:pt x="1951609" y="589788"/>
                  </a:lnTo>
                  <a:lnTo>
                    <a:pt x="2111883" y="589788"/>
                  </a:lnTo>
                  <a:lnTo>
                    <a:pt x="2173605" y="476897"/>
                  </a:lnTo>
                  <a:lnTo>
                    <a:pt x="2408301" y="476897"/>
                  </a:lnTo>
                  <a:lnTo>
                    <a:pt x="2422779" y="589788"/>
                  </a:lnTo>
                  <a:lnTo>
                    <a:pt x="2603754" y="589788"/>
                  </a:lnTo>
                  <a:close/>
                </a:path>
                <a:path w="3178810" h="601979">
                  <a:moveTo>
                    <a:pt x="2947797" y="11938"/>
                  </a:moveTo>
                  <a:lnTo>
                    <a:pt x="2787650" y="11938"/>
                  </a:lnTo>
                  <a:lnTo>
                    <a:pt x="2664587" y="589788"/>
                  </a:lnTo>
                  <a:lnTo>
                    <a:pt x="2824861" y="589788"/>
                  </a:lnTo>
                  <a:lnTo>
                    <a:pt x="2947797" y="11938"/>
                  </a:lnTo>
                  <a:close/>
                </a:path>
                <a:path w="3178810" h="601979">
                  <a:moveTo>
                    <a:pt x="3178733" y="568337"/>
                  </a:moveTo>
                  <a:lnTo>
                    <a:pt x="3007995" y="568337"/>
                  </a:lnTo>
                  <a:lnTo>
                    <a:pt x="3007995" y="589661"/>
                  </a:lnTo>
                  <a:lnTo>
                    <a:pt x="3178733" y="589661"/>
                  </a:lnTo>
                  <a:lnTo>
                    <a:pt x="3178733" y="568337"/>
                  </a:lnTo>
                  <a:close/>
                </a:path>
                <a:path w="3178810" h="601979">
                  <a:moveTo>
                    <a:pt x="3178733" y="431812"/>
                  </a:moveTo>
                  <a:lnTo>
                    <a:pt x="3007995" y="431812"/>
                  </a:lnTo>
                  <a:lnTo>
                    <a:pt x="3007995" y="453148"/>
                  </a:lnTo>
                  <a:lnTo>
                    <a:pt x="3178733" y="453148"/>
                  </a:lnTo>
                  <a:lnTo>
                    <a:pt x="3178733" y="431812"/>
                  </a:lnTo>
                  <a:close/>
                </a:path>
                <a:path w="3178810" h="601979">
                  <a:moveTo>
                    <a:pt x="3178733" y="290207"/>
                  </a:moveTo>
                  <a:lnTo>
                    <a:pt x="3007995" y="290207"/>
                  </a:lnTo>
                  <a:lnTo>
                    <a:pt x="3007995" y="311531"/>
                  </a:lnTo>
                  <a:lnTo>
                    <a:pt x="3178733" y="311531"/>
                  </a:lnTo>
                  <a:lnTo>
                    <a:pt x="3178733" y="290207"/>
                  </a:lnTo>
                  <a:close/>
                </a:path>
                <a:path w="3178810" h="601979">
                  <a:moveTo>
                    <a:pt x="3178733" y="150482"/>
                  </a:moveTo>
                  <a:lnTo>
                    <a:pt x="3007995" y="150482"/>
                  </a:lnTo>
                  <a:lnTo>
                    <a:pt x="3007995" y="171831"/>
                  </a:lnTo>
                  <a:lnTo>
                    <a:pt x="3178733" y="171831"/>
                  </a:lnTo>
                  <a:lnTo>
                    <a:pt x="3178733" y="150482"/>
                  </a:lnTo>
                  <a:close/>
                </a:path>
                <a:path w="3178810" h="601979">
                  <a:moveTo>
                    <a:pt x="3178733" y="14363"/>
                  </a:moveTo>
                  <a:lnTo>
                    <a:pt x="3007995" y="14363"/>
                  </a:lnTo>
                  <a:lnTo>
                    <a:pt x="3007995" y="35687"/>
                  </a:lnTo>
                  <a:lnTo>
                    <a:pt x="3178733" y="35687"/>
                  </a:lnTo>
                  <a:lnTo>
                    <a:pt x="3178733" y="143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99885" y="3058160"/>
            <a:ext cx="4011295" cy="649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1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alibri"/>
                <a:cs typeface="Calibri"/>
                <a:hlinkClick r:id="rId3"/>
              </a:rPr>
              <a:t>sumare.sp.senai.br</a:t>
            </a:r>
            <a:endParaRPr sz="41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61" y="2519552"/>
            <a:ext cx="12190730" cy="4338320"/>
            <a:chOff x="761" y="2519552"/>
            <a:chExt cx="12190730" cy="4338320"/>
          </a:xfrm>
        </p:grpSpPr>
        <p:sp>
          <p:nvSpPr>
            <p:cNvPr id="8" name="object 8"/>
            <p:cNvSpPr/>
            <p:nvPr/>
          </p:nvSpPr>
          <p:spPr>
            <a:xfrm>
              <a:off x="5580507" y="2519552"/>
              <a:ext cx="0" cy="1819275"/>
            </a:xfrm>
            <a:custGeom>
              <a:avLst/>
              <a:gdLst/>
              <a:ahLst/>
              <a:cxnLst/>
              <a:rect l="l" t="t" r="r" b="b"/>
              <a:pathLst>
                <a:path h="1819275">
                  <a:moveTo>
                    <a:pt x="0" y="1819275"/>
                  </a:moveTo>
                  <a:lnTo>
                    <a:pt x="0" y="0"/>
                  </a:lnTo>
                </a:path>
              </a:pathLst>
            </a:custGeom>
            <a:ln w="281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1" y="6761987"/>
              <a:ext cx="12190730" cy="95885"/>
            </a:xfrm>
            <a:custGeom>
              <a:avLst/>
              <a:gdLst/>
              <a:ahLst/>
              <a:cxnLst/>
              <a:rect l="l" t="t" r="r" b="b"/>
              <a:pathLst>
                <a:path w="12190730" h="95884">
                  <a:moveTo>
                    <a:pt x="12190476" y="0"/>
                  </a:moveTo>
                  <a:lnTo>
                    <a:pt x="0" y="0"/>
                  </a:lnTo>
                  <a:lnTo>
                    <a:pt x="0" y="95758"/>
                  </a:lnTo>
                  <a:lnTo>
                    <a:pt x="12190476" y="95758"/>
                  </a:lnTo>
                  <a:lnTo>
                    <a:pt x="12190476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</TotalTime>
  <Words>2015</Words>
  <Application>Microsoft Office PowerPoint</Application>
  <PresentationFormat>Ecrã Panorâmico</PresentationFormat>
  <Paragraphs>220</Paragraphs>
  <Slides>58</Slides>
  <Notes>0</Notes>
  <HiddenSlides>1</HiddenSlides>
  <MMClips>0</MMClips>
  <ScaleCrop>false</ScaleCrop>
  <HeadingPairs>
    <vt:vector size="6" baseType="variant">
      <vt:variant>
        <vt:lpstr>Tipos de letra usados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58</vt:i4>
      </vt:variant>
    </vt:vector>
  </HeadingPairs>
  <TitlesOfParts>
    <vt:vector size="67" baseType="lpstr">
      <vt:lpstr>Arial</vt:lpstr>
      <vt:lpstr>Arial MT</vt:lpstr>
      <vt:lpstr>Calibri</vt:lpstr>
      <vt:lpstr>Cambria</vt:lpstr>
      <vt:lpstr>Microsoft Sans Serif</vt:lpstr>
      <vt:lpstr>Times New Roman</vt:lpstr>
      <vt:lpstr>Verdana</vt:lpstr>
      <vt:lpstr>Wingdings</vt:lpstr>
      <vt:lpstr>Office Theme</vt:lpstr>
      <vt:lpstr>Apresentação do PowerPoint</vt:lpstr>
      <vt:lpstr>INSTALADOR E REPARADOR DE EQUIPAMENTOS DE TELECOMUNICAÇÕES</vt:lpstr>
      <vt:lpstr>Objetivo Geral: Tecnologia da Informação</vt:lpstr>
      <vt:lpstr>Microsoft Excel</vt:lpstr>
      <vt:lpstr>Conceitos básicos de planilha</vt:lpstr>
      <vt:lpstr>Conceitos básicos de planilha</vt:lpstr>
      <vt:lpstr>Inserindo dados</vt:lpstr>
      <vt:lpstr>Inserindo dados</vt:lpstr>
      <vt:lpstr>Selecionar, cortar, copiar e colar</vt:lpstr>
      <vt:lpstr>Selecionar, cortar, copiar e colar</vt:lpstr>
      <vt:lpstr>Selecionar, cortar, copiar e colar</vt:lpstr>
      <vt:lpstr>Inserir e apagar linhas e colunas</vt:lpstr>
      <vt:lpstr>Salvando uma planilha</vt:lpstr>
      <vt:lpstr>Salvando uma planilha</vt:lpstr>
      <vt:lpstr>Abrindo uma planilha</vt:lpstr>
      <vt:lpstr>Abrindo uma planilha</vt:lpstr>
      <vt:lpstr>Formatando células</vt:lpstr>
      <vt:lpstr>Formatando células</vt:lpstr>
      <vt:lpstr>Fórmulas com operadoresbásicos</vt:lpstr>
      <vt:lpstr>Fórmulas com funções(SOMA)</vt:lpstr>
      <vt:lpstr>Fórmulas com funções(MÉDIA)</vt:lpstr>
      <vt:lpstr>Exercício</vt:lpstr>
      <vt:lpstr>Fórmulas com funções(SE)</vt:lpstr>
      <vt:lpstr>FunçõesAninhadas</vt:lpstr>
      <vt:lpstr>Criando séries</vt:lpstr>
      <vt:lpstr>Criando séries</vt:lpstr>
      <vt:lpstr>Criando séries</vt:lpstr>
      <vt:lpstr>Criando séries utilizando fórmulas</vt:lpstr>
      <vt:lpstr>Vamos Praticar!!</vt:lpstr>
      <vt:lpstr>Criando Tabelas</vt:lpstr>
      <vt:lpstr>Criando Tabelas</vt:lpstr>
      <vt:lpstr>Criando Tabelas</vt:lpstr>
      <vt:lpstr>Classificação e Filtro</vt:lpstr>
      <vt:lpstr>Classificação</vt:lpstr>
      <vt:lpstr>Classificação</vt:lpstr>
      <vt:lpstr>Filtro</vt:lpstr>
      <vt:lpstr>Filtro</vt:lpstr>
      <vt:lpstr>Filtro</vt:lpstr>
      <vt:lpstr>Formatação condicional</vt:lpstr>
      <vt:lpstr>Formatação condicional</vt:lpstr>
      <vt:lpstr>Exercício</vt:lpstr>
      <vt:lpstr>Gráficos</vt:lpstr>
      <vt:lpstr>Gráficos</vt:lpstr>
      <vt:lpstr>Gráficos</vt:lpstr>
      <vt:lpstr>Área de impressão</vt:lpstr>
      <vt:lpstr>Apresentação do PowerPoint</vt:lpstr>
      <vt:lpstr>Exercício</vt:lpstr>
      <vt:lpstr>Exercício</vt:lpstr>
      <vt:lpstr>Exercício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sumare.sp.senai.br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Persistência de Objetos: soluções e aplicações.</dc:title>
  <dc:creator>Rharon</dc:creator>
  <cp:lastModifiedBy>João Flavio Diniz</cp:lastModifiedBy>
  <cp:revision>12</cp:revision>
  <dcterms:created xsi:type="dcterms:W3CDTF">2025-03-18T19:34:59Z</dcterms:created>
  <dcterms:modified xsi:type="dcterms:W3CDTF">2025-05-30T17:05:59Z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2024-06-04T00:00:00Z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2025-03-18T00:00:00Z</vt:filetime>
  </property>
  <property fmtid="{D5CDD505-2E9C-101B-9397-08002B2CF9AE}" pid="5" name="Producer">
    <vt:lpwstr>Microsoft® PowerPoint® 2019</vt:lpwstr>
  </property>
</Properties>
</file>