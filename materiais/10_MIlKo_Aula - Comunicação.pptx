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3"/>
  </p:notesMasterIdLst>
  <p:handoutMasterIdLst>
    <p:handoutMasterId r:id="rId64"/>
  </p:handoutMasterIdLst>
  <p:sldIdLst>
    <p:sldId id="269" r:id="rId5"/>
    <p:sldId id="313" r:id="rId6"/>
    <p:sldId id="312" r:id="rId7"/>
    <p:sldId id="272" r:id="rId8"/>
    <p:sldId id="273" r:id="rId9"/>
    <p:sldId id="276" r:id="rId10"/>
    <p:sldId id="277" r:id="rId11"/>
    <p:sldId id="278" r:id="rId12"/>
    <p:sldId id="323" r:id="rId13"/>
    <p:sldId id="274" r:id="rId14"/>
    <p:sldId id="322" r:id="rId15"/>
    <p:sldId id="315" r:id="rId16"/>
    <p:sldId id="316" r:id="rId17"/>
    <p:sldId id="317" r:id="rId18"/>
    <p:sldId id="318" r:id="rId19"/>
    <p:sldId id="319" r:id="rId20"/>
    <p:sldId id="320" r:id="rId21"/>
    <p:sldId id="321" r:id="rId22"/>
    <p:sldId id="324" r:id="rId23"/>
    <p:sldId id="335" r:id="rId24"/>
    <p:sldId id="256" r:id="rId25"/>
    <p:sldId id="261" r:id="rId26"/>
    <p:sldId id="289" r:id="rId27"/>
    <p:sldId id="292" r:id="rId28"/>
    <p:sldId id="325" r:id="rId29"/>
    <p:sldId id="326" r:id="rId30"/>
    <p:sldId id="327" r:id="rId31"/>
    <p:sldId id="328" r:id="rId32"/>
    <p:sldId id="332" r:id="rId33"/>
    <p:sldId id="329" r:id="rId34"/>
    <p:sldId id="331" r:id="rId35"/>
    <p:sldId id="330" r:id="rId36"/>
    <p:sldId id="336" r:id="rId37"/>
    <p:sldId id="338" r:id="rId38"/>
    <p:sldId id="334" r:id="rId39"/>
    <p:sldId id="333" r:id="rId40"/>
    <p:sldId id="314" r:id="rId41"/>
    <p:sldId id="284" r:id="rId42"/>
    <p:sldId id="285" r:id="rId43"/>
    <p:sldId id="286" r:id="rId44"/>
    <p:sldId id="287" r:id="rId45"/>
    <p:sldId id="288" r:id="rId46"/>
    <p:sldId id="306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5" r:id="rId58"/>
    <p:sldId id="307" r:id="rId59"/>
    <p:sldId id="308" r:id="rId60"/>
    <p:sldId id="309" r:id="rId61"/>
    <p:sldId id="310" r:id="rId62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  <a:srgbClr val="80A4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6391" autoAdjust="0"/>
  </p:normalViewPr>
  <p:slideViewPr>
    <p:cSldViewPr snapToGrid="0" showGuides="1">
      <p:cViewPr varScale="1">
        <p:scale>
          <a:sx n="70" d="100"/>
          <a:sy n="70" d="100"/>
        </p:scale>
        <p:origin x="73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6" d="100"/>
          <a:sy n="96" d="100"/>
        </p:scale>
        <p:origin x="364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slide" Target="slides/slide57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2B37495-969D-491D-8169-3F98139EA39D}" type="datetime1">
              <a:rPr lang="pt-BR" smtClean="0"/>
              <a:t>15/08/2025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6834459-7356-44BF-850D-8B30C4FB3B6B}" type="slidenum">
              <a:rPr lang="pt-BR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648D5-68F6-4CFF-B000-073966B11BD8}" type="datetime1">
              <a:rPr lang="pt-BR" smtClean="0"/>
              <a:pPr/>
              <a:t>15/08/2025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A3C37BE-C303-496D-B5CD-85F2937540FC}" type="slidenum">
              <a:rPr lang="pt-BR" noProof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pt-BR" b="1" i="1">
                <a:latin typeface="Arial" pitchFamily="34" charset="0"/>
                <a:cs typeface="Arial" pitchFamily="34" charset="0"/>
              </a:rPr>
              <a:t>NOTA:</a:t>
            </a:r>
          </a:p>
          <a:p>
            <a:pPr rtl="0"/>
            <a:r>
              <a:rPr lang="pt-BR" i="1">
                <a:latin typeface="Arial" pitchFamily="34" charset="0"/>
                <a:cs typeface="Arial" pitchFamily="34" charset="0"/>
              </a:rPr>
              <a:t>Para alterar a imagem no slide, selecione e exclua a imagem. Em seguida, use o ícone Imagens no espaço reservado para inserir sua própria imagem.</a:t>
            </a:r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A3C37BE-C303-496D-B5CD-85F2937540FC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327042-6B61-B148-8485-8BBBFAA13D24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525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>
              <a:defRPr sz="4400" cap="all" baseline="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7" name="Retângulo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rtl="0"/>
            <a:fld id="{1D57F4A3-CF1A-49AE-AF56-17266B68AB93}" type="datetime1">
              <a:rPr lang="pt-BR" noProof="0" smtClean="0"/>
              <a:t>15/08/2025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rtl="0"/>
            <a:fld id="{0FF54DE5-C571-48E8-A5BC-B369434E2F44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DFC3A06-75C5-4D2A-8C93-52EE50194E24}" type="datetime1">
              <a:rPr lang="pt-BR" noProof="0" smtClean="0"/>
              <a:t>15/08/2025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pt-BR" noProof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de Título com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>
              <a:defRPr sz="4400" cap="all" baseline="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11" name="Espaço Reservado para Imagem 10" descr="Um espaço reservado vazio para adicionar uma imagem. Clique no espaço reservado e selecione a imagem que você deseja adicionar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8" name="Retângulo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grpSp>
        <p:nvGrpSpPr>
          <p:cNvPr id="14" name="Grupo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Conector Reto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Imagem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upo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Conector Reto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tângulo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upo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Conector Reto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ector Reto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tângulo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noProof="0"/>
            </a:p>
          </p:txBody>
        </p:sp>
        <p:grpSp>
          <p:nvGrpSpPr>
            <p:cNvPr id="11" name="Grupo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Conector Reto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ector Reto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7C3C95E-0E48-4D1D-81F3-AB6333D41E61}" type="datetime1">
              <a:rPr lang="pt-BR" noProof="0" smtClean="0"/>
              <a:t>15/08/2025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pt-BR" noProof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31AEF0-CA80-4D45-87BA-42880CFEA089}" type="datetime1">
              <a:rPr lang="pt-BR" noProof="0" smtClean="0"/>
              <a:t>15/08/2025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pt-BR" noProof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104900" y="1600200"/>
            <a:ext cx="4919472" cy="823912"/>
          </a:xfrm>
        </p:spPr>
        <p:txBody>
          <a:bodyPr rtlCol="0"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66110" y="1600200"/>
            <a:ext cx="4919472" cy="823912"/>
          </a:xfrm>
        </p:spPr>
        <p:txBody>
          <a:bodyPr rtlCol="0"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F02E27-B38E-44B0-9633-761E05665EAC}" type="datetime1">
              <a:rPr lang="pt-BR" noProof="0" smtClean="0"/>
              <a:t>15/08/2025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pt-BR" noProof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B0CB440-07A7-4F7B-B262-7ED1B68B6949}" type="datetime1">
              <a:rPr lang="pt-BR" noProof="0" smtClean="0"/>
              <a:t>15/08/2025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pt-BR" noProof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B8122D9-B6C1-4340-B355-1B9EC9374DB2}" type="datetime1">
              <a:rPr lang="pt-BR" noProof="0" smtClean="0"/>
              <a:t>15/08/2025</a:t>
            </a:fld>
            <a:endParaRPr lang="pt-BR" noProof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pt-BR" noProof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0321ECB-A9AD-4831-8AB0-C216558C2883}" type="datetime1">
              <a:rPr lang="pt-BR" noProof="0" smtClean="0"/>
              <a:t>15/08/2025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pt-BR" noProof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3" name="Espaço Reservado para Imagem 2" descr="Um espaço reservado vazio para adicionar uma imagem. Clique no espaço reservado e selecione a imagem que você deseja adicionar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2006A2B-C86C-48EA-A323-32CA4AC86682}" type="datetime1">
              <a:rPr lang="pt-BR" noProof="0" smtClean="0"/>
              <a:t>15/08/2025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pt-BR" noProof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0EAF56F-B998-42B6-BBFD-7C0B6F4F4178}" type="datetime1">
              <a:rPr lang="pt-BR" noProof="0" smtClean="0"/>
              <a:t>15/08/2025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pt-BR" noProof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AE18A2F-6E06-446F-9F43-050C98C497E1}" type="datetime1">
              <a:rPr lang="pt-BR" noProof="0" smtClean="0"/>
              <a:t>15/08/2025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pt-BR" noProof="0"/>
              <a:t>‹nº›</a:t>
            </a:fld>
            <a:endParaRPr lang="pt-BR" noProof="0"/>
          </a:p>
        </p:txBody>
      </p:sp>
      <p:grpSp>
        <p:nvGrpSpPr>
          <p:cNvPr id="7" name="Grupo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Conector Reto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  <a:p>
            <a:pPr lvl="5" rtl="0"/>
            <a:r>
              <a:rPr lang="pt-BR" noProof="0"/>
              <a:t>Sexto nível</a:t>
            </a:r>
          </a:p>
          <a:p>
            <a:pPr lvl="6" rtl="0"/>
            <a:r>
              <a:rPr lang="pt-BR" noProof="0"/>
              <a:t>Sétimo nível</a:t>
            </a:r>
          </a:p>
          <a:p>
            <a:pPr lvl="7" rtl="0"/>
            <a:r>
              <a:rPr lang="pt-BR" noProof="0"/>
              <a:t>Oito nível</a:t>
            </a:r>
          </a:p>
          <a:p>
            <a:pPr lvl="8" rtl="0"/>
            <a:r>
              <a:rPr lang="pt-BR" noProof="0"/>
              <a:t>Nono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rtl="0"/>
            <a:fld id="{69E6B1CB-89B9-411A-8E1E-1E9032558BF9}" type="datetime1">
              <a:rPr lang="pt-BR" noProof="0" smtClean="0"/>
              <a:t>15/08/2025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rtl="0"/>
            <a:fld id="{0FF54DE5-C571-48E8-A5BC-B369434E2F44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grpSp>
        <p:nvGrpSpPr>
          <p:cNvPr id="15" name="Grupo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Conector Reto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B08FB-092F-490C-A8F8-13DAE494A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1" name="Espaço Reservado para Conteúdo 10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7399E3B6-5E13-1A7F-9000-899A446799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721754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Texto, Carta&#10;&#10;O conteúdo gerado por IA pode estar incorreto.">
            <a:extLst>
              <a:ext uri="{FF2B5EF4-FFF2-40B4-BE49-F238E27FC236}">
                <a16:creationId xmlns:a16="http://schemas.microsoft.com/office/drawing/2014/main" id="{876C0990-0B94-7B08-6ECF-1BF68302F4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682" y="0"/>
            <a:ext cx="12349682" cy="6946696"/>
          </a:xfrm>
        </p:spPr>
      </p:pic>
    </p:spTree>
    <p:extLst>
      <p:ext uri="{BB962C8B-B14F-4D97-AF65-F5344CB8AC3E}">
        <p14:creationId xmlns:p14="http://schemas.microsoft.com/office/powerpoint/2010/main" val="1466464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FF">
            <a:alpha val="61961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5737C801-3F07-469E-9A81-59F2836426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9005" y="19493"/>
            <a:ext cx="3314996" cy="3227968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77884AE-E791-4884-89FC-E7569E489103}"/>
              </a:ext>
            </a:extLst>
          </p:cNvPr>
          <p:cNvSpPr txBox="1"/>
          <p:nvPr/>
        </p:nvSpPr>
        <p:spPr>
          <a:xfrm>
            <a:off x="507999" y="330250"/>
            <a:ext cx="8225184" cy="2275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tx2"/>
                </a:solidFill>
              </a:rPr>
              <a:t>Critérios de avaliação para obtenção de nota:</a:t>
            </a:r>
          </a:p>
          <a:p>
            <a:endParaRPr lang="pt-BR" sz="2800" dirty="0">
              <a:solidFill>
                <a:schemeClr val="tx2"/>
              </a:solidFill>
            </a:endParaRPr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FF0000"/>
                </a:solidFill>
              </a:rPr>
              <a:t>Críticos: </a:t>
            </a:r>
            <a:r>
              <a:rPr lang="pt-BR" sz="2000" dirty="0">
                <a:solidFill>
                  <a:schemeClr val="tx2"/>
                </a:solidFill>
              </a:rPr>
              <a:t>50% da nota</a:t>
            </a:r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tx2"/>
              </a:solidFill>
            </a:endParaRPr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70C0"/>
                </a:solidFill>
              </a:rPr>
              <a:t>Desejáveis: </a:t>
            </a:r>
            <a:r>
              <a:rPr lang="pt-BR" sz="2000" dirty="0">
                <a:solidFill>
                  <a:schemeClr val="tx2"/>
                </a:solidFill>
              </a:rPr>
              <a:t>50% da nota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BE20FBC-000B-4F29-AAE6-90F0EC12B9EE}"/>
              </a:ext>
            </a:extLst>
          </p:cNvPr>
          <p:cNvSpPr txBox="1"/>
          <p:nvPr/>
        </p:nvSpPr>
        <p:spPr>
          <a:xfrm>
            <a:off x="8829749" y="771843"/>
            <a:ext cx="23462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2"/>
                </a:solidFill>
              </a:rPr>
              <a:t>Todas as aulas em </a:t>
            </a:r>
            <a:r>
              <a:rPr lang="pt-BR" sz="2400" b="1" dirty="0" err="1">
                <a:solidFill>
                  <a:schemeClr val="tx2"/>
                </a:solidFill>
              </a:rPr>
              <a:t>power</a:t>
            </a:r>
            <a:r>
              <a:rPr lang="pt-BR" sz="2400" b="1" dirty="0">
                <a:solidFill>
                  <a:schemeClr val="tx2"/>
                </a:solidFill>
              </a:rPr>
              <a:t> point serão postadas via Classroom</a:t>
            </a:r>
            <a:endParaRPr lang="pt-BR" sz="3200" b="1" dirty="0">
              <a:solidFill>
                <a:schemeClr val="tx2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1DFBD01-0E87-41CD-AD7E-0DF74B27C4BB}"/>
              </a:ext>
            </a:extLst>
          </p:cNvPr>
          <p:cNvSpPr txBox="1"/>
          <p:nvPr/>
        </p:nvSpPr>
        <p:spPr>
          <a:xfrm>
            <a:off x="3048000" y="32476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763CE68-2143-4513-B1D3-711697B2ADF3}"/>
              </a:ext>
            </a:extLst>
          </p:cNvPr>
          <p:cNvSpPr txBox="1"/>
          <p:nvPr/>
        </p:nvSpPr>
        <p:spPr>
          <a:xfrm>
            <a:off x="3048000" y="32476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8929E3F-A28F-AB2F-B283-404A29619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72" y="2817844"/>
            <a:ext cx="6393927" cy="307937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BD9354A-00F9-10A9-1057-E91E045139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1105" y="4147930"/>
            <a:ext cx="6875190" cy="2481987"/>
          </a:xfrm>
          <a:prstGeom prst="rect">
            <a:avLst/>
          </a:prstGeom>
        </p:spPr>
      </p:pic>
      <p:sp>
        <p:nvSpPr>
          <p:cNvPr id="9" name="Colchete Esquerdo 8">
            <a:extLst>
              <a:ext uri="{FF2B5EF4-FFF2-40B4-BE49-F238E27FC236}">
                <a16:creationId xmlns:a16="http://schemas.microsoft.com/office/drawing/2014/main" id="{92971CFB-779D-6F51-CDF3-96F212FA6A90}"/>
              </a:ext>
            </a:extLst>
          </p:cNvPr>
          <p:cNvSpPr/>
          <p:nvPr/>
        </p:nvSpPr>
        <p:spPr>
          <a:xfrm>
            <a:off x="5151445" y="4161182"/>
            <a:ext cx="100495" cy="2481987"/>
          </a:xfrm>
          <a:prstGeom prst="leftBracket">
            <a:avLst/>
          </a:prstGeom>
          <a:ln w="412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5104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08FAED-0365-4E47-91ED-312CB76C4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7F2AC208-31C9-4616-B62E-F17E3551B4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730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200_vladgrin_gettyimages-488758071 - Educação que transforma: Blog da  Unileão">
            <a:extLst>
              <a:ext uri="{FF2B5EF4-FFF2-40B4-BE49-F238E27FC236}">
                <a16:creationId xmlns:a16="http://schemas.microsoft.com/office/drawing/2014/main" id="{063D901B-439B-439E-8CDB-5B1EC8C49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22" y="1842314"/>
            <a:ext cx="5334795" cy="3319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EE8C56B-0619-4105-BD2C-5A9511F3EE94}"/>
              </a:ext>
              <a:ext uri="{C49CC415-4599-4820-9802-A2447D97B9D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1D8FF27-38F5-425E-95DB-B76DF0F3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566" y="206990"/>
            <a:ext cx="7562850" cy="985705"/>
          </a:xfrm>
        </p:spPr>
        <p:txBody>
          <a:bodyPr rtlCol="0">
            <a:normAutofit/>
          </a:bodyPr>
          <a:lstStyle/>
          <a:p>
            <a:r>
              <a:rPr lang="pt-BR" sz="3600" b="1" dirty="0">
                <a:solidFill>
                  <a:srgbClr val="002060"/>
                </a:solidFill>
              </a:rPr>
              <a:t>Mas o </a:t>
            </a:r>
            <a:r>
              <a:rPr lang="en-US" sz="3600" b="1" dirty="0">
                <a:solidFill>
                  <a:srgbClr val="002060"/>
                </a:solidFill>
              </a:rPr>
              <a:t>que é a comunicação?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91C78D30-A9F5-4CCE-91B0-BBF3E74744BC}"/>
              </a:ext>
              <a:ext uri="{069BCFAA-61ED-45E6-BAA4-DBCD59084AB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B44ECEE-6FB9-45F1-9B48-02C30E148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703088"/>
            <a:ext cx="5848763" cy="3995347"/>
          </a:xfrm>
        </p:spPr>
        <p:txBody>
          <a:bodyPr rtlCol="0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400" dirty="0">
                <a:solidFill>
                  <a:srgbClr val="002060"/>
                </a:solidFill>
                <a:latin typeface="arial"/>
              </a:rPr>
              <a:t>É o </a:t>
            </a:r>
            <a:r>
              <a:rPr lang="en-US" sz="2400" dirty="0">
                <a:solidFill>
                  <a:srgbClr val="002060"/>
                </a:solidFill>
                <a:latin typeface="arial"/>
              </a:rPr>
              <a:t>processo de comunicação consiste na transmissão de informação entre um emissor e um receptor que descodifica (interpreta) uma determinada mensagem, através do canal utilizado.</a:t>
            </a:r>
          </a:p>
          <a:p>
            <a:pPr>
              <a:lnSpc>
                <a:spcPct val="150000"/>
              </a:lnSpc>
            </a:pPr>
            <a:endParaRPr lang="en-US" sz="1400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20D068A-CC75-4AD8-B085-5CDA6012135D}"/>
              </a:ext>
            </a:extLst>
          </p:cNvPr>
          <p:cNvSpPr txBox="1"/>
          <p:nvPr/>
        </p:nvSpPr>
        <p:spPr>
          <a:xfrm>
            <a:off x="3048000" y="5132511"/>
            <a:ext cx="6096000" cy="11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060"/>
                </a:solidFill>
                <a:latin typeface="arial"/>
              </a:rPr>
              <a:t>Mas </a:t>
            </a:r>
            <a:r>
              <a:rPr lang="en-US" sz="2400" b="1" dirty="0" err="1">
                <a:solidFill>
                  <a:srgbClr val="002060"/>
                </a:solidFill>
                <a:latin typeface="arial"/>
              </a:rPr>
              <a:t>quais</a:t>
            </a:r>
            <a:r>
              <a:rPr lang="en-US" sz="2400" b="1" dirty="0">
                <a:solidFill>
                  <a:srgbClr val="002060"/>
                </a:solidFill>
                <a:latin typeface="arial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arial"/>
              </a:rPr>
              <a:t>os</a:t>
            </a:r>
            <a:r>
              <a:rPr lang="en-US" sz="2400" b="1" dirty="0">
                <a:solidFill>
                  <a:srgbClr val="002060"/>
                </a:solidFill>
                <a:latin typeface="arial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arial"/>
              </a:rPr>
              <a:t>elementos</a:t>
            </a:r>
            <a:r>
              <a:rPr lang="en-US" sz="2400" b="1" dirty="0">
                <a:solidFill>
                  <a:srgbClr val="002060"/>
                </a:solidFill>
                <a:latin typeface="arial"/>
              </a:rPr>
              <a:t> que </a:t>
            </a:r>
            <a:r>
              <a:rPr lang="en-US" sz="2400" b="1" dirty="0" err="1">
                <a:solidFill>
                  <a:srgbClr val="002060"/>
                </a:solidFill>
                <a:latin typeface="arial"/>
              </a:rPr>
              <a:t>compõe</a:t>
            </a:r>
            <a:r>
              <a:rPr lang="en-US" sz="2400" b="1" dirty="0">
                <a:solidFill>
                  <a:srgbClr val="002060"/>
                </a:solidFill>
                <a:latin typeface="arial"/>
              </a:rPr>
              <a:t> a </a:t>
            </a:r>
            <a:r>
              <a:rPr lang="en-US" sz="2400" b="1" dirty="0" err="1">
                <a:solidFill>
                  <a:srgbClr val="002060"/>
                </a:solidFill>
                <a:latin typeface="arial"/>
              </a:rPr>
              <a:t>comunicação</a:t>
            </a:r>
            <a:r>
              <a:rPr lang="en-US" sz="2400" b="1" dirty="0">
                <a:solidFill>
                  <a:srgbClr val="002060"/>
                </a:solidFill>
                <a:latin typeface="arial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arial"/>
              </a:rPr>
              <a:t>eficaz</a:t>
            </a:r>
            <a:r>
              <a:rPr lang="en-US" sz="2400" b="1" dirty="0">
                <a:solidFill>
                  <a:srgbClr val="002060"/>
                </a:solidFill>
                <a:latin typeface="arial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40537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esumo do Mês - Abril/2015 | Quem Lê Ganha Mais">
            <a:extLst>
              <a:ext uri="{FF2B5EF4-FFF2-40B4-BE49-F238E27FC236}">
                <a16:creationId xmlns:a16="http://schemas.microsoft.com/office/drawing/2014/main" id="{622EAE72-F0F5-41AF-8DA0-ECBBEDFBE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9525000" cy="307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4115183-9E9E-49C6-8C3D-DFA9B1AEFB80}"/>
              </a:ext>
            </a:extLst>
          </p:cNvPr>
          <p:cNvSpPr txBox="1"/>
          <p:nvPr/>
        </p:nvSpPr>
        <p:spPr>
          <a:xfrm>
            <a:off x="404192" y="1984516"/>
            <a:ext cx="11383616" cy="4455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i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Emissor: </a:t>
            </a:r>
            <a:r>
              <a:rPr lang="pt-BR" sz="2400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 aquele que transmite a mensagem;</a:t>
            </a:r>
            <a:br>
              <a:rPr lang="pt-BR" sz="2400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400" b="1" i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Receptor: </a:t>
            </a:r>
            <a:r>
              <a:rPr lang="pt-BR" sz="2400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 a pessoa que recebe a mensagem;</a:t>
            </a:r>
            <a:br>
              <a:rPr lang="pt-BR" sz="2400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400" b="1" i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Mensagem:</a:t>
            </a:r>
            <a:r>
              <a:rPr lang="pt-BR" sz="2400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É tudo aquilo que o emissor envia ao receptor</a:t>
            </a:r>
            <a:r>
              <a:rPr lang="pt-BR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pt-BR" sz="2400" b="1" i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Código: </a:t>
            </a:r>
            <a:r>
              <a:rPr lang="pt-BR" sz="2400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 o conjunto de sinais utilizados na comunicação para transmitir a mensagem, podendo ser de várias maneiras, como as que vimos por meio dos exemplos acima;</a:t>
            </a:r>
            <a:br>
              <a:rPr lang="pt-BR" sz="2400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400" b="1" i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Canal: </a:t>
            </a:r>
            <a:r>
              <a:rPr lang="pt-BR" sz="2400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 o meio pelo qual é transmitida a mensagem, ou seja, pode ser pelo meio eletrônico, livros, rádio, televisão, etc.</a:t>
            </a:r>
            <a:endParaRPr lang="pt-BR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227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425818-5CD6-4382-9A68-2D89B72BA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A1A9732-D968-4E1C-AC5A-B45B82A2C1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9928065-718D-4002-B7DC-01C73005ADD5}"/>
              </a:ext>
              <a:ext uri="{5E50C65B-9884-4188-96A2-A2F356E7D33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3E5ECEB4-0287-48E7-BBE5-092D40E25E26}"/>
              </a:ext>
            </a:extLst>
          </p:cNvPr>
          <p:cNvSpPr txBox="1">
            <a:spLocks/>
          </p:cNvSpPr>
          <p:nvPr/>
        </p:nvSpPr>
        <p:spPr>
          <a:xfrm>
            <a:off x="306457" y="174107"/>
            <a:ext cx="7194274" cy="238125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pt-BR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Comunicação verbal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 a mais conhecida e usada. A comunicação verbal é toda aquela que se propaga por meio da fala, frases e palavras. Pode ser transmitida por vários canais, desde a presença física da pessoa até pelo telefone, televisão, rádio etc.</a:t>
            </a:r>
          </a:p>
          <a:p>
            <a:pPr algn="just">
              <a:lnSpc>
                <a:spcPct val="15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4337425-AC60-44C5-B69C-518CBA7D1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632" y="926805"/>
            <a:ext cx="3640482" cy="271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133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10 livros sobre inovação para ler em 2022">
            <a:extLst>
              <a:ext uri="{FF2B5EF4-FFF2-40B4-BE49-F238E27FC236}">
                <a16:creationId xmlns:a16="http://schemas.microsoft.com/office/drawing/2014/main" id="{EF4F4092-4B15-4E53-AB81-D6D8A27B1D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7" name="Espaço Reservado para Texto 2">
            <a:extLst>
              <a:ext uri="{FF2B5EF4-FFF2-40B4-BE49-F238E27FC236}">
                <a16:creationId xmlns:a16="http://schemas.microsoft.com/office/drawing/2014/main" id="{1B073DB2-1521-4B8E-8ABF-42F0BAD51DED}"/>
              </a:ext>
            </a:extLst>
          </p:cNvPr>
          <p:cNvSpPr txBox="1">
            <a:spLocks/>
          </p:cNvSpPr>
          <p:nvPr/>
        </p:nvSpPr>
        <p:spPr>
          <a:xfrm>
            <a:off x="4376530" y="380999"/>
            <a:ext cx="7404652" cy="335422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pt-BR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Comunicação não verbal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 aquela que não utiliza palavras faladas ou escritas. Para que a mensagem seja transmitida, são usados símbolos (logotipos, ícones, sinais etc.) ou imagens que, quando combinados, transmite uma ideia ou mensagem.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20E4130-2FFD-D0C6-AB12-8384FC165AFA}"/>
              </a:ext>
            </a:extLst>
          </p:cNvPr>
          <p:cNvSpPr txBox="1"/>
          <p:nvPr/>
        </p:nvSpPr>
        <p:spPr>
          <a:xfrm>
            <a:off x="6690691" y="3431395"/>
            <a:ext cx="52379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Mímica ou libras;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Linguagem por olhar;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Gestos;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Linguagem corporal;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Linguagem visual;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Entre outros.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73DFD7F-060F-88A8-4B2D-F9013F4648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818" y="2716013"/>
            <a:ext cx="2572096" cy="150495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DF8DCA1-7783-C9C2-A381-193DF640D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79" y="4857751"/>
            <a:ext cx="2162175" cy="161925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A687991-7AD1-0029-4A99-18B268B88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1713" y="3735219"/>
            <a:ext cx="1489192" cy="1504951"/>
          </a:xfrm>
          <a:prstGeom prst="rect">
            <a:avLst/>
          </a:prstGeom>
        </p:spPr>
      </p:pic>
      <p:pic>
        <p:nvPicPr>
          <p:cNvPr id="8" name="Picture 6" descr="Atendimento ao cliente - Você sabe o que é comunicação não-verbal?">
            <a:extLst>
              <a:ext uri="{FF2B5EF4-FFF2-40B4-BE49-F238E27FC236}">
                <a16:creationId xmlns:a16="http://schemas.microsoft.com/office/drawing/2014/main" id="{8897F402-3F67-88E8-240B-568AF3BA5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8843" y="5240170"/>
            <a:ext cx="2024418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10 truques de linguagem corporal para transmitir poder | Exame">
            <a:extLst>
              <a:ext uri="{FF2B5EF4-FFF2-40B4-BE49-F238E27FC236}">
                <a16:creationId xmlns:a16="http://schemas.microsoft.com/office/drawing/2014/main" id="{BFDBD572-BF4A-08CA-2329-5C6EAFA3B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18" y="380999"/>
            <a:ext cx="2966221" cy="1976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A42A0E2-EE0C-5FCE-50C0-BC10717216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6302" y="5839956"/>
            <a:ext cx="2294170" cy="913607"/>
          </a:xfrm>
          <a:prstGeom prst="rect">
            <a:avLst/>
          </a:prstGeom>
        </p:spPr>
      </p:pic>
      <p:pic>
        <p:nvPicPr>
          <p:cNvPr id="12" name="Espaço Reservado para Conteúdo 6">
            <a:extLst>
              <a:ext uri="{FF2B5EF4-FFF2-40B4-BE49-F238E27FC236}">
                <a16:creationId xmlns:a16="http://schemas.microsoft.com/office/drawing/2014/main" id="{38F3BB6A-6DDB-EA05-D40F-312AD855A9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9875170" y="5001670"/>
            <a:ext cx="1280619" cy="129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701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F3F819-9171-EBA4-F283-9B5558C5B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4EB36F-0895-B2FA-289B-071BD66CB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986" y="1560444"/>
            <a:ext cx="10530509" cy="457200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pt-BR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Responda em seu caderno para depois realizarmos um bate-papo em sala</a:t>
            </a:r>
            <a:r>
              <a:rPr lang="pt-BR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marL="342900" lvl="0" indent="-342900" algn="just">
              <a:lnSpc>
                <a:spcPct val="11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pt-BR" sz="2800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Explique a importância da comunicação eficaz em um ambiente de trabalho.</a:t>
            </a:r>
            <a:endParaRPr lang="pt-BR" sz="2800" kern="1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pt-BR" sz="2800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Como a comunicação pode impactar o relacionamento entre os membros de uma equipe?</a:t>
            </a:r>
            <a:endParaRPr lang="pt-BR" sz="2800" kern="1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pt-BR" sz="2800" kern="1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Como a comunicação não-verbal pode complementar ou prejudicar a comunicação verbal?</a:t>
            </a:r>
            <a:endParaRPr lang="pt-BR" sz="2800" kern="1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BR" sz="2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71799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2AE55DAB-A1D2-44E0-B8A0-275DDECC281B}"/>
              </a:ext>
            </a:extLst>
          </p:cNvPr>
          <p:cNvSpPr/>
          <p:nvPr/>
        </p:nvSpPr>
        <p:spPr>
          <a:xfrm>
            <a:off x="4926496" y="461341"/>
            <a:ext cx="2133600" cy="704850"/>
          </a:xfrm>
          <a:prstGeom prst="roundRect">
            <a:avLst/>
          </a:prstGeom>
          <a:solidFill>
            <a:srgbClr val="002060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pt-B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Fluxo da comunicação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06680876-8B8D-4C99-BE19-5CAB89ECA2CD}"/>
              </a:ext>
            </a:extLst>
          </p:cNvPr>
          <p:cNvSpPr/>
          <p:nvPr/>
        </p:nvSpPr>
        <p:spPr>
          <a:xfrm>
            <a:off x="609600" y="2121177"/>
            <a:ext cx="2133600" cy="609600"/>
          </a:xfrm>
          <a:prstGeom prst="roundRect">
            <a:avLst/>
          </a:prstGeom>
          <a:solidFill>
            <a:srgbClr val="002060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Emissor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07D8EDE9-78A3-41CC-B77A-CBB2650C3760}"/>
              </a:ext>
            </a:extLst>
          </p:cNvPr>
          <p:cNvSpPr/>
          <p:nvPr/>
        </p:nvSpPr>
        <p:spPr>
          <a:xfrm>
            <a:off x="4926496" y="3863839"/>
            <a:ext cx="2133600" cy="609600"/>
          </a:xfrm>
          <a:prstGeom prst="roundRect">
            <a:avLst/>
          </a:prstGeom>
          <a:solidFill>
            <a:srgbClr val="002060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Mensagem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F6AF3EF-5E7D-446E-9AD6-582D58134C54}"/>
              </a:ext>
            </a:extLst>
          </p:cNvPr>
          <p:cNvSpPr/>
          <p:nvPr/>
        </p:nvSpPr>
        <p:spPr>
          <a:xfrm>
            <a:off x="9448800" y="2214773"/>
            <a:ext cx="2133600" cy="609600"/>
          </a:xfrm>
          <a:prstGeom prst="roundRect">
            <a:avLst/>
          </a:prstGeom>
          <a:solidFill>
            <a:srgbClr val="002060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Receptor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42BF53A-1F71-44E7-A69A-60E24593537D}"/>
              </a:ext>
            </a:extLst>
          </p:cNvPr>
          <p:cNvSpPr/>
          <p:nvPr/>
        </p:nvSpPr>
        <p:spPr>
          <a:xfrm>
            <a:off x="609600" y="4895850"/>
            <a:ext cx="2133600" cy="609600"/>
          </a:xfrm>
          <a:prstGeom prst="roundRect">
            <a:avLst/>
          </a:prstGeom>
          <a:solidFill>
            <a:srgbClr val="80A4D8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pt-BR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Canal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A277CC28-5542-41ED-AC2F-B449751303FE}"/>
              </a:ext>
            </a:extLst>
          </p:cNvPr>
          <p:cNvSpPr/>
          <p:nvPr/>
        </p:nvSpPr>
        <p:spPr>
          <a:xfrm>
            <a:off x="9448800" y="4895850"/>
            <a:ext cx="2133600" cy="609600"/>
          </a:xfrm>
          <a:prstGeom prst="roundRect">
            <a:avLst/>
          </a:prstGeom>
          <a:solidFill>
            <a:srgbClr val="80A4D8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pt-BR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Código</a:t>
            </a:r>
          </a:p>
        </p:txBody>
      </p:sp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id="{DAD7D055-0EDE-4823-A6B8-BF596122F5A2}"/>
              </a:ext>
            </a:extLst>
          </p:cNvPr>
          <p:cNvCxnSpPr>
            <a:cxnSpLocks/>
            <a:stCxn id="4" idx="1"/>
            <a:endCxn id="5" idx="0"/>
          </p:cNvCxnSpPr>
          <p:nvPr/>
        </p:nvCxnSpPr>
        <p:spPr>
          <a:xfrm rot="10800000" flipV="1">
            <a:off x="1676400" y="813765"/>
            <a:ext cx="3250096" cy="1307411"/>
          </a:xfrm>
          <a:prstGeom prst="bentConnector2">
            <a:avLst/>
          </a:prstGeom>
          <a:ln w="19050" cap="flat">
            <a:solidFill>
              <a:schemeClr val="tx1"/>
            </a:solidFill>
            <a:prstDash val="sysDash"/>
            <a:round/>
            <a:tailEnd type="triangle"/>
          </a:ln>
        </p:spPr>
      </p:cxnSp>
      <p:cxnSp>
        <p:nvCxnSpPr>
          <p:cNvPr id="13" name="Conector: Angulado 12">
            <a:extLst>
              <a:ext uri="{FF2B5EF4-FFF2-40B4-BE49-F238E27FC236}">
                <a16:creationId xmlns:a16="http://schemas.microsoft.com/office/drawing/2014/main" id="{5DFA8355-564C-4B3B-9048-A0DE47D8F80C}"/>
              </a:ext>
            </a:extLst>
          </p:cNvPr>
          <p:cNvCxnSpPr>
            <a:cxnSpLocks/>
            <a:stCxn id="5" idx="2"/>
            <a:endCxn id="6" idx="1"/>
          </p:cNvCxnSpPr>
          <p:nvPr/>
        </p:nvCxnSpPr>
        <p:spPr>
          <a:xfrm rot="16200000" flipH="1">
            <a:off x="2582517" y="1824660"/>
            <a:ext cx="1437862" cy="3250096"/>
          </a:xfrm>
          <a:prstGeom prst="bentConnector2">
            <a:avLst/>
          </a:prstGeom>
          <a:ln w="19050" cap="flat">
            <a:solidFill>
              <a:schemeClr val="accent1">
                <a:lumMod val="50000"/>
              </a:schemeClr>
            </a:solidFill>
            <a:prstDash val="solid"/>
            <a:round/>
            <a:tailEnd type="triangle"/>
          </a:ln>
        </p:spPr>
      </p:cxnSp>
      <p:cxnSp>
        <p:nvCxnSpPr>
          <p:cNvPr id="16" name="Conector: Angulado 15">
            <a:extLst>
              <a:ext uri="{FF2B5EF4-FFF2-40B4-BE49-F238E27FC236}">
                <a16:creationId xmlns:a16="http://schemas.microsoft.com/office/drawing/2014/main" id="{49668D56-9CD7-4346-A33B-FE62FBB4F90C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7076661" y="2824373"/>
            <a:ext cx="3438939" cy="1344266"/>
          </a:xfrm>
          <a:prstGeom prst="bentConnector2">
            <a:avLst/>
          </a:prstGeom>
          <a:ln w="19050" cap="flat">
            <a:solidFill>
              <a:schemeClr val="accent1">
                <a:lumMod val="50000"/>
              </a:schemeClr>
            </a:solidFill>
            <a:prstDash val="solid"/>
            <a:round/>
            <a:tailEnd type="triangle"/>
          </a:ln>
        </p:spPr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6FD7292B-0BEB-4661-8132-0A79E1328A2C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10515600" y="4168639"/>
            <a:ext cx="0" cy="727211"/>
          </a:xfrm>
          <a:prstGeom prst="line">
            <a:avLst/>
          </a:prstGeom>
          <a:ln w="19050" cap="flat">
            <a:solidFill>
              <a:schemeClr val="tx1"/>
            </a:solidFill>
            <a:prstDash val="sysDash"/>
            <a:round/>
          </a:ln>
        </p:spPr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4510C7C1-4EE0-4F3C-8FE8-0248605B64A6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2743200" y="5200650"/>
            <a:ext cx="6705600" cy="0"/>
          </a:xfrm>
          <a:prstGeom prst="straightConnector1">
            <a:avLst/>
          </a:prstGeom>
          <a:ln w="19050" cap="flat">
            <a:solidFill>
              <a:schemeClr val="tx1"/>
            </a:solidFill>
            <a:prstDash val="sysDash"/>
            <a:round/>
            <a:tailEnd type="triangle"/>
          </a:ln>
        </p:spPr>
      </p:cxnSp>
      <p:pic>
        <p:nvPicPr>
          <p:cNvPr id="3" name="Imagem 2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9CEFD678-9A3D-D31A-9B84-4DF77134A8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94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3C683B-F138-97B9-92E1-2A448A51D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679" y="92766"/>
            <a:ext cx="4032851" cy="1096962"/>
          </a:xfrm>
        </p:spPr>
        <p:txBody>
          <a:bodyPr anchor="b">
            <a:normAutofit/>
          </a:bodyPr>
          <a:lstStyle/>
          <a:p>
            <a:r>
              <a:rPr lang="pt-BR" sz="4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Pesquisa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46F0F2-82A4-11E8-A855-678ED5739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241" y="3429000"/>
            <a:ext cx="5967571" cy="333623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sz="2400" b="1" dirty="0">
              <a:solidFill>
                <a:schemeClr val="tx2"/>
              </a:solidFill>
              <a:highlight>
                <a:srgbClr val="00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BR" sz="2400" b="1" dirty="0">
              <a:solidFill>
                <a:schemeClr val="tx2"/>
              </a:solidFill>
              <a:highlight>
                <a:srgbClr val="00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BR" sz="2400" b="1" dirty="0">
              <a:solidFill>
                <a:schemeClr val="tx2"/>
              </a:solidFill>
              <a:highlight>
                <a:srgbClr val="00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BR" sz="2400" b="1" dirty="0">
              <a:solidFill>
                <a:schemeClr val="tx2"/>
              </a:solidFill>
              <a:highlight>
                <a:srgbClr val="00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BR" sz="2400" b="1" dirty="0">
              <a:solidFill>
                <a:schemeClr val="tx2"/>
              </a:solidFill>
              <a:highlight>
                <a:srgbClr val="00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BR" sz="2400" b="1" dirty="0">
              <a:solidFill>
                <a:schemeClr val="tx2"/>
              </a:solidFill>
              <a:highlight>
                <a:srgbClr val="00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Fonte: </a:t>
            </a:r>
            <a:r>
              <a:rPr lang="pt-BR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https://g1.globo.com/globo-reporter/</a:t>
            </a:r>
            <a:endParaRPr lang="pt-BR" sz="1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D1DAE24A-D9EA-6816-7E9A-90156064A3AC}"/>
              </a:ext>
            </a:extLst>
          </p:cNvPr>
          <p:cNvGraphicFramePr>
            <a:graphicFrameLocks noGrp="1"/>
          </p:cNvGraphicFramePr>
          <p:nvPr/>
        </p:nvGraphicFramePr>
        <p:xfrm>
          <a:off x="724679" y="1414669"/>
          <a:ext cx="4384548" cy="5112365"/>
        </p:xfrm>
        <a:graphic>
          <a:graphicData uri="http://schemas.openxmlformats.org/drawingml/2006/table">
            <a:tbl>
              <a:tblPr/>
              <a:tblGrid>
                <a:gridCol w="4384548">
                  <a:extLst>
                    <a:ext uri="{9D8B030D-6E8A-4147-A177-3AD203B41FA5}">
                      <a16:colId xmlns:a16="http://schemas.microsoft.com/office/drawing/2014/main" val="1035954441"/>
                    </a:ext>
                  </a:extLst>
                </a:gridCol>
              </a:tblGrid>
              <a:tr h="311633">
                <a:tc>
                  <a:txBody>
                    <a:bodyPr/>
                    <a:lstStyle/>
                    <a:p>
                      <a:pPr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Falar em público </a:t>
                      </a:r>
                      <a:r>
                        <a:rPr lang="pt-BR" sz="2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15,30%</a:t>
                      </a: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                    </a:t>
                      </a:r>
                      <a:endParaRPr lang="pt-B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150" marR="11150" marT="111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72700"/>
                  </a:ext>
                </a:extLst>
              </a:tr>
              <a:tr h="311633">
                <a:tc>
                  <a:txBody>
                    <a:bodyPr/>
                    <a:lstStyle/>
                    <a:p>
                      <a:pPr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Doenças </a:t>
                      </a:r>
                      <a:r>
                        <a:rPr lang="pt-BR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13,27%</a:t>
                      </a:r>
                      <a:endParaRPr lang="pt-BR" sz="28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150" marR="11150" marT="111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018062"/>
                  </a:ext>
                </a:extLst>
              </a:tr>
              <a:tr h="311633">
                <a:tc>
                  <a:txBody>
                    <a:bodyPr/>
                    <a:lstStyle/>
                    <a:p>
                      <a:pPr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Morte </a:t>
                      </a:r>
                      <a:r>
                        <a:rPr lang="pt-BR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12,17%</a:t>
                      </a:r>
                      <a:endParaRPr lang="pt-BR" sz="28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150" marR="11150" marT="111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396380"/>
                  </a:ext>
                </a:extLst>
              </a:tr>
              <a:tr h="311633">
                <a:tc>
                  <a:txBody>
                    <a:bodyPr/>
                    <a:lstStyle/>
                    <a:p>
                      <a:pPr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Águas profundas </a:t>
                      </a:r>
                      <a:r>
                        <a:rPr lang="pt-BR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10,07%</a:t>
                      </a: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                                      </a:t>
                      </a:r>
                      <a:endParaRPr lang="pt-B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150" marR="11150" marT="111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4214477"/>
                  </a:ext>
                </a:extLst>
              </a:tr>
              <a:tr h="311633">
                <a:tc>
                  <a:txBody>
                    <a:bodyPr/>
                    <a:lstStyle/>
                    <a:p>
                      <a:pPr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Solidão </a:t>
                      </a:r>
                      <a:r>
                        <a:rPr lang="pt-BR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8,27%</a:t>
                      </a:r>
                      <a:endParaRPr lang="pt-BR" sz="28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150" marR="11150" marT="111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009070"/>
                  </a:ext>
                </a:extLst>
              </a:tr>
              <a:tr h="311633">
                <a:tc>
                  <a:txBody>
                    <a:bodyPr/>
                    <a:lstStyle/>
                    <a:p>
                      <a:pPr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Altura </a:t>
                      </a:r>
                      <a:r>
                        <a:rPr lang="pt-BR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6,77%</a:t>
                      </a: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                                                              </a:t>
                      </a:r>
                      <a:endParaRPr lang="pt-B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150" marR="11150" marT="111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071453"/>
                  </a:ext>
                </a:extLst>
              </a:tr>
              <a:tr h="311633">
                <a:tc>
                  <a:txBody>
                    <a:bodyPr/>
                    <a:lstStyle/>
                    <a:p>
                      <a:pPr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Desemprego </a:t>
                      </a:r>
                      <a:r>
                        <a:rPr lang="pt-BR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6,72%</a:t>
                      </a: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                                                 </a:t>
                      </a:r>
                      <a:endParaRPr lang="pt-B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150" marR="11150" marT="111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560961"/>
                  </a:ext>
                </a:extLst>
              </a:tr>
              <a:tr h="311633">
                <a:tc>
                  <a:txBody>
                    <a:bodyPr/>
                    <a:lstStyle/>
                    <a:p>
                      <a:pPr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Dívidas </a:t>
                      </a:r>
                      <a:r>
                        <a:rPr lang="pt-BR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6,09%</a:t>
                      </a:r>
                      <a:endParaRPr lang="pt-BR" sz="28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150" marR="11150" marT="111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187117"/>
                  </a:ext>
                </a:extLst>
              </a:tr>
              <a:tr h="311633">
                <a:tc>
                  <a:txBody>
                    <a:bodyPr/>
                    <a:lstStyle/>
                    <a:p>
                      <a:pPr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Sair à noite na rua </a:t>
                      </a:r>
                      <a:r>
                        <a:rPr lang="pt-BR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4,12%</a:t>
                      </a:r>
                      <a:endParaRPr lang="pt-BR" sz="28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150" marR="11150" marT="111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5327852"/>
                  </a:ext>
                </a:extLst>
              </a:tr>
              <a:tr h="311633">
                <a:tc>
                  <a:txBody>
                    <a:bodyPr/>
                    <a:lstStyle/>
                    <a:p>
                      <a:pPr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Elevador e lugares fechados </a:t>
                      </a:r>
                      <a:r>
                        <a:rPr lang="pt-BR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3,30%</a:t>
                      </a:r>
                      <a:endParaRPr lang="pt-BR" sz="28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150" marR="11150" marT="111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0443894"/>
                  </a:ext>
                </a:extLst>
              </a:tr>
              <a:tr h="311633">
                <a:tc>
                  <a:txBody>
                    <a:bodyPr/>
                    <a:lstStyle/>
                    <a:p>
                      <a:pPr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Injeção </a:t>
                      </a:r>
                      <a:r>
                        <a:rPr lang="pt-BR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3,26%</a:t>
                      </a: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                                       </a:t>
                      </a:r>
                      <a:endParaRPr lang="pt-B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150" marR="11150" marT="111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4277564"/>
                  </a:ext>
                </a:extLst>
              </a:tr>
              <a:tr h="311633">
                <a:tc>
                  <a:txBody>
                    <a:bodyPr/>
                    <a:lstStyle/>
                    <a:p>
                      <a:pPr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Dirigir </a:t>
                      </a:r>
                      <a:r>
                        <a:rPr lang="pt-BR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2,68%</a:t>
                      </a: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                                                                       </a:t>
                      </a:r>
                      <a:endParaRPr lang="pt-B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150" marR="11150" marT="111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220411"/>
                  </a:ext>
                </a:extLst>
              </a:tr>
              <a:tr h="311633">
                <a:tc>
                  <a:txBody>
                    <a:bodyPr/>
                    <a:lstStyle/>
                    <a:p>
                      <a:pPr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Avião </a:t>
                      </a:r>
                      <a:r>
                        <a:rPr lang="pt-BR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2,67%</a:t>
                      </a: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                                                </a:t>
                      </a:r>
                      <a:endParaRPr lang="pt-B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150" marR="11150" marT="111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6039297"/>
                  </a:ext>
                </a:extLst>
              </a:tr>
              <a:tr h="311633">
                <a:tc>
                  <a:txBody>
                    <a:bodyPr/>
                    <a:lstStyle/>
                    <a:p>
                      <a:pPr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Insetos </a:t>
                      </a:r>
                      <a:r>
                        <a:rPr lang="pt-BR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2,21%</a:t>
                      </a:r>
                      <a:endParaRPr lang="pt-BR" sz="28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150" marR="11150" marT="111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062037"/>
                  </a:ext>
                </a:extLst>
              </a:tr>
              <a:tr h="311633">
                <a:tc>
                  <a:txBody>
                    <a:bodyPr/>
                    <a:lstStyle/>
                    <a:p>
                      <a:pPr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Escuro </a:t>
                      </a:r>
                      <a:r>
                        <a:rPr lang="pt-BR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2,18%</a:t>
                      </a:r>
                      <a:endParaRPr lang="pt-BR" sz="28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150" marR="11150" marT="111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976147"/>
                  </a:ext>
                </a:extLst>
              </a:tr>
              <a:tr h="311633">
                <a:tc>
                  <a:txBody>
                    <a:bodyPr/>
                    <a:lstStyle/>
                    <a:p>
                      <a:pPr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Cachorro </a:t>
                      </a:r>
                      <a:r>
                        <a:rPr lang="pt-BR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0,93%</a:t>
                      </a:r>
                      <a:endParaRPr lang="pt-BR" sz="28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150" marR="11150" marT="111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754304"/>
                  </a:ext>
                </a:extLst>
              </a:tr>
            </a:tbl>
          </a:graphicData>
        </a:graphic>
      </p:graphicFrame>
      <p:sp>
        <p:nvSpPr>
          <p:cNvPr id="6" name="Seta: para a Esquerda 5">
            <a:extLst>
              <a:ext uri="{FF2B5EF4-FFF2-40B4-BE49-F238E27FC236}">
                <a16:creationId xmlns:a16="http://schemas.microsoft.com/office/drawing/2014/main" id="{F38BB472-20F1-D192-358A-9577BC98E38F}"/>
              </a:ext>
            </a:extLst>
          </p:cNvPr>
          <p:cNvSpPr/>
          <p:nvPr/>
        </p:nvSpPr>
        <p:spPr>
          <a:xfrm>
            <a:off x="6665843" y="2089043"/>
            <a:ext cx="3313044" cy="1881808"/>
          </a:xfrm>
          <a:prstGeom prst="lef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mil entrevistados</a:t>
            </a:r>
          </a:p>
        </p:txBody>
      </p:sp>
    </p:spTree>
    <p:extLst>
      <p:ext uri="{BB962C8B-B14F-4D97-AF65-F5344CB8AC3E}">
        <p14:creationId xmlns:p14="http://schemas.microsoft.com/office/powerpoint/2010/main" val="1996020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DB5C43-3B9F-B3B5-3225-A4BB7FB92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Espaço Reservado para Conteúdo 5" descr="Interface gráfica do usuário&#10;&#10;Descrição gerada automaticamente com confiança média">
            <a:extLst>
              <a:ext uri="{FF2B5EF4-FFF2-40B4-BE49-F238E27FC236}">
                <a16:creationId xmlns:a16="http://schemas.microsoft.com/office/drawing/2014/main" id="{328289D2-953A-0703-F32E-4CA435F78FD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7953" cy="6858000"/>
          </a:xfrm>
        </p:spPr>
      </p:pic>
    </p:spTree>
    <p:extLst>
      <p:ext uri="{BB962C8B-B14F-4D97-AF65-F5344CB8AC3E}">
        <p14:creationId xmlns:p14="http://schemas.microsoft.com/office/powerpoint/2010/main" val="816233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48CB0C-1A7F-8D6E-6112-8FC05517F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Espaço Reservado para Conteúdo 5" descr="Diagrama&#10;&#10;Descrição gerada automaticamente">
            <a:extLst>
              <a:ext uri="{FF2B5EF4-FFF2-40B4-BE49-F238E27FC236}">
                <a16:creationId xmlns:a16="http://schemas.microsoft.com/office/drawing/2014/main" id="{FFB665AA-240F-7610-5E61-E5880D14421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7953" cy="6858000"/>
          </a:xfrm>
        </p:spPr>
      </p:pic>
    </p:spTree>
    <p:extLst>
      <p:ext uri="{BB962C8B-B14F-4D97-AF65-F5344CB8AC3E}">
        <p14:creationId xmlns:p14="http://schemas.microsoft.com/office/powerpoint/2010/main" val="4065608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460EF5-0E15-1297-DB11-E78AE5710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Espaço Reservado para Conteúdo 5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BCAA98D9-A6A1-53AF-B81C-AF3717C51EF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626"/>
            <a:ext cx="12209738" cy="6864626"/>
          </a:xfrm>
        </p:spPr>
      </p:pic>
    </p:spTree>
    <p:extLst>
      <p:ext uri="{BB962C8B-B14F-4D97-AF65-F5344CB8AC3E}">
        <p14:creationId xmlns:p14="http://schemas.microsoft.com/office/powerpoint/2010/main" val="2339269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E97DC6-7983-74E2-48F9-D33E2F28D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Espaço Reservado para Conteúdo 5" descr="Diagrama&#10;&#10;Descrição gerada automaticamente">
            <a:extLst>
              <a:ext uri="{FF2B5EF4-FFF2-40B4-BE49-F238E27FC236}">
                <a16:creationId xmlns:a16="http://schemas.microsoft.com/office/drawing/2014/main" id="{69F74BCF-7301-1EF9-71DE-90D97C71A3F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7953" cy="6858000"/>
          </a:xfrm>
        </p:spPr>
      </p:pic>
    </p:spTree>
    <p:extLst>
      <p:ext uri="{BB962C8B-B14F-4D97-AF65-F5344CB8AC3E}">
        <p14:creationId xmlns:p14="http://schemas.microsoft.com/office/powerpoint/2010/main" val="1674223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52947F-C2FF-14B5-DB31-A952139A0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Espaço Reservado para Conteúdo 5" descr="Diagrama, Texto&#10;&#10;Descrição gerada automaticamente">
            <a:extLst>
              <a:ext uri="{FF2B5EF4-FFF2-40B4-BE49-F238E27FC236}">
                <a16:creationId xmlns:a16="http://schemas.microsoft.com/office/drawing/2014/main" id="{7ED72418-E705-6792-B465-3D6E50194F8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4653"/>
          </a:xfrm>
        </p:spPr>
      </p:pic>
    </p:spTree>
    <p:extLst>
      <p:ext uri="{BB962C8B-B14F-4D97-AF65-F5344CB8AC3E}">
        <p14:creationId xmlns:p14="http://schemas.microsoft.com/office/powerpoint/2010/main" val="1884648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C0292-3BEB-5226-56C5-F986DD3A0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Espaço Reservado para Conteúdo 5" descr="Linha do tempo&#10;&#10;Descrição gerada automaticamente com confiança média">
            <a:extLst>
              <a:ext uri="{FF2B5EF4-FFF2-40B4-BE49-F238E27FC236}">
                <a16:creationId xmlns:a16="http://schemas.microsoft.com/office/drawing/2014/main" id="{18384DC4-75A5-2E8A-0A3A-AECCCBE1349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4653"/>
          </a:xfrm>
        </p:spPr>
      </p:pic>
    </p:spTree>
    <p:extLst>
      <p:ext uri="{BB962C8B-B14F-4D97-AF65-F5344CB8AC3E}">
        <p14:creationId xmlns:p14="http://schemas.microsoft.com/office/powerpoint/2010/main" val="2128026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CA3543-9C96-4108-2223-293FFD0E6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 descr="Interface gráfica do usuário, Texto, Aplicativo, Email">
            <a:extLst>
              <a:ext uri="{FF2B5EF4-FFF2-40B4-BE49-F238E27FC236}">
                <a16:creationId xmlns:a16="http://schemas.microsoft.com/office/drawing/2014/main" id="{E2D33396-3EFB-1F44-D49C-606BE10540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95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F3F819-9171-EBA4-F283-9B5558C5B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4EB36F-0895-B2FA-289B-071BD66CB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986" y="1454427"/>
            <a:ext cx="10530509" cy="4572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Responda em seu caderno para depois realizarmos um bate-papo em sala</a:t>
            </a:r>
            <a:r>
              <a:rPr lang="pt-BR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marL="0" indent="0" algn="ctr">
              <a:buNone/>
            </a:pPr>
            <a:endParaRPr lang="pt-BR" sz="2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pt-BR" sz="2800" kern="100" dirty="0">
                <a:solidFill>
                  <a:schemeClr val="tx2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Como a habilidade de falar em público pode impactar a liderança e a capacidade de influenciar e motivar equipes em um ambiente corporativo?</a:t>
            </a:r>
          </a:p>
          <a:p>
            <a:pPr marL="514350" indent="-514350" algn="just">
              <a:buFont typeface="+mj-lt"/>
              <a:buAutoNum type="arabicPeriod"/>
            </a:pPr>
            <a:endParaRPr lang="pt-BR" sz="2800" kern="100" dirty="0">
              <a:solidFill>
                <a:schemeClr val="tx2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pt-BR" sz="2800" kern="100" dirty="0">
                <a:solidFill>
                  <a:schemeClr val="tx2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Quais são os principais desafios enfrentados por quem deseja aprimorar suas habilidades de oratória e como superá-los?</a:t>
            </a:r>
          </a:p>
        </p:txBody>
      </p:sp>
    </p:spTree>
    <p:extLst>
      <p:ext uri="{BB962C8B-B14F-4D97-AF65-F5344CB8AC3E}">
        <p14:creationId xmlns:p14="http://schemas.microsoft.com/office/powerpoint/2010/main" val="68828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3F3F0-F31E-1876-B40F-BC3368245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A8BA64-B2D1-AD98-32D5-F474AA4D0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1208196-ECA9-8C00-E436-D94BCE74D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230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C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>
            <a:extLst>
              <a:ext uri="{FF2B5EF4-FFF2-40B4-BE49-F238E27FC236}">
                <a16:creationId xmlns:a16="http://schemas.microsoft.com/office/drawing/2014/main" id="{EEA4346A-6F14-4822-BFB8-F6097A4E3D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801" y="703899"/>
            <a:ext cx="10414398" cy="5450202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AD4E5D4E-5194-EA07-BA84-6E46036BD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FFD0C1-EA3F-913C-82B8-CD4006B11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F485C8-55AB-8BE6-6F04-70D046559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DE129F6-7B9B-641B-6D15-C0D4C3911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474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C49C17-7678-4F4F-9FCF-CB32515E6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393405"/>
            <a:ext cx="10083799" cy="5143500"/>
          </a:xfrm>
        </p:spPr>
        <p:txBody>
          <a:bodyPr/>
          <a:lstStyle/>
          <a:p>
            <a:pPr marL="0" indent="0" algn="just">
              <a:buNone/>
            </a:pPr>
            <a:r>
              <a:rPr lang="pt-BR" sz="2667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Evite clichês</a:t>
            </a:r>
          </a:p>
          <a:p>
            <a:pPr marL="0" indent="0" algn="just">
              <a:buNone/>
            </a:pPr>
            <a:r>
              <a:rPr lang="pt-BR" sz="2667" dirty="0">
                <a:solidFill>
                  <a:schemeClr val="tx2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Senso comum, chavões ou frases prontas dadas como uma verdade universal. </a:t>
            </a:r>
          </a:p>
          <a:p>
            <a:pPr marL="0" indent="0" algn="just">
              <a:buNone/>
            </a:pPr>
            <a:r>
              <a:rPr lang="pt-BR" sz="2667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2667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pt-BR" sz="2667" dirty="0">
              <a:solidFill>
                <a:srgbClr val="002060"/>
              </a:solidFill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2">
                    <a:lumMod val="95000"/>
                    <a:lumOff val="5000"/>
                  </a:schemeClr>
                </a:solidFill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Nos dias de hoje</a:t>
            </a:r>
            <a:r>
              <a:rPr lang="pt-BR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o problema da saúde é uma das questões mais importantes para o povo brasileiro. </a:t>
            </a:r>
            <a:r>
              <a:rPr lang="pt-BR" sz="2400" dirty="0">
                <a:solidFill>
                  <a:schemeClr val="tx2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 população precisa se conscientizar </a:t>
            </a:r>
            <a:r>
              <a:rPr lang="pt-BR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seu papel na busca por um futuro melhor para as próximas gerações. Apesar do estado precário dos hospitais do país, os </a:t>
            </a:r>
            <a:r>
              <a:rPr lang="pt-BR" sz="2400" dirty="0">
                <a:solidFill>
                  <a:schemeClr val="tx2">
                    <a:lumMod val="95000"/>
                    <a:lumOff val="5000"/>
                  </a:schemeClr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governantes corruptos</a:t>
            </a:r>
            <a:r>
              <a:rPr lang="pt-BR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não se mobilizam e só o que se vê é descaso. Mas deve-se pensar positivo, porque a </a:t>
            </a:r>
            <a:r>
              <a:rPr lang="pt-BR" sz="2400" dirty="0">
                <a:solidFill>
                  <a:schemeClr val="tx2">
                    <a:lumMod val="95000"/>
                    <a:lumOff val="5000"/>
                  </a:schemeClr>
                </a:solidFill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esperança é a última que morre</a:t>
            </a:r>
            <a:r>
              <a:rPr lang="pt-BR" sz="2400" dirty="0">
                <a:solidFill>
                  <a:schemeClr val="tx2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" name="Balão de Fala: Retângulo com Cantos Arredondados 4">
            <a:extLst>
              <a:ext uri="{FF2B5EF4-FFF2-40B4-BE49-F238E27FC236}">
                <a16:creationId xmlns:a16="http://schemas.microsoft.com/office/drawing/2014/main" id="{097A2F53-F2C7-4770-8D80-F65E5E43B91D}"/>
              </a:ext>
            </a:extLst>
          </p:cNvPr>
          <p:cNvSpPr/>
          <p:nvPr/>
        </p:nvSpPr>
        <p:spPr>
          <a:xfrm>
            <a:off x="10880035" y="4520905"/>
            <a:ext cx="1311965" cy="812800"/>
          </a:xfrm>
          <a:prstGeom prst="wedgeRoundRectCallout">
            <a:avLst>
              <a:gd name="adj1" fmla="val -56245"/>
              <a:gd name="adj2" fmla="val -131749"/>
              <a:gd name="adj3" fmla="val 16667"/>
            </a:avLst>
          </a:prstGeom>
          <a:solidFill>
            <a:srgbClr val="002060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pt-B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Senso comum</a:t>
            </a:r>
          </a:p>
        </p:txBody>
      </p:sp>
      <p:sp>
        <p:nvSpPr>
          <p:cNvPr id="6" name="Balão de Fala: Retângulo com Cantos Arredondados 5">
            <a:extLst>
              <a:ext uri="{FF2B5EF4-FFF2-40B4-BE49-F238E27FC236}">
                <a16:creationId xmlns:a16="http://schemas.microsoft.com/office/drawing/2014/main" id="{599D7D44-AC0C-438F-A67D-97E6115E8061}"/>
              </a:ext>
            </a:extLst>
          </p:cNvPr>
          <p:cNvSpPr/>
          <p:nvPr/>
        </p:nvSpPr>
        <p:spPr>
          <a:xfrm>
            <a:off x="5179235" y="5118100"/>
            <a:ext cx="1833525" cy="812800"/>
          </a:xfrm>
          <a:prstGeom prst="wedgeRoundRectCallout">
            <a:avLst>
              <a:gd name="adj1" fmla="val 72476"/>
              <a:gd name="adj2" fmla="val -116392"/>
              <a:gd name="adj3" fmla="val 16667"/>
            </a:avLst>
          </a:prstGeom>
          <a:solidFill>
            <a:srgbClr val="002060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pt-B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Frases prontas</a:t>
            </a:r>
          </a:p>
        </p:txBody>
      </p:sp>
      <p:sp>
        <p:nvSpPr>
          <p:cNvPr id="7" name="Balão de Fala: Retângulo com Cantos Arredondados 6">
            <a:extLst>
              <a:ext uri="{FF2B5EF4-FFF2-40B4-BE49-F238E27FC236}">
                <a16:creationId xmlns:a16="http://schemas.microsoft.com/office/drawing/2014/main" id="{BF82D413-DD2E-4E29-9BBD-79F4BB778F88}"/>
              </a:ext>
            </a:extLst>
          </p:cNvPr>
          <p:cNvSpPr/>
          <p:nvPr/>
        </p:nvSpPr>
        <p:spPr>
          <a:xfrm>
            <a:off x="10481365" y="1524295"/>
            <a:ext cx="1683026" cy="905860"/>
          </a:xfrm>
          <a:prstGeom prst="wedgeRoundRectCallout">
            <a:avLst>
              <a:gd name="adj1" fmla="val -34934"/>
              <a:gd name="adj2" fmla="val 111811"/>
              <a:gd name="adj3" fmla="val 16667"/>
            </a:avLst>
          </a:prstGeom>
          <a:solidFill>
            <a:srgbClr val="002060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pt-B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Expressões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CF2A67C-71AD-9308-FCB0-D90ECC568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723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DDD23-7FC6-4946-9AF9-523E5E31F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035" y="162748"/>
            <a:ext cx="4657869" cy="762000"/>
          </a:xfrm>
        </p:spPr>
        <p:txBody>
          <a:bodyPr vert="horz" lIns="121920" tIns="60960" rIns="121920" bIns="6096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4267" b="1" dirty="0">
                <a:solidFill>
                  <a:srgbClr val="002060"/>
                </a:solidFill>
                <a:ea typeface="+mn-ea"/>
                <a:cs typeface="+mn-cs"/>
              </a:rPr>
              <a:t>Gírias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2BBAAB8-D798-47CD-8949-B8A881487D3C}"/>
              </a:ext>
            </a:extLst>
          </p:cNvPr>
          <p:cNvSpPr txBox="1"/>
          <p:nvPr/>
        </p:nvSpPr>
        <p:spPr>
          <a:xfrm>
            <a:off x="812800" y="1257217"/>
            <a:ext cx="264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111111"/>
                </a:solidFill>
                <a:latin typeface="opensanstitle"/>
              </a:rPr>
              <a:t>Stalkear</a:t>
            </a:r>
          </a:p>
          <a:p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D456052-3B26-4021-B895-2A0CE77AA8BB}"/>
              </a:ext>
            </a:extLst>
          </p:cNvPr>
          <p:cNvSpPr txBox="1"/>
          <p:nvPr/>
        </p:nvSpPr>
        <p:spPr>
          <a:xfrm>
            <a:off x="3644604" y="1244599"/>
            <a:ext cx="264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111111"/>
                </a:solidFill>
                <a:latin typeface="opensanstitle"/>
              </a:rPr>
              <a:t>Perseguir </a:t>
            </a:r>
          </a:p>
          <a:p>
            <a:endParaRPr lang="pt-BR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5A1EBAC-84EB-4405-B724-380E166EBCC1}"/>
              </a:ext>
            </a:extLst>
          </p:cNvPr>
          <p:cNvSpPr txBox="1"/>
          <p:nvPr/>
        </p:nvSpPr>
        <p:spPr>
          <a:xfrm>
            <a:off x="812800" y="2106374"/>
            <a:ext cx="152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111111"/>
                </a:solidFill>
                <a:latin typeface="opensanstitle"/>
              </a:rPr>
              <a:t>Spoiler</a:t>
            </a:r>
          </a:p>
          <a:p>
            <a:endParaRPr lang="pt-BR" sz="24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74581D5-4EAE-4590-B4C3-2BD2540BDE2F}"/>
              </a:ext>
            </a:extLst>
          </p:cNvPr>
          <p:cNvSpPr txBox="1"/>
          <p:nvPr/>
        </p:nvSpPr>
        <p:spPr>
          <a:xfrm>
            <a:off x="3668232" y="2106374"/>
            <a:ext cx="152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111111"/>
                </a:solidFill>
                <a:latin typeface="opensanstitle"/>
              </a:rPr>
              <a:t>Estragar</a:t>
            </a:r>
          </a:p>
          <a:p>
            <a:endParaRPr lang="pt-BR" sz="24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B3089D1-9C89-4ED2-B360-5B1D7C71DF0D}"/>
              </a:ext>
            </a:extLst>
          </p:cNvPr>
          <p:cNvSpPr txBox="1"/>
          <p:nvPr/>
        </p:nvSpPr>
        <p:spPr>
          <a:xfrm>
            <a:off x="812800" y="2968149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 i="0">
                <a:solidFill>
                  <a:srgbClr val="111111"/>
                </a:solidFill>
                <a:effectLst/>
                <a:latin typeface="opensanstitle"/>
              </a:defRPr>
            </a:lvl1pPr>
          </a:lstStyle>
          <a:p>
            <a:r>
              <a:rPr lang="pt-BR" sz="2400" dirty="0"/>
              <a:t>Ranço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DF2391B-21A9-4C14-951B-47AEADFFDEC7}"/>
              </a:ext>
            </a:extLst>
          </p:cNvPr>
          <p:cNvSpPr txBox="1"/>
          <p:nvPr/>
        </p:nvSpPr>
        <p:spPr>
          <a:xfrm>
            <a:off x="3746203" y="2989022"/>
            <a:ext cx="2146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 i="0">
                <a:solidFill>
                  <a:srgbClr val="111111"/>
                </a:solidFill>
                <a:effectLst/>
                <a:latin typeface="opensanstitle"/>
              </a:defRPr>
            </a:lvl1pPr>
          </a:lstStyle>
          <a:p>
            <a:r>
              <a:rPr lang="pt-BR" sz="2400" dirty="0"/>
              <a:t>Desprezar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6A7278A-052C-4ADE-BB99-65F41E98949C}"/>
              </a:ext>
            </a:extLst>
          </p:cNvPr>
          <p:cNvSpPr txBox="1"/>
          <p:nvPr/>
        </p:nvSpPr>
        <p:spPr>
          <a:xfrm>
            <a:off x="812800" y="3937001"/>
            <a:ext cx="2438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 i="0">
                <a:solidFill>
                  <a:srgbClr val="111111"/>
                </a:solidFill>
                <a:effectLst/>
                <a:latin typeface="opensanstitle"/>
              </a:defRPr>
            </a:lvl1pPr>
          </a:lstStyle>
          <a:p>
            <a:r>
              <a:rPr lang="pt-BR" sz="2400" dirty="0"/>
              <a:t>Tá na Disney</a:t>
            </a:r>
          </a:p>
          <a:p>
            <a:endParaRPr lang="pt-BR" sz="24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240465E-DF62-46BD-B8A5-5469118DC894}"/>
              </a:ext>
            </a:extLst>
          </p:cNvPr>
          <p:cNvSpPr txBox="1"/>
          <p:nvPr/>
        </p:nvSpPr>
        <p:spPr>
          <a:xfrm>
            <a:off x="3746203" y="3911975"/>
            <a:ext cx="2146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rtl="0">
              <a:defRPr lang="pt-br"/>
            </a:defPPr>
            <a:lvl1pPr>
              <a:defRPr sz="2400" b="1" i="0">
                <a:solidFill>
                  <a:srgbClr val="111111"/>
                </a:solidFill>
                <a:effectLst/>
                <a:latin typeface="opensanstitle"/>
              </a:defRPr>
            </a:lvl1pPr>
          </a:lstStyle>
          <a:p>
            <a:r>
              <a:rPr lang="pt-BR" dirty="0"/>
              <a:t>Desatenção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A368946-EED1-472B-B491-AF05778DBE37}"/>
              </a:ext>
            </a:extLst>
          </p:cNvPr>
          <p:cNvSpPr txBox="1"/>
          <p:nvPr/>
        </p:nvSpPr>
        <p:spPr>
          <a:xfrm>
            <a:off x="812800" y="4960787"/>
            <a:ext cx="1574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tx2"/>
                </a:solidFill>
                <a:latin typeface="Muli"/>
              </a:rPr>
              <a:t>Crush</a:t>
            </a:r>
          </a:p>
          <a:p>
            <a:endParaRPr lang="pt-BR" sz="2400" dirty="0">
              <a:solidFill>
                <a:schemeClr val="tx2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D6166B2-7D8E-44C9-8F81-1976CEAF3EC2}"/>
              </a:ext>
            </a:extLst>
          </p:cNvPr>
          <p:cNvSpPr txBox="1"/>
          <p:nvPr/>
        </p:nvSpPr>
        <p:spPr>
          <a:xfrm>
            <a:off x="3642832" y="4953001"/>
            <a:ext cx="21465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tx2"/>
                </a:solidFill>
                <a:latin typeface="Muli"/>
              </a:rPr>
              <a:t>Gostar</a:t>
            </a:r>
          </a:p>
          <a:p>
            <a:endParaRPr lang="pt-BR" sz="2400" dirty="0">
              <a:solidFill>
                <a:schemeClr val="tx2"/>
              </a:solidFill>
            </a:endParaRPr>
          </a:p>
        </p:txBody>
      </p:sp>
      <p:sp>
        <p:nvSpPr>
          <p:cNvPr id="15" name="Seta: para a Direita 14">
            <a:extLst>
              <a:ext uri="{FF2B5EF4-FFF2-40B4-BE49-F238E27FC236}">
                <a16:creationId xmlns:a16="http://schemas.microsoft.com/office/drawing/2014/main" id="{DE6093AE-5327-4ABA-98F9-5B0F6B9EA199}"/>
              </a:ext>
            </a:extLst>
          </p:cNvPr>
          <p:cNvSpPr/>
          <p:nvPr/>
        </p:nvSpPr>
        <p:spPr>
          <a:xfrm>
            <a:off x="2387600" y="1244599"/>
            <a:ext cx="762000" cy="476411"/>
          </a:xfrm>
          <a:prstGeom prst="rightArrow">
            <a:avLst/>
          </a:prstGeom>
          <a:solidFill>
            <a:srgbClr val="002060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endParaRPr lang="pt-BR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Seta: para a Direita 15">
            <a:extLst>
              <a:ext uri="{FF2B5EF4-FFF2-40B4-BE49-F238E27FC236}">
                <a16:creationId xmlns:a16="http://schemas.microsoft.com/office/drawing/2014/main" id="{4075ACC9-5262-498F-9A09-602BF3139BF9}"/>
              </a:ext>
            </a:extLst>
          </p:cNvPr>
          <p:cNvSpPr/>
          <p:nvPr/>
        </p:nvSpPr>
        <p:spPr>
          <a:xfrm>
            <a:off x="2360428" y="2140351"/>
            <a:ext cx="762000" cy="476411"/>
          </a:xfrm>
          <a:prstGeom prst="rightArrow">
            <a:avLst/>
          </a:prstGeom>
          <a:solidFill>
            <a:srgbClr val="002060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endParaRPr lang="pt-BR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Seta: para a Direita 16">
            <a:extLst>
              <a:ext uri="{FF2B5EF4-FFF2-40B4-BE49-F238E27FC236}">
                <a16:creationId xmlns:a16="http://schemas.microsoft.com/office/drawing/2014/main" id="{D18DDEC0-B840-4C25-9929-EA3179CECDAC}"/>
              </a:ext>
            </a:extLst>
          </p:cNvPr>
          <p:cNvSpPr/>
          <p:nvPr/>
        </p:nvSpPr>
        <p:spPr>
          <a:xfrm>
            <a:off x="2360428" y="3018916"/>
            <a:ext cx="762000" cy="476411"/>
          </a:xfrm>
          <a:prstGeom prst="rightArrow">
            <a:avLst/>
          </a:prstGeom>
          <a:solidFill>
            <a:srgbClr val="002060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endParaRPr lang="pt-BR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14A23534-9EE7-4FE4-8A8C-18F4D9C29CEC}"/>
              </a:ext>
            </a:extLst>
          </p:cNvPr>
          <p:cNvSpPr/>
          <p:nvPr/>
        </p:nvSpPr>
        <p:spPr>
          <a:xfrm>
            <a:off x="2816447" y="3971736"/>
            <a:ext cx="762000" cy="476411"/>
          </a:xfrm>
          <a:prstGeom prst="rightArrow">
            <a:avLst/>
          </a:prstGeom>
          <a:solidFill>
            <a:srgbClr val="002060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endParaRPr lang="pt-BR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Seta: para a Direita 18">
            <a:extLst>
              <a:ext uri="{FF2B5EF4-FFF2-40B4-BE49-F238E27FC236}">
                <a16:creationId xmlns:a16="http://schemas.microsoft.com/office/drawing/2014/main" id="{BAB2C2AF-0FB8-45C6-8CD6-A819EC79895B}"/>
              </a:ext>
            </a:extLst>
          </p:cNvPr>
          <p:cNvSpPr/>
          <p:nvPr/>
        </p:nvSpPr>
        <p:spPr>
          <a:xfrm>
            <a:off x="2333253" y="4915263"/>
            <a:ext cx="762000" cy="476411"/>
          </a:xfrm>
          <a:prstGeom prst="rightArrow">
            <a:avLst/>
          </a:prstGeom>
          <a:solidFill>
            <a:srgbClr val="002060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endParaRPr lang="pt-BR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6386" name="Picture 2" descr="Lêda Rocker: GÍRIAS - SE LIGEM NESTAS!">
            <a:extLst>
              <a:ext uri="{FF2B5EF4-FFF2-40B4-BE49-F238E27FC236}">
                <a16:creationId xmlns:a16="http://schemas.microsoft.com/office/drawing/2014/main" id="{DE312810-C2AB-4F7C-8574-90840DFA8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5565" y="0"/>
            <a:ext cx="6206435" cy="4127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Criar um dicionário de gírias aproxima conteúdos gramaticais do universo  dos alunos - Portal de Educação do Instituto Claro">
            <a:extLst>
              <a:ext uri="{FF2B5EF4-FFF2-40B4-BE49-F238E27FC236}">
                <a16:creationId xmlns:a16="http://schemas.microsoft.com/office/drawing/2014/main" id="{2BB20D47-920B-4E33-91F5-2CEDA22B8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5062" y="4127278"/>
            <a:ext cx="6266938" cy="2730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84D3EB2-AC04-0F5A-72F1-7E6C5C34E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689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67DE7E-205A-1EA8-36A3-15480D6C2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073" y="1454426"/>
            <a:ext cx="11020840" cy="457200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esportes desempenham um papel crucial na sociedade contemporânea, promovendo não apenas a saúde física e mental, mas também valores essenciais como disciplina, trabalho em equipe e resiliência. A prática esportiva regular contribui para a prevenção de doenças crônicas, melhora a qualidade de vida e aumenta a longevidade. Além disso, os esportes fomentam a inclusão social e a integração entre diferentes culturas e classes sociais, criando um senso de comunidade e cooperação. Em ambientes educacionais, o esporte é uma ferramenta pedagógica eficaz que complementa o desenvolvimento acadêmico, fortalecendo habilidades como liderança e comunicação. Portanto, incentivar a prática esportiva desde a infância é fundamental para formar indivíduos mais saudáveis e sociedades mais coesas e equilibradas.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D8CA1DF-EC0B-7B89-5581-56647B65916B}"/>
              </a:ext>
            </a:extLst>
          </p:cNvPr>
          <p:cNvSpPr txBox="1">
            <a:spLocks/>
          </p:cNvSpPr>
          <p:nvPr/>
        </p:nvSpPr>
        <p:spPr>
          <a:xfrm>
            <a:off x="1054100" y="381000"/>
            <a:ext cx="10083800" cy="762000"/>
          </a:xfrm>
          <a:prstGeom prst="rect">
            <a:avLst/>
          </a:prstGeom>
        </p:spPr>
        <p:txBody>
          <a:bodyPr vert="horz" lIns="121920" tIns="60960" rIns="121920" bIns="6096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4267" b="1" dirty="0">
                <a:solidFill>
                  <a:srgbClr val="002060"/>
                </a:solidFill>
                <a:ea typeface="+mn-ea"/>
                <a:cs typeface="+mn-cs"/>
              </a:rPr>
              <a:t>Vejamos esse trecho em norma culta</a:t>
            </a:r>
          </a:p>
        </p:txBody>
      </p:sp>
    </p:spTree>
    <p:extLst>
      <p:ext uri="{BB962C8B-B14F-4D97-AF65-F5344CB8AC3E}">
        <p14:creationId xmlns:p14="http://schemas.microsoft.com/office/powerpoint/2010/main" val="320330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67DE7E-205A-1EA8-36A3-15480D6C2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073" y="1454426"/>
            <a:ext cx="11020840" cy="4572000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esportes são top demais na nossa sociedade hoje em dia, não é só pra ficar fortinho e com a mente sã, mas também pra aprender valores chave tipo disciplina, trabalho em equipe e não desistir fácil. Se você pratica esporte direto, fica longe das doenças chatas, vive melhor e por mais tempo. E não é só isso, os esportes juntam todo mundo, de todas as origens e jeitos, criando uma </a:t>
            </a:r>
            <a:r>
              <a:rPr lang="pt-BR" sz="2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vibe</a:t>
            </a:r>
            <a:r>
              <a:rPr lang="pt-BR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união e amizade. Na escola então, esporte é uma aula extra que te ajuda a ser bom aluno e ainda te dá poderes de líder e comunicador. Por isso, botar a galera pra jogar desde pequena é essencial pra ter pessoas mais saudáveis e comunidades mais unidas e na paz.</a:t>
            </a:r>
            <a:endParaRPr lang="pt-BR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D8CA1DF-EC0B-7B89-5581-56647B65916B}"/>
              </a:ext>
            </a:extLst>
          </p:cNvPr>
          <p:cNvSpPr txBox="1">
            <a:spLocks/>
          </p:cNvSpPr>
          <p:nvPr/>
        </p:nvSpPr>
        <p:spPr>
          <a:xfrm>
            <a:off x="1054100" y="381000"/>
            <a:ext cx="10342770" cy="762000"/>
          </a:xfrm>
          <a:prstGeom prst="rect">
            <a:avLst/>
          </a:prstGeom>
        </p:spPr>
        <p:txBody>
          <a:bodyPr vert="horz" lIns="121920" tIns="60960" rIns="121920" bIns="6096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4267" b="1" dirty="0">
                <a:solidFill>
                  <a:srgbClr val="002060"/>
                </a:solidFill>
                <a:ea typeface="+mn-ea"/>
                <a:cs typeface="+mn-cs"/>
              </a:rPr>
              <a:t>Vejamos esse trecho em norma coloquial</a:t>
            </a:r>
          </a:p>
        </p:txBody>
      </p:sp>
    </p:spTree>
    <p:extLst>
      <p:ext uri="{BB962C8B-B14F-4D97-AF65-F5344CB8AC3E}">
        <p14:creationId xmlns:p14="http://schemas.microsoft.com/office/powerpoint/2010/main" val="674034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F3F819-9171-EBA4-F283-9B5558C5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899" y="831573"/>
            <a:ext cx="9980682" cy="1096962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4EB36F-0895-B2FA-289B-071BD66CB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986" y="2209800"/>
            <a:ext cx="10530509" cy="457200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pt-BR" sz="2800" b="1" kern="1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Times New Roman" panose="02020603050405020304" pitchFamily="18" charset="0"/>
              </a:rPr>
              <a:t>Reescreva os textos passando-o para a norma culta / formal e poste no Classroom. </a:t>
            </a:r>
          </a:p>
          <a:p>
            <a:pPr marL="0" indent="0" algn="just">
              <a:buNone/>
            </a:pPr>
            <a:endParaRPr lang="pt-BR" sz="2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76132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398CCF-CFE9-0DA8-A7E5-7668680DA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aí, galera! Bora falar de esportes, essa parada maneira que todo mundo curte, saca só! Tipo, eu sou viciado em futebol, mano, não tem coisa melhor do que assistir a um jogão no domingo à tarde com os amigos, zoar os rivais e torcer pro meu time meter gol! E tem também aquela adrenalina do basquete, pô! Jogar uma partida com a galera, dar umas enterradas, fazer umas cestas de três pontos, é muito top! Ah, e não podemos esquecer do surf, né? Pegar umas ondas, sentir a </a:t>
            </a:r>
            <a:r>
              <a:rPr lang="pt-BR" sz="2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vibe</a:t>
            </a:r>
            <a:r>
              <a:rPr lang="pt-BR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mar, é uma </a:t>
            </a:r>
            <a:r>
              <a:rPr lang="pt-BR" sz="2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vibe</a:t>
            </a:r>
            <a:r>
              <a:rPr lang="pt-BR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única, brother! 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F836FAC-76DD-2D59-5105-1C5FE364B42E}"/>
              </a:ext>
            </a:extLst>
          </p:cNvPr>
          <p:cNvSpPr txBox="1">
            <a:spLocks/>
          </p:cNvSpPr>
          <p:nvPr/>
        </p:nvSpPr>
        <p:spPr>
          <a:xfrm>
            <a:off x="1054100" y="381000"/>
            <a:ext cx="10342770" cy="762000"/>
          </a:xfrm>
          <a:prstGeom prst="rect">
            <a:avLst/>
          </a:prstGeom>
        </p:spPr>
        <p:txBody>
          <a:bodyPr vert="horz" lIns="121920" tIns="60960" rIns="121920" bIns="6096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4267" b="1" dirty="0">
                <a:solidFill>
                  <a:srgbClr val="002060"/>
                </a:solidFill>
                <a:ea typeface="+mn-ea"/>
                <a:cs typeface="+mn-cs"/>
              </a:rPr>
              <a:t>Texto 1: Passe o texto para norma culta</a:t>
            </a:r>
          </a:p>
        </p:txBody>
      </p:sp>
    </p:spTree>
    <p:extLst>
      <p:ext uri="{BB962C8B-B14F-4D97-AF65-F5344CB8AC3E}">
        <p14:creationId xmlns:p14="http://schemas.microsoft.com/office/powerpoint/2010/main" val="3176814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6A5522-8414-7A0E-5BEC-2F402C8EA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937591"/>
            <a:ext cx="9982200" cy="457200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Caro, leitores! Vamos falar sobre esportes, essa atividade fascinante que todos apreciam, vejam só! Por exemplo, sou apaixonado por futebol, não há nada melhor do que assistir a uma grande partida no domingo à tarde com os amigos, brincar com os rivais e torcer para que meu time marque gols! E há também a emoção do basquete! Jogar uma partida com os amigos, fazer algumas enterradas e marcar cestas de três pontos é sensacional! Ah, e não podemos esquecer do surfe, não é? Pegar algumas ondas, sentir a energia do mar, é uma experiência única!</a:t>
            </a:r>
          </a:p>
        </p:txBody>
      </p:sp>
    </p:spTree>
    <p:extLst>
      <p:ext uri="{BB962C8B-B14F-4D97-AF65-F5344CB8AC3E}">
        <p14:creationId xmlns:p14="http://schemas.microsoft.com/office/powerpoint/2010/main" val="4020327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398CCF-CFE9-0DA8-A7E5-7668680DA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E aí, pessoal! Vamos falar sobre trampo, aquela parada que a gente passa a maior parte do tempo fazendo, né? Tipo, tem cada profissão maneira por aí, saca só! Eu </a:t>
            </a:r>
            <a:r>
              <a:rPr lang="pt-BR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tô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ligado que muita gente curte ser influencer, tá ligado? Tipo, ganhar dinheiro postando foto no Instagram, fazendo vídeo pro YouTube, é o sonho de muita gente! Tem também aquela galera que manda bem na programação, manja de código, cria uns sites e apps irados. E não podemos esquecer dos profissionais da saúde, tipo médicos e enfermeiros, esses caras são verdadeiros heróis, sempre cuidando da galera! </a:t>
            </a:r>
            <a:endParaRPr lang="pt-BR" sz="3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F836FAC-76DD-2D59-5105-1C5FE364B42E}"/>
              </a:ext>
            </a:extLst>
          </p:cNvPr>
          <p:cNvSpPr txBox="1">
            <a:spLocks/>
          </p:cNvSpPr>
          <p:nvPr/>
        </p:nvSpPr>
        <p:spPr>
          <a:xfrm>
            <a:off x="1054100" y="381000"/>
            <a:ext cx="10342770" cy="762000"/>
          </a:xfrm>
          <a:prstGeom prst="rect">
            <a:avLst/>
          </a:prstGeom>
        </p:spPr>
        <p:txBody>
          <a:bodyPr vert="horz" lIns="121920" tIns="60960" rIns="121920" bIns="6096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4267" b="1" dirty="0">
                <a:solidFill>
                  <a:srgbClr val="002060"/>
                </a:solidFill>
                <a:ea typeface="+mn-ea"/>
                <a:cs typeface="+mn-cs"/>
              </a:rPr>
              <a:t>Texto 2: Passe o texto para norma culta</a:t>
            </a:r>
          </a:p>
        </p:txBody>
      </p:sp>
    </p:spTree>
    <p:extLst>
      <p:ext uri="{BB962C8B-B14F-4D97-AF65-F5344CB8AC3E}">
        <p14:creationId xmlns:p14="http://schemas.microsoft.com/office/powerpoint/2010/main" val="2059671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138F64-0637-7EEA-813E-3C0976032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937591"/>
            <a:ext cx="9982200" cy="457200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200" dirty="0">
                <a:solidFill>
                  <a:srgbClr val="000000"/>
                </a:solidFill>
                <a:latin typeface="Arial" panose="020B0604020202020204" pitchFamily="34" charset="0"/>
              </a:rPr>
              <a:t>Olá, pessoal! Vamos conversar sobre trabalho, aquela atividade que ocupa a maior parte do nosso tempo, certo? Existem muitas profissões interessantes por aí, veja só! Eu sei que muitas pessoas apreciam a ideia de ser influenciador, não é mesmo? Ganhar dinheiro postando fotos no Instagram, criando vídeos para o YouTube, é o sonho de muitos! Também há aqueles que são talentosos em programação, dominam códigos e desenvolvem sites e aplicativos incríveis. E não podemos esquecer dos profissionais da saúde, como médicos e enfermeiros; essas pessoas são verdadeiros heróis, sempre cuidando de todos!</a:t>
            </a:r>
          </a:p>
        </p:txBody>
      </p:sp>
    </p:spTree>
    <p:extLst>
      <p:ext uri="{BB962C8B-B14F-4D97-AF65-F5344CB8AC3E}">
        <p14:creationId xmlns:p14="http://schemas.microsoft.com/office/powerpoint/2010/main" val="629600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398CCF-CFE9-0DA8-A7E5-7668680DA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" y="1348408"/>
            <a:ext cx="11087100" cy="5237922"/>
          </a:xfrm>
        </p:spPr>
        <p:txBody>
          <a:bodyPr vert="horz" lIns="0" tIns="45720" rIns="0" bIns="45720" rtlCol="0">
            <a:normAutofit fontScale="925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</a:rPr>
              <a:t>Mano, hoje em dia os adolescentes estão sempre grudados nas redes sociais, tipo, é quase uma extensão deles. Se bobear, eles passam mais tempo no Instagram, TikTok e WhatsApp do que fazendo qualquer outra coisa. As redes sociais viraram o ponto de encontro da galera, onde eles compartilham tudo: desde as selfies mais descoladas até aqueles memes que só a turma entende.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</a:rPr>
              <a:t>Mas, tem que ficar esperto também, né? Porque, além de toda a diversão, rola muito papo furado e fake </a:t>
            </a:r>
            <a:r>
              <a:rPr lang="pt-BR" dirty="0" err="1">
                <a:solidFill>
                  <a:srgbClr val="000000"/>
                </a:solidFill>
                <a:latin typeface="Arial" panose="020B0604020202020204" pitchFamily="34" charset="0"/>
              </a:rPr>
              <a:t>news</a:t>
            </a: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</a:rPr>
              <a:t>. Sem contar que a pressão pra estar sempre "perfeito" pode deixar muita gente com a autoestima lá embaixo.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</a:rPr>
              <a:t>No final das contas, as redes sociais são tipo uma faca de dois gumes: podem ser super legais pra manter a conexão com os amigos e se divertir, mas também podem trazer umas </a:t>
            </a:r>
            <a:r>
              <a:rPr lang="pt-BR" dirty="0" err="1">
                <a:solidFill>
                  <a:srgbClr val="000000"/>
                </a:solidFill>
                <a:latin typeface="Arial" panose="020B0604020202020204" pitchFamily="34" charset="0"/>
              </a:rPr>
              <a:t>vibes</a:t>
            </a: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</a:rPr>
              <a:t> meio pesadas se não souber usar na boa. Então, o lance é aproveitar com moderação e sempre dar uma filtrada no que é real ou não.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F836FAC-76DD-2D59-5105-1C5FE364B42E}"/>
              </a:ext>
            </a:extLst>
          </p:cNvPr>
          <p:cNvSpPr txBox="1">
            <a:spLocks/>
          </p:cNvSpPr>
          <p:nvPr/>
        </p:nvSpPr>
        <p:spPr>
          <a:xfrm>
            <a:off x="1054100" y="381000"/>
            <a:ext cx="10342770" cy="762000"/>
          </a:xfrm>
          <a:prstGeom prst="rect">
            <a:avLst/>
          </a:prstGeom>
        </p:spPr>
        <p:txBody>
          <a:bodyPr vert="horz" lIns="121920" tIns="60960" rIns="121920" bIns="6096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4267" b="1" dirty="0">
                <a:solidFill>
                  <a:srgbClr val="002060"/>
                </a:solidFill>
                <a:ea typeface="+mn-ea"/>
                <a:cs typeface="+mn-cs"/>
              </a:rPr>
              <a:t>Texto 3: Passe o texto para norma culta</a:t>
            </a:r>
          </a:p>
        </p:txBody>
      </p:sp>
    </p:spTree>
    <p:extLst>
      <p:ext uri="{BB962C8B-B14F-4D97-AF65-F5344CB8AC3E}">
        <p14:creationId xmlns:p14="http://schemas.microsoft.com/office/powerpoint/2010/main" val="2923871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557469-B99D-9A3B-F30B-77D20B57C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559256"/>
            <a:ext cx="9982200" cy="130677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1800" dirty="0">
                <a:solidFill>
                  <a:srgbClr val="000000"/>
                </a:solidFill>
                <a:latin typeface="Arial" panose="020B0604020202020204" pitchFamily="34" charset="0"/>
              </a:rPr>
              <a:t>Cada dupla deverá escolher um produto real que fracassou no mercado. Depois, realizará um trabalho completo de </a:t>
            </a:r>
            <a:r>
              <a:rPr lang="pt-BR" sz="1800" i="1" dirty="0" err="1">
                <a:solidFill>
                  <a:srgbClr val="000000"/>
                </a:solidFill>
                <a:latin typeface="Arial" panose="020B0604020202020204" pitchFamily="34" charset="0"/>
              </a:rPr>
              <a:t>rebranding</a:t>
            </a:r>
            <a:r>
              <a:rPr lang="pt-BR" sz="1800" i="1" dirty="0">
                <a:solidFill>
                  <a:srgbClr val="000000"/>
                </a:solidFill>
                <a:latin typeface="Arial" panose="020B0604020202020204" pitchFamily="34" charset="0"/>
              </a:rPr>
              <a:t> (</a:t>
            </a:r>
            <a:r>
              <a:rPr lang="pt-BR" sz="1800" dirty="0">
                <a:solidFill>
                  <a:srgbClr val="000000"/>
                </a:solidFill>
                <a:latin typeface="Arial" panose="020B0604020202020204" pitchFamily="34" charset="0"/>
              </a:rPr>
              <a:t>renovação da imagem), criando uma nova proposta para o produto, como se fosse relançá-lo hoje. A proposta deve conter as seguintes etapas obrigatórias:</a:t>
            </a:r>
          </a:p>
          <a:p>
            <a:pPr marL="0" indent="0" algn="just">
              <a:buNone/>
            </a:pPr>
            <a:endParaRPr lang="pt-BR" sz="18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0D6C74B-79EA-F73A-18CF-6E719AE81DDF}"/>
              </a:ext>
            </a:extLst>
          </p:cNvPr>
          <p:cNvSpPr txBox="1">
            <a:spLocks/>
          </p:cNvSpPr>
          <p:nvPr/>
        </p:nvSpPr>
        <p:spPr>
          <a:xfrm>
            <a:off x="956293" y="357636"/>
            <a:ext cx="9980682" cy="656327"/>
          </a:xfrm>
          <a:prstGeom prst="rect">
            <a:avLst/>
          </a:prstGeom>
        </p:spPr>
        <p:txBody>
          <a:bodyPr vert="horz" lIns="121920" tIns="60960" rIns="121920" bIns="6096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pt-BR" sz="3000" b="1" dirty="0">
                <a:solidFill>
                  <a:srgbClr val="002060"/>
                </a:solidFill>
              </a:rPr>
              <a:t>RESSIGNIFICANDO O FRACASSO - Criação de uma Nova Marca a partir de um Produto </a:t>
            </a:r>
            <a:r>
              <a:rPr lang="pt-BR" sz="3000" b="1" dirty="0" err="1">
                <a:solidFill>
                  <a:srgbClr val="002060"/>
                </a:solidFill>
              </a:rPr>
              <a:t>mal-sucedido</a:t>
            </a:r>
            <a:endParaRPr lang="pt-BR" sz="3000" b="1" dirty="0">
              <a:solidFill>
                <a:srgbClr val="002060"/>
              </a:solidFill>
              <a:ea typeface="+mn-ea"/>
              <a:cs typeface="+mn-cs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4D042040-1C15-90A3-D19D-9E45DB3C44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272970"/>
              </p:ext>
            </p:extLst>
          </p:nvPr>
        </p:nvGraphicFramePr>
        <p:xfrm>
          <a:off x="1882634" y="2611812"/>
          <a:ext cx="8128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11833000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199700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pt-BR" b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Pesquisa do Produto Original:</a:t>
                      </a:r>
                    </a:p>
                    <a:p>
                      <a:pPr marL="0" indent="0">
                        <a:buNone/>
                      </a:pPr>
                      <a:endParaRPr lang="pt-BR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Nome do produto original;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Empresa responsável;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Ano de lançamento;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Público-alvo inicial;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Principais funcionalidades ou proposta;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Motivos do fracasso (</a:t>
                      </a:r>
                      <a:r>
                        <a:rPr lang="pt-BR" b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</a:t>
                      </a:r>
                      <a:r>
                        <a:rPr lang="pt-BR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erro de comunicação, preço, tecnologia, concorrência, timing, etc.).</a:t>
                      </a:r>
                    </a:p>
                    <a:p>
                      <a:endParaRPr lang="pt-B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2 - </a:t>
                      </a:r>
                      <a:r>
                        <a:rPr lang="pt-BR" sz="1800" b="1" i="1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Redesign</a:t>
                      </a:r>
                      <a:r>
                        <a:rPr lang="pt-BR" sz="18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pt-BR" sz="18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 Produto:</a:t>
                      </a:r>
                    </a:p>
                    <a:p>
                      <a:endParaRPr lang="pt-BR" sz="1800" b="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8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Nome do novo produto (repensado);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8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Novo posicionamento de mercado.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8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Público-alvo atualizado;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8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Quais melhorias ou mudanças foram feitas no produto em si?;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8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Quais problemas anteriores foram resolvidos?;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8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Por que o consumidor deveria comprar agora?</a:t>
                      </a:r>
                    </a:p>
                    <a:p>
                      <a:endParaRPr lang="pt-BR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4646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5843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87FB0D-CE03-EC31-5632-B82686CAF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000" b="1" dirty="0">
                <a:solidFill>
                  <a:srgbClr val="002060"/>
                </a:solidFill>
              </a:rPr>
              <a:t>CONTINUAÇÃO 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945B5A2B-4D15-37CF-02A5-C42F82CE4A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7485530"/>
              </p:ext>
            </p:extLst>
          </p:nvPr>
        </p:nvGraphicFramePr>
        <p:xfrm>
          <a:off x="1104900" y="1600200"/>
          <a:ext cx="9982200" cy="457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7400">
                  <a:extLst>
                    <a:ext uri="{9D8B030D-6E8A-4147-A177-3AD203B41FA5}">
                      <a16:colId xmlns:a16="http://schemas.microsoft.com/office/drawing/2014/main" val="1907371202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1511057155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22735872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800" b="1" kern="120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3. Criação da Nova Identidade Visual:</a:t>
                      </a:r>
                    </a:p>
                    <a:p>
                      <a:endParaRPr lang="pt-BR" sz="1800" b="0" kern="120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800" b="0" kern="120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Novo logotipo (pode ser desenhado manualmente ou com ferramentas digitais);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800" b="0" kern="120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Paleta de cores (justifique a escolha das cores com base no público e posicionamento);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800" b="0" kern="120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Tipografia (se possível);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800" b="0" kern="120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Slogan ou frase de impacto.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800" b="0" kern="120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Embalagem (opcional).</a:t>
                      </a:r>
                    </a:p>
                    <a:p>
                      <a:endParaRPr lang="pt-B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 kern="120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4. Campanha de Lançamento:</a:t>
                      </a:r>
                    </a:p>
                    <a:p>
                      <a:endParaRPr lang="pt-BR" sz="1800" b="0" kern="120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800" b="0" kern="120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Crie uma peça publicitária (cartaz, post de Instagram, vídeo curto, etc.);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800" b="0" kern="120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Escreva uma breve campanha promocional: Onde será lançado? Como será divulgado? Promoções de lançamento?</a:t>
                      </a:r>
                    </a:p>
                    <a:p>
                      <a:endParaRPr lang="pt-B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 kern="120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5. Apresentação Final:</a:t>
                      </a:r>
                    </a:p>
                    <a:p>
                      <a:endParaRPr lang="pt-BR" sz="1800" b="0" kern="120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800" b="0" kern="120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Cada grupo/aluno deverá apresentar seu projeto em sala ou entregar um portfólio;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800" b="0" kern="120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 apresentação deve contar uma "história de resgate": como o produto renasceu das cinzas;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800" b="0" kern="120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Incluir reflexões sobre os aprendizados de marketing e inovação.</a:t>
                      </a:r>
                    </a:p>
                    <a:p>
                      <a:endParaRPr lang="pt-B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62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531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7580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FF92D8-191B-8873-0A43-0D4B2D64B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418" y="397565"/>
            <a:ext cx="9980682" cy="656327"/>
          </a:xfrm>
        </p:spPr>
        <p:txBody>
          <a:bodyPr vert="horz" lIns="121920" tIns="60960" rIns="121920" bIns="6096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4267" b="1" dirty="0">
                <a:solidFill>
                  <a:srgbClr val="002060"/>
                </a:solidFill>
                <a:ea typeface="+mn-ea"/>
                <a:cs typeface="+mn-cs"/>
              </a:rPr>
              <a:t>ATIVIDADE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574450-02B2-BF5F-5A77-6AF29076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148" y="1278835"/>
            <a:ext cx="10522226" cy="518160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BR" b="1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 Nome fantasia</a:t>
            </a:r>
            <a:r>
              <a:rPr lang="pt-BR" b="0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br>
              <a:rPr lang="pt-BR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b="1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 Cores</a:t>
            </a:r>
            <a:r>
              <a:rPr lang="pt-BR" b="0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(Por que escolheu essas cores?) e </a:t>
            </a:r>
            <a:r>
              <a:rPr lang="pt-BR" b="1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logo do produto</a:t>
            </a:r>
            <a:r>
              <a:rPr lang="pt-BR" b="0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br>
              <a:rPr lang="pt-BR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b="1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 Princípios organizacionais</a:t>
            </a:r>
            <a:r>
              <a:rPr lang="pt-BR" b="0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(Missão, Visão e Valores);</a:t>
            </a:r>
            <a:br>
              <a:rPr lang="pt-BR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b="1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4. Descrição do produto</a:t>
            </a:r>
            <a:r>
              <a:rPr lang="pt-BR" b="0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(O que é / Para que serve / Por que eu devo comprá-lo);</a:t>
            </a:r>
            <a:br>
              <a:rPr lang="pt-BR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b="1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5. Público alvo;</a:t>
            </a:r>
            <a:br>
              <a:rPr lang="pt-BR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b="1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6. Canais de comunicação que serão usados para o marketing;</a:t>
            </a:r>
            <a:br>
              <a:rPr lang="pt-BR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b="1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7. Canais de comunicação para atendimento ao público </a:t>
            </a:r>
            <a:r>
              <a:rPr lang="pt-BR" b="0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(suporte ao cliente, vendas, </a:t>
            </a:r>
            <a:r>
              <a:rPr lang="pt-BR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pt-BR" b="0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br>
              <a:rPr lang="pt-BR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b="1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8. Concorrentes diretos ou indiretos </a:t>
            </a:r>
            <a:r>
              <a:rPr lang="pt-BR" b="0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(Concorrentes diretos são aqueles que possuem o mesmo produto e indiretos que estão inseridos no mesmo segmento);</a:t>
            </a:r>
            <a:br>
              <a:rPr lang="pt-BR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b="1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9. Viabilidade do produto/serviço </a:t>
            </a:r>
            <a:r>
              <a:rPr lang="pt-BR" b="0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(O produto é viável ao mercado que será inserido?);</a:t>
            </a:r>
            <a:br>
              <a:rPr lang="pt-BR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b="1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10. Vantagens e desvantagens</a:t>
            </a:r>
            <a:r>
              <a:rPr lang="pt-BR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b="0" i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(Quais os benefícios do produto e quais seus pontos fracos?).</a:t>
            </a:r>
            <a:endParaRPr lang="pt-BR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01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A207D5-842F-FFAA-E9E9-00B78A9A0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745" y="526774"/>
            <a:ext cx="10530509" cy="45720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</a:rPr>
              <a:t>Atualmente, os adolescentes estão constantemente conectados às redes sociais, a ponto de se tornarem quase uma extensão de si mesmos. Se não tomarmos cuidado, eles passam mais tempo no Instagram, TikTok e WhatsApp do que em qualquer outra atividade. As redes sociais tornaram-se o ponto de encontro dessa geração, onde compartilham tudo: desde as selfies mais estilosas até aqueles memes que apenas o grupo entende.</a:t>
            </a:r>
          </a:p>
          <a:p>
            <a:pPr marL="0" indent="0" algn="just">
              <a:lnSpc>
                <a:spcPct val="140000"/>
              </a:lnSpc>
              <a:buNone/>
            </a:pP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</a:rPr>
              <a:t>No entanto, é preciso estar atento, pois além de toda a diversão, há muita conversa fiada e </a:t>
            </a:r>
            <a:r>
              <a:rPr lang="pt-BR" i="1" dirty="0">
                <a:solidFill>
                  <a:srgbClr val="000000"/>
                </a:solidFill>
                <a:latin typeface="Arial" panose="020B0604020202020204" pitchFamily="34" charset="0"/>
              </a:rPr>
              <a:t>fake </a:t>
            </a:r>
            <a:r>
              <a:rPr lang="pt-BR" i="1" dirty="0" err="1">
                <a:solidFill>
                  <a:srgbClr val="000000"/>
                </a:solidFill>
                <a:latin typeface="Arial" panose="020B0604020202020204" pitchFamily="34" charset="0"/>
              </a:rPr>
              <a:t>news</a:t>
            </a:r>
            <a:r>
              <a:rPr lang="pt-BR" i="1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</a:rPr>
              <a:t>Sem mencionar que a pressão para estar sempre 'perfeito' pode afetar a autoestima de muitos.</a:t>
            </a:r>
          </a:p>
          <a:p>
            <a:pPr marL="0" indent="0" algn="just">
              <a:lnSpc>
                <a:spcPct val="140000"/>
              </a:lnSpc>
              <a:buNone/>
            </a:pP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</a:rPr>
              <a:t>No final das contas, as redes sociais são como uma faca de dois gumes: podem ser muito legais para manter a conexão com os amigos e se divertir, mas também podem trazer sentimentos negativos se não forem usadas de maneira consciente. Portanto, o ideal é aproveitar com moderação e sempre filtrar o que é verdadeiro ou não.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77430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F098BEF1-C84D-BD6B-8686-32E2B361E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0681" y="5000153"/>
            <a:ext cx="1169685" cy="469963"/>
          </a:xfrm>
          <a:prstGeom prst="rect">
            <a:avLst/>
          </a:prstGeom>
        </p:spPr>
      </p:pic>
      <p:sp>
        <p:nvSpPr>
          <p:cNvPr id="1031" name="Title 1">
            <a:extLst>
              <a:ext uri="{FF2B5EF4-FFF2-40B4-BE49-F238E27FC236}">
                <a16:creationId xmlns:a16="http://schemas.microsoft.com/office/drawing/2014/main" id="{62C99F3C-95F9-B908-598F-18EFBC64E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 vert="horz" lIns="121920" tIns="60960" rIns="121920" bIns="6096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267" b="1" dirty="0" err="1">
                <a:solidFill>
                  <a:srgbClr val="002060"/>
                </a:solidFill>
                <a:ea typeface="+mn-ea"/>
                <a:cs typeface="+mn-cs"/>
              </a:rPr>
              <a:t>Exemplos</a:t>
            </a:r>
            <a:endParaRPr lang="en-US" sz="4267" b="1" dirty="0">
              <a:solidFill>
                <a:srgbClr val="002060"/>
              </a:solidFill>
              <a:ea typeface="+mn-ea"/>
              <a:cs typeface="+mn-cs"/>
            </a:endParaRPr>
          </a:p>
        </p:txBody>
      </p:sp>
      <p:pic>
        <p:nvPicPr>
          <p:cNvPr id="1026" name="Picture 2" descr="Interface gráfica do usuário, Texto, Aplicativo, Email&#10;&#10;Descrição gerada automaticamente">
            <a:extLst>
              <a:ext uri="{FF2B5EF4-FFF2-40B4-BE49-F238E27FC236}">
                <a16:creationId xmlns:a16="http://schemas.microsoft.com/office/drawing/2014/main" id="{19CE1BD2-16E4-4326-3479-4F58552DE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5057" y="1602196"/>
            <a:ext cx="5657184" cy="3196307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8397B370-9D5C-0873-31E9-9F693812092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70682" y="1602196"/>
            <a:ext cx="4914900" cy="3292055"/>
          </a:xfr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3A55656-573B-F8BB-459B-45A7A9133F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0682" y="5323285"/>
            <a:ext cx="3027511" cy="91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216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066423-178B-46F7-8DFE-BEE47ADB9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100" y="381000"/>
            <a:ext cx="10083800" cy="762000"/>
          </a:xfrm>
        </p:spPr>
        <p:txBody>
          <a:bodyPr vert="horz" lIns="121920" tIns="60960" rIns="121920" bIns="6096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267" b="1" dirty="0">
                <a:solidFill>
                  <a:srgbClr val="002060"/>
                </a:solidFill>
                <a:ea typeface="+mn-ea"/>
                <a:cs typeface="+mn-cs"/>
              </a:rPr>
              <a:t>Como melhorar a escrita formal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FF4FB5-5079-4E45-824D-E0DDB95B6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482" y="1143000"/>
            <a:ext cx="6102075" cy="5702330"/>
          </a:xfrm>
          <a:noFill/>
        </p:spPr>
        <p:txBody>
          <a:bodyPr wrap="square" rtlCol="0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Considere para quem está escrevendo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Quando mais você conhecer o recipiente da mensagem, mais fácil será você utilizar a linguagem correta para transmitir o que deseja. 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Caso seja alguém com quem não tem intimidade, evite frases coloquiais e a linguagem mais pessoal.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44" name="Picture 4" descr="Superando as dificuldades: Linguagem">
            <a:extLst>
              <a:ext uri="{FF2B5EF4-FFF2-40B4-BE49-F238E27FC236}">
                <a16:creationId xmlns:a16="http://schemas.microsoft.com/office/drawing/2014/main" id="{2BF48ED3-8AB9-460D-B818-E52109BC2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2868" y="2142297"/>
            <a:ext cx="5200650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7469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926166-FF57-49EA-8A20-2E21426B9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3329" y="288236"/>
            <a:ext cx="7416799" cy="6810326"/>
          </a:xfrm>
          <a:noFill/>
        </p:spPr>
        <p:txBody>
          <a:bodyPr vert="horz" wrap="square" lIns="0" tIns="45720" rIns="0" bIns="45720" rtlCol="0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Revise o texto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Erros de gramática e ortografia são recorrentes na vida diária, mas podem ser evitados muito facilmente. Releia o seu texto antes de enviá-lo quantas vezes for necessário, isso ajuda a encontrar erros que passaram despercebidos ou informações importantes que não foram incluídas por esquecimento ou distração.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Procure por sinônimos para substituir palavras populares.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sz="2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266" name="Picture 2" descr="Sinônimos – O que são, Tipos e Exemplos - Gestão Educacional">
            <a:extLst>
              <a:ext uri="{FF2B5EF4-FFF2-40B4-BE49-F238E27FC236}">
                <a16:creationId xmlns:a16="http://schemas.microsoft.com/office/drawing/2014/main" id="{463614DD-6FA1-4CB1-8CA5-D99879E23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12587"/>
            <a:ext cx="4359965" cy="2172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2786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62B39A-17A4-4771-A365-A336B8211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584201"/>
            <a:ext cx="10083799" cy="4940300"/>
          </a:xfrm>
          <a:noFill/>
        </p:spPr>
        <p:txBody>
          <a:bodyPr vert="horz" wrap="square" lIns="0" tIns="45720" rIns="0" bIns="45720" rtlCol="0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Não exagere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2400" dirty="0">
                <a:solidFill>
                  <a:schemeClr val="tx2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Para a linguagem formal, tudo que é demais pode ser negativo.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Evite usar uma linguagem robótica e deixe sua personalidade transparecer nas palavras. Lembre-se que ser formal não exclui a possibilidade de ser simples ao longo do seu discurso, então vá direto ao ponto e tenha clareza nos seus argumentos.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sz="2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290" name="Picture 2" descr="INCLUSÃO: LIVROS E GUIAS PARA DOWNLOAD – PARTE 2 –  atividadeparaeducacaoespecial.com">
            <a:extLst>
              <a:ext uri="{FF2B5EF4-FFF2-40B4-BE49-F238E27FC236}">
                <a16:creationId xmlns:a16="http://schemas.microsoft.com/office/drawing/2014/main" id="{958DC77B-18A3-4CC6-8CFE-7761A3D51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4243" y="3936914"/>
            <a:ext cx="2342322" cy="272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0706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46FFD0-2238-4D72-8152-9BC79848F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2817" y="601871"/>
            <a:ext cx="7045738" cy="5933163"/>
          </a:xfrm>
          <a:noFill/>
        </p:spPr>
        <p:txBody>
          <a:bodyPr vert="horz" wrap="square" lIns="0" tIns="45720" rIns="0" bIns="45720" rtlCol="0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Evite siglas e abreviações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Exceto quando extremamente necessário – como siglas de uma empresa ou projeto, evite o uso de abreviações ou siglas, pelo simples fato de que o destinatário pode não saber do que se trata.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sz="24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2400" dirty="0">
                <a:solidFill>
                  <a:srgbClr val="002060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 sigla sempre deverá ser acompanhada do seu significado. 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sz="2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314" name="Picture 2" descr="Abreviaturas na Língua Portuguesa - InfoEscola">
            <a:extLst>
              <a:ext uri="{FF2B5EF4-FFF2-40B4-BE49-F238E27FC236}">
                <a16:creationId xmlns:a16="http://schemas.microsoft.com/office/drawing/2014/main" id="{68F24787-5D7F-45D3-9986-28CA66F64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445" y="3094867"/>
            <a:ext cx="4395303" cy="2732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 descr="Abreviações e siglas em inglês usadas na internet - Mundo Educação">
            <a:extLst>
              <a:ext uri="{FF2B5EF4-FFF2-40B4-BE49-F238E27FC236}">
                <a16:creationId xmlns:a16="http://schemas.microsoft.com/office/drawing/2014/main" id="{61DDE100-1E2D-47F0-B4D6-B3865B51B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632" y="427867"/>
            <a:ext cx="3843657" cy="283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2398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7ABE56-D52E-4054-ACEE-1C826FDB7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680" y="584201"/>
            <a:ext cx="7381460" cy="5379165"/>
          </a:xfrm>
          <a:noFill/>
        </p:spPr>
        <p:txBody>
          <a:bodyPr vert="horz" wrap="square" lIns="0" tIns="45720" rIns="0" bIns="45720" rtlCol="0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Dê preferência a frases curtas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Frases curtas transmitem objetividade e ajudam o destinatário a entender rapidamente o que você deseja transmitir.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2400" dirty="0">
                <a:solidFill>
                  <a:schemeClr val="tx2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Lembre-se: Sinônimos são amigos da linguagem formal!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338" name="Picture 2" descr="Caderno - ícones de educação grátis">
            <a:extLst>
              <a:ext uri="{FF2B5EF4-FFF2-40B4-BE49-F238E27FC236}">
                <a16:creationId xmlns:a16="http://schemas.microsoft.com/office/drawing/2014/main" id="{8E805588-0540-4D78-B449-29C905249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0820" y="1511243"/>
            <a:ext cx="4161180" cy="4161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147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DF974796-7B55-44D8-BF4E-B753F598C7B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</p:spPr>
      </p:pic>
    </p:spTree>
    <p:extLst>
      <p:ext uri="{BB962C8B-B14F-4D97-AF65-F5344CB8AC3E}">
        <p14:creationId xmlns:p14="http://schemas.microsoft.com/office/powerpoint/2010/main" val="1665878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973D5A-2605-4588-AC7C-895383A47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1831A53B-9C08-497E-8CD0-F113292420E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2662448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9452B8-8A7D-4F06-A13B-CDA8B6318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6341CD9A-3294-43CF-A9BA-5BC34DFCD93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3386436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015E97-9AD3-4B3C-9F66-C6A739FE0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559EB972-6DAD-4EDA-823D-950EF88AC63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</p:spPr>
      </p:pic>
    </p:spTree>
    <p:extLst>
      <p:ext uri="{BB962C8B-B14F-4D97-AF65-F5344CB8AC3E}">
        <p14:creationId xmlns:p14="http://schemas.microsoft.com/office/powerpoint/2010/main" val="2820351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EBF0D2-0819-4545-AEE5-C24009E0C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2DBC6B5-9881-4090-B5FE-B7657C1F4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725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041FC3-F932-448A-9A65-A6CFE7841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AF45D50-E37F-4D6A-830A-A006F55F1D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260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87FD8C-EDBF-4430-8EE9-8584EF014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17CAFD0-185A-4997-83EE-DB8A6AEAD4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176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388CDE-5539-44D5-B71D-8E4996A65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6456CEF-22D9-45A3-A6FB-8473F92CA9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83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5B6459-6D46-4E44-9DEB-7F619ACE6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9D97D03-C4F2-4A68-9B62-0F0CAD4DEB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98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D06C0E-C59E-4B70-B950-F5C587DE9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FC7ED12-5AB6-42E4-9EE3-0A2DCE7C3E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911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E71D8-6B09-401D-B0EC-BB2E46DEC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C46FD0F-DF54-4293-87AE-C4CA9656B5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758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0380D5-02BC-4C6D-BF68-01E2214AF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01559ECB-E0D9-4937-B7B6-85B6AAB298A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</p:spPr>
      </p:pic>
    </p:spTree>
    <p:extLst>
      <p:ext uri="{BB962C8B-B14F-4D97-AF65-F5344CB8AC3E}">
        <p14:creationId xmlns:p14="http://schemas.microsoft.com/office/powerpoint/2010/main" val="259332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62F8C-0F14-411A-B5A3-12B60A3AE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4CEEEBFB-AB5F-41C6-AFCF-7E1F2D07F59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CC902CB5-4F8E-46AD-9F48-EF2CDF234AE1}"/>
              </a:ext>
            </a:extLst>
          </p:cNvPr>
          <p:cNvSpPr/>
          <p:nvPr/>
        </p:nvSpPr>
        <p:spPr>
          <a:xfrm>
            <a:off x="4963217" y="624680"/>
            <a:ext cx="1929951" cy="54848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tx1"/>
                </a:solidFill>
              </a:rPr>
              <a:t>Planejamento Estratégico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1A360DC-B6CB-473E-AFF8-BBCF7BDE4CC5}"/>
              </a:ext>
            </a:extLst>
          </p:cNvPr>
          <p:cNvSpPr/>
          <p:nvPr/>
        </p:nvSpPr>
        <p:spPr>
          <a:xfrm>
            <a:off x="1925706" y="2015872"/>
            <a:ext cx="1836204" cy="55851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tx1"/>
                </a:solidFill>
              </a:rPr>
              <a:t>Profissionais da empresa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88B17DE-379F-46A7-82E4-866279B49969}"/>
              </a:ext>
            </a:extLst>
          </p:cNvPr>
          <p:cNvSpPr/>
          <p:nvPr/>
        </p:nvSpPr>
        <p:spPr>
          <a:xfrm>
            <a:off x="7934021" y="2015872"/>
            <a:ext cx="1836204" cy="55851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tx1"/>
                </a:solidFill>
              </a:rPr>
              <a:t>Público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B74893B-092E-4603-9B36-182D2D161A9A}"/>
              </a:ext>
            </a:extLst>
          </p:cNvPr>
          <p:cNvSpPr/>
          <p:nvPr/>
        </p:nvSpPr>
        <p:spPr>
          <a:xfrm>
            <a:off x="4822539" y="3157451"/>
            <a:ext cx="2070629" cy="54309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tx1"/>
                </a:solidFill>
              </a:rPr>
              <a:t>Canais de comunicação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D5D3CE3-546B-46DC-A976-C7C6A0F6FAF1}"/>
              </a:ext>
            </a:extLst>
          </p:cNvPr>
          <p:cNvSpPr/>
          <p:nvPr/>
        </p:nvSpPr>
        <p:spPr>
          <a:xfrm>
            <a:off x="4822538" y="4847226"/>
            <a:ext cx="2070629" cy="54309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tx1"/>
                </a:solidFill>
              </a:rPr>
              <a:t>Mensuração de resultados</a:t>
            </a:r>
          </a:p>
        </p:txBody>
      </p:sp>
      <p:cxnSp>
        <p:nvCxnSpPr>
          <p:cNvPr id="14" name="Conector: Angulado 13">
            <a:extLst>
              <a:ext uri="{FF2B5EF4-FFF2-40B4-BE49-F238E27FC236}">
                <a16:creationId xmlns:a16="http://schemas.microsoft.com/office/drawing/2014/main" id="{C20FBC68-771F-4CBA-A1B0-30D37CBB25CD}"/>
              </a:ext>
            </a:extLst>
          </p:cNvPr>
          <p:cNvCxnSpPr>
            <a:cxnSpLocks/>
            <a:stCxn id="9" idx="1"/>
            <a:endCxn id="10" idx="0"/>
          </p:cNvCxnSpPr>
          <p:nvPr/>
        </p:nvCxnSpPr>
        <p:spPr>
          <a:xfrm rot="10800000" flipV="1">
            <a:off x="2843809" y="898920"/>
            <a:ext cx="2119409" cy="1116951"/>
          </a:xfrm>
          <a:prstGeom prst="bentConnector2">
            <a:avLst/>
          </a:prstGeom>
          <a:ln w="19050" cap="flat">
            <a:solidFill>
              <a:schemeClr val="bg1"/>
            </a:solidFill>
            <a:prstDash val="sysDash"/>
            <a:round/>
            <a:tailEnd type="triangle"/>
          </a:ln>
        </p:spPr>
      </p:cxnSp>
      <p:cxnSp>
        <p:nvCxnSpPr>
          <p:cNvPr id="18" name="Conector: Angulado 17">
            <a:extLst>
              <a:ext uri="{FF2B5EF4-FFF2-40B4-BE49-F238E27FC236}">
                <a16:creationId xmlns:a16="http://schemas.microsoft.com/office/drawing/2014/main" id="{BECF0043-7092-4308-9638-1542268EFCD2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3761910" y="2290110"/>
            <a:ext cx="4172111" cy="5020"/>
          </a:xfrm>
          <a:prstGeom prst="bentConnector3">
            <a:avLst>
              <a:gd name="adj1" fmla="val 50000"/>
            </a:avLst>
          </a:prstGeom>
          <a:ln w="19050" cap="flat">
            <a:solidFill>
              <a:schemeClr val="bg1"/>
            </a:solidFill>
            <a:prstDash val="sysDash"/>
            <a:round/>
            <a:tailEnd type="triangle"/>
          </a:ln>
        </p:spPr>
      </p:cxnSp>
      <p:cxnSp>
        <p:nvCxnSpPr>
          <p:cNvPr id="24" name="Conector: Angulado 23">
            <a:extLst>
              <a:ext uri="{FF2B5EF4-FFF2-40B4-BE49-F238E27FC236}">
                <a16:creationId xmlns:a16="http://schemas.microsoft.com/office/drawing/2014/main" id="{A1C89EC2-8E7C-4356-B0AD-1DCE40900AEC}"/>
              </a:ext>
            </a:extLst>
          </p:cNvPr>
          <p:cNvCxnSpPr>
            <a:cxnSpLocks/>
            <a:stCxn id="11" idx="2"/>
            <a:endCxn id="12" idx="3"/>
          </p:cNvCxnSpPr>
          <p:nvPr/>
        </p:nvCxnSpPr>
        <p:spPr>
          <a:xfrm rot="5400000">
            <a:off x="7445340" y="2022216"/>
            <a:ext cx="854613" cy="1958955"/>
          </a:xfrm>
          <a:prstGeom prst="bentConnector2">
            <a:avLst/>
          </a:prstGeom>
          <a:ln w="19050" cap="flat">
            <a:solidFill>
              <a:schemeClr val="bg1"/>
            </a:solidFill>
            <a:prstDash val="sysDash"/>
            <a:round/>
            <a:tailEnd type="triangle"/>
          </a:ln>
        </p:spPr>
      </p:cxnSp>
      <p:cxnSp>
        <p:nvCxnSpPr>
          <p:cNvPr id="27" name="Conector: Angulado 26">
            <a:extLst>
              <a:ext uri="{FF2B5EF4-FFF2-40B4-BE49-F238E27FC236}">
                <a16:creationId xmlns:a16="http://schemas.microsoft.com/office/drawing/2014/main" id="{34024830-7F9A-4DBE-B6F6-FA1E95884313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rot="5400000">
            <a:off x="5284516" y="4273887"/>
            <a:ext cx="1146677" cy="1"/>
          </a:xfrm>
          <a:prstGeom prst="bentConnector3">
            <a:avLst>
              <a:gd name="adj1" fmla="val 50000"/>
            </a:avLst>
          </a:prstGeom>
          <a:ln w="19050" cap="flat">
            <a:solidFill>
              <a:schemeClr val="bg1"/>
            </a:solidFill>
            <a:prstDash val="sysDash"/>
            <a:round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77339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3AB43EF5-9CFB-430D-A2BC-2740C746E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78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0A6A5B-289F-4130-8DB8-AF31EF862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EF292BB-AF20-4FEA-A577-43943D3C41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6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9AD6672F-3180-4D60-80A4-F979350F5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424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Literatura Acadêmica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50520971_TF03431380_Win32" id="{67DA1A8C-7E1D-48D9-8AE0-B1341E383245}" vid="{C6294B18-BD50-40A7-A245-56BA74C24959}"/>
    </a:ext>
  </a:extLst>
</a:theme>
</file>

<file path=ppt/theme/theme2.xml><?xml version="1.0" encoding="utf-8"?>
<a:theme xmlns:a="http://schemas.openxmlformats.org/drawingml/2006/main" name="Tema do Offic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acadêmica, design de listras e fitas (widescreen)</Template>
  <TotalTime>2013</TotalTime>
  <Words>2483</Words>
  <Application>Microsoft Office PowerPoint</Application>
  <PresentationFormat>Widescreen</PresentationFormat>
  <Paragraphs>165</Paragraphs>
  <Slides>58</Slides>
  <Notes>2</Notes>
  <HiddenSlides>32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58</vt:i4>
      </vt:variant>
    </vt:vector>
  </HeadingPairs>
  <TitlesOfParts>
    <vt:vector size="67" baseType="lpstr">
      <vt:lpstr>arial</vt:lpstr>
      <vt:lpstr>arial</vt:lpstr>
      <vt:lpstr>Calibri</vt:lpstr>
      <vt:lpstr>Euphemia</vt:lpstr>
      <vt:lpstr>Muli</vt:lpstr>
      <vt:lpstr>opensanstitle</vt:lpstr>
      <vt:lpstr>Plantagenet Cherokee</vt:lpstr>
      <vt:lpstr>Wingdings</vt:lpstr>
      <vt:lpstr>Literatura Acadêmica 16X9</vt:lpstr>
      <vt:lpstr>Apresentação do PowerPoint</vt:lpstr>
      <vt:lpstr>Apresentação do PowerPoint</vt:lpstr>
      <vt:lpstr>Apresentação do PowerPoint</vt:lpstr>
      <vt:lpstr>Apresentação do PowerPoint</vt:lpstr>
      <vt:lpstr>Mas o que é a comunicação?</vt:lpstr>
      <vt:lpstr>Apresentação do PowerPoint</vt:lpstr>
      <vt:lpstr>Apresentação do PowerPoint</vt:lpstr>
      <vt:lpstr>Apresentação do PowerPoint</vt:lpstr>
      <vt:lpstr>Atividade</vt:lpstr>
      <vt:lpstr>Apresentação do PowerPoint</vt:lpstr>
      <vt:lpstr>Pesquisa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Atividade</vt:lpstr>
      <vt:lpstr>Apresentação do PowerPoint</vt:lpstr>
      <vt:lpstr>Apresentação do PowerPoint</vt:lpstr>
      <vt:lpstr>Apresentação do PowerPoint</vt:lpstr>
      <vt:lpstr>Apresentação do PowerPoint</vt:lpstr>
      <vt:lpstr>Gírias</vt:lpstr>
      <vt:lpstr>Apresentação do PowerPoint</vt:lpstr>
      <vt:lpstr>Apresentação do PowerPoint</vt:lpstr>
      <vt:lpstr>Atividade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CONTINUAÇÃO </vt:lpstr>
      <vt:lpstr>ATIVIDADE</vt:lpstr>
      <vt:lpstr>Apresentação do PowerPoint</vt:lpstr>
      <vt:lpstr>Exemplos</vt:lpstr>
      <vt:lpstr>Como melhorar a escrita formal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Gabriela Viana</dc:creator>
  <cp:lastModifiedBy>Gabriela Viana</cp:lastModifiedBy>
  <cp:revision>38</cp:revision>
  <dcterms:created xsi:type="dcterms:W3CDTF">2022-09-08T16:21:40Z</dcterms:created>
  <dcterms:modified xsi:type="dcterms:W3CDTF">2025-08-15T21:26:38Z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