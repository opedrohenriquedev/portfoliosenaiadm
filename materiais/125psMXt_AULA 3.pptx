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328" r:id="rId16"/>
    <p:sldId id="330" r:id="rId17"/>
    <p:sldId id="331" r:id="rId18"/>
    <p:sldId id="332" r:id="rId19"/>
    <p:sldId id="335" r:id="rId20"/>
    <p:sldId id="336" r:id="rId21"/>
    <p:sldId id="337" r:id="rId22"/>
    <p:sldId id="338" r:id="rId23"/>
    <p:sldId id="339" r:id="rId24"/>
    <p:sldId id="348" r:id="rId25"/>
    <p:sldId id="268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2" r:id="rId34"/>
    <p:sldId id="363" r:id="rId35"/>
    <p:sldId id="417" r:id="rId36"/>
    <p:sldId id="361" r:id="rId37"/>
    <p:sldId id="27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14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73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06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4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43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70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22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17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93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93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261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698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99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36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D8AE9-B22F-4F1F-BDB8-083AA28F7371}" type="datetimeFigureOut">
              <a:rPr lang="pt-BR" smtClean="0"/>
              <a:t>15/08/2025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ABA20-C8C7-4BE1-A645-2D3848EFCB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67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aetreinamentos.com.br/blog/qualidade/como-fazer-diagrama-ishikawa/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01FEF-185D-75C7-B919-C16E1EAC7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6D4F07-4635-F7B5-C74F-10DEE8227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243FC124-7350-EBC8-4C81-962238488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3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53A8EA0-16BE-DC5B-3A4E-BCD47F79B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5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F4802117-C48A-115D-1E10-C98A787E7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7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D6A8B766-F3D8-FB44-DF01-E56BCF459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118C9D19-5CB8-6CAD-EE9D-83177616A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2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Plac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66542F6-1F81-3238-48B7-FD224841A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6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5940894-90E0-350C-68DD-42F0A8C18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9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48C2FF94-2215-328A-7C02-A113AD80C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Uma imagem contendo pessoa, foto, mulher, segurando&#10;&#10;O conteúdo gerado por IA pode estar incorreto.">
            <a:extLst>
              <a:ext uri="{FF2B5EF4-FFF2-40B4-BE49-F238E27FC236}">
                <a16:creationId xmlns:a16="http://schemas.microsoft.com/office/drawing/2014/main" id="{F2139FC0-ADE8-28A7-5AA3-FBE8D3BAA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0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64F6E54-1870-17F8-D29C-F1B0F9A61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0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C4B63E8E-DA7C-D58B-0317-878D647BF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0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65C40C9F-C058-9CE2-8A7C-CDE8D2F22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3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E4072-60D6-B9F6-D6F7-AE711A94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666" y="24941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FERRAMENTAS UTILIZADAS PARA A RESOLUÇÃO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310628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0"/>
            <a:ext cx="12191144" cy="6857771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273824" y="702743"/>
            <a:ext cx="11367106" cy="1585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85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 porquês</a:t>
            </a:r>
          </a:p>
          <a:p>
            <a:pPr algn="r"/>
            <a:r>
              <a:rPr lang="pt-BR" sz="485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5W2H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 porquês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11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A metodologia de análise 5 porquês, também conhecida como 5-Why, é uma ferramenta muito ligada à gestão da qualidade total e à melhoria contínua nas empresas. Primeiramente ela foi desenvolvida e aprimorada pela Toyota, tendo surgido como elemento importante para auxiliar na resolução de problemas internos.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1722021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 porquês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Ela consiste na repetição da pergunta “Por quê?” diante da questão a ser aprofundada na organização e, com ela, torna-se ainda mais fácil encontrar a causa raiz do problema com clareza e estratégia.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1805865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 que é a metodologia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61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A metodologia dos 5 porquês é uma ferramenta estratégica de análise de causa raiz para encontrar e posteriormente solucionar problemas, podendo ser aplicada desde nos problemas rotineiros, até tarefas importantes de uma organização.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1058389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 que é a metodologia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A lógica é que ao indagar diversas vezes “mas por que?” será possível chegar até a causa raiz do problema e encontrar a verdadeira causa que está gerando complicações em escala.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2275040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Como utilizar a regra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11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Dependendo do problema, a metodologia do 5 porquês pode precisar de cinco ou mais perguntas, enquanto outros podem precisar de menos. Dessa forma, realizar a pergunta cinco vezes não é uma regra imutável, isso vai depender da complexidade do problema que está sendo analisado pela equipe.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1351155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Como utilizar a regra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11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Por exemplo, uma empresa que está com dificuldade nas entregas de produtos. Aplicando a técnica dos 5 porquês com algumas perguntas, foi detectada uma falha no gerenciamento do estoque. Esse problema é identificado como uma falha interna da própria organização, e não de seus entregadores.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3579040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Como utilizar a regra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61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Dessa forma, usando a metodologia 5 Porquês é possível encontrar a raiz do problema da empresa e poderá otimizar a eficiência da sua gestão e eliminar o problema. Nesse exemplo em questão, as questões que poderiam ter sido realizadas para chegar à raiz do problema poderiam ser:</a:t>
            </a:r>
            <a:endParaRPr lang="pt-BR" sz="10066" dirty="0"/>
          </a:p>
        </p:txBody>
      </p:sp>
    </p:spTree>
    <p:extLst>
      <p:ext uri="{BB962C8B-B14F-4D97-AF65-F5344CB8AC3E}">
        <p14:creationId xmlns:p14="http://schemas.microsoft.com/office/powerpoint/2010/main" val="193415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Como utilizar a regra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4608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68" dirty="0"/>
              <a:t>1.	Por que os produtos têm sido entregues sistematicamente com atraso? Porque foram postados com atraso.</a:t>
            </a:r>
          </a:p>
          <a:p>
            <a:pPr algn="just"/>
            <a:r>
              <a:rPr lang="pt-BR" sz="2668" dirty="0"/>
              <a:t>2.	Por que os produtos foram postados com atraso? Porque o prazo de produção estourou.</a:t>
            </a:r>
          </a:p>
          <a:p>
            <a:pPr algn="just"/>
            <a:r>
              <a:rPr lang="pt-BR" sz="2668" dirty="0"/>
              <a:t>3.	Por que o prazo de produção estourou? Porque os materiais para a confecção não estavam disponíveis.</a:t>
            </a:r>
          </a:p>
          <a:p>
            <a:pPr algn="just"/>
            <a:r>
              <a:rPr lang="pt-BR" sz="2668" dirty="0"/>
              <a:t>4.	Por que os materiais não estavam disponíveis? Porque não foram solicitados a tempo ao fornecedor.</a:t>
            </a:r>
          </a:p>
          <a:p>
            <a:pPr algn="just"/>
            <a:r>
              <a:rPr lang="pt-BR" sz="2668" dirty="0"/>
              <a:t>5.	Por que os materiais não foram solicitados a tempo ao fornecedor? Porque o controle de estoque não acompanhou o aumento da demanda pelo material.</a:t>
            </a:r>
          </a:p>
        </p:txBody>
      </p:sp>
    </p:spTree>
    <p:extLst>
      <p:ext uri="{BB962C8B-B14F-4D97-AF65-F5344CB8AC3E}">
        <p14:creationId xmlns:p14="http://schemas.microsoft.com/office/powerpoint/2010/main" val="1117965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502222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Como utilizar a regra dos 5 Porquês?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61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Ou seja, se o gestor dessa equipe focasse apenas em buscar maneiras de acelerar as entregas, ele nunca chegaria a entender que a raiz do problema está, de fato, na sua gestão de estoque. Um problema muito anterior e que está impactando uma cadeia de equipes dentro da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967594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97424" y="412990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 que acontece após identificar a raiz dos problemas?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620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Uma vez que a causa raiz é descoberta, surge uma questão crucial: “E depois?” Identificar o problema é apenas o início. A próxima etapa crítica envolve a elaboração de um plano de ação robusto para abordar essa causa raiz e prevenir a recorrência do problema. Aqui, a metodologia 5W2H entra em cena como uma ferramenta estratégica para desenvolver e implementar esse plano de ação. </a:t>
            </a:r>
          </a:p>
        </p:txBody>
      </p:sp>
    </p:spTree>
    <p:extLst>
      <p:ext uri="{BB962C8B-B14F-4D97-AF65-F5344CB8AC3E}">
        <p14:creationId xmlns:p14="http://schemas.microsoft.com/office/powerpoint/2010/main" val="258600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no de ação 5W2H desenhado em colunas, com texto descritivo de cada campo.">
            <a:extLst>
              <a:ext uri="{FF2B5EF4-FFF2-40B4-BE49-F238E27FC236}">
                <a16:creationId xmlns:a16="http://schemas.microsoft.com/office/drawing/2014/main" id="{A6338E27-DB29-80C4-BB50-B474A065A5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" b="1"/>
          <a:stretch>
            <a:fillRect/>
          </a:stretch>
        </p:blipFill>
        <p:spPr bwMode="auto">
          <a:xfrm>
            <a:off x="20" y="10"/>
            <a:ext cx="12191980" cy="686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947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11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b="1" dirty="0"/>
              <a:t>Problema: Uma determinada empresa tem enfrentado um aumento significativo nas reclamações de clientes relacionadas a entregas atrasadas.</a:t>
            </a:r>
          </a:p>
          <a:p>
            <a:pPr algn="just"/>
            <a:r>
              <a:rPr lang="pt-BR" sz="3275" dirty="0"/>
              <a:t>Objetivo: Utilizar a metodologia dos 5 Porquês para identificar a causa raiz do aumento nas reclamações de entregas atrasadas.</a:t>
            </a:r>
          </a:p>
        </p:txBody>
      </p:sp>
    </p:spTree>
    <p:extLst>
      <p:ext uri="{BB962C8B-B14F-4D97-AF65-F5344CB8AC3E}">
        <p14:creationId xmlns:p14="http://schemas.microsoft.com/office/powerpoint/2010/main" val="1355686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3620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Porquê 1: Por que as entregas estão atrasando?</a:t>
            </a:r>
          </a:p>
          <a:p>
            <a:pPr algn="just"/>
            <a:r>
              <a:rPr lang="pt-BR" sz="3275" dirty="0"/>
              <a:t>•	Resposta: Porque os pacotes não estão sendo enviados na data prevista.</a:t>
            </a:r>
          </a:p>
          <a:p>
            <a:pPr algn="just"/>
            <a:r>
              <a:rPr lang="pt-BR" sz="3275" dirty="0"/>
              <a:t>Porquê 2: Por que os pacotes não estão sendo enviados na data prevista?</a:t>
            </a:r>
          </a:p>
          <a:p>
            <a:pPr algn="just"/>
            <a:r>
              <a:rPr lang="pt-BR" sz="3275" dirty="0"/>
              <a:t>•	Resposta: Porque os pedidos estão sendo processados tardiamente.</a:t>
            </a:r>
          </a:p>
        </p:txBody>
      </p:sp>
    </p:spTree>
    <p:extLst>
      <p:ext uri="{BB962C8B-B14F-4D97-AF65-F5344CB8AC3E}">
        <p14:creationId xmlns:p14="http://schemas.microsoft.com/office/powerpoint/2010/main" val="1029877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Porquê 3: Por que os pedidos estão sendo processados tardiamente?</a:t>
            </a:r>
          </a:p>
          <a:p>
            <a:pPr algn="just"/>
            <a:r>
              <a:rPr lang="pt-BR" sz="3275" dirty="0"/>
              <a:t>•	Resposta: Porque o software de processamento de pedidos está frequentemente inoperante.</a:t>
            </a:r>
          </a:p>
          <a:p>
            <a:pPr algn="just"/>
            <a:r>
              <a:rPr lang="pt-BR" sz="3275" dirty="0"/>
              <a:t>Porquê 4: Por que o software de processamento de pedidos está frequentemente inoperante?</a:t>
            </a:r>
          </a:p>
          <a:p>
            <a:pPr algn="just"/>
            <a:r>
              <a:rPr lang="pt-BR" sz="3275" dirty="0"/>
              <a:t>•	Resposta: Porque o software não foi atualizado para a versão mais recente.</a:t>
            </a:r>
          </a:p>
        </p:txBody>
      </p:sp>
    </p:spTree>
    <p:extLst>
      <p:ext uri="{BB962C8B-B14F-4D97-AF65-F5344CB8AC3E}">
        <p14:creationId xmlns:p14="http://schemas.microsoft.com/office/powerpoint/2010/main" val="1141838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61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Porquê 5: Por que o software não foi atualizado para a versão mais recente?</a:t>
            </a:r>
          </a:p>
          <a:p>
            <a:pPr algn="just"/>
            <a:r>
              <a:rPr lang="pt-BR" sz="3275" dirty="0"/>
              <a:t>•	Resposta: Porque não há uma política ou processo estabelecido para garantir que as atualizações de software sejam realizadas de maneira oportuna.</a:t>
            </a:r>
          </a:p>
        </p:txBody>
      </p:sp>
    </p:spTree>
    <p:extLst>
      <p:ext uri="{BB962C8B-B14F-4D97-AF65-F5344CB8AC3E}">
        <p14:creationId xmlns:p14="http://schemas.microsoft.com/office/powerpoint/2010/main" val="663494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Causa Raiz Identificada: A falta de uma política ou processo para garantir atualizações regulares de software resultou em falhas no sistema de processamento de pedidos, levando a atrasos na expedição e, consequentemente, nas entregas.</a:t>
            </a:r>
          </a:p>
        </p:txBody>
      </p:sp>
    </p:spTree>
    <p:extLst>
      <p:ext uri="{BB962C8B-B14F-4D97-AF65-F5344CB8AC3E}">
        <p14:creationId xmlns:p14="http://schemas.microsoft.com/office/powerpoint/2010/main" val="2552653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50352"/>
            <a:ext cx="1104822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Próximos Passos: Plano de ação com 5W2H</a:t>
            </a:r>
          </a:p>
          <a:p>
            <a:pPr algn="just"/>
            <a:r>
              <a:rPr lang="pt-BR" sz="3275" dirty="0"/>
              <a:t>1.	</a:t>
            </a:r>
            <a:r>
              <a:rPr lang="pt-BR" sz="3275" dirty="0" err="1"/>
              <a:t>What</a:t>
            </a:r>
            <a:r>
              <a:rPr lang="pt-BR" sz="3275" dirty="0"/>
              <a:t> (O Que): implementar um processo para atualizações regulares e manutenção do software.</a:t>
            </a:r>
          </a:p>
          <a:p>
            <a:pPr algn="just"/>
            <a:r>
              <a:rPr lang="pt-BR" sz="3275" dirty="0"/>
              <a:t>2.	</a:t>
            </a:r>
            <a:r>
              <a:rPr lang="pt-BR" sz="3275" dirty="0" err="1"/>
              <a:t>Why</a:t>
            </a:r>
            <a:r>
              <a:rPr lang="pt-BR" sz="3275" dirty="0"/>
              <a:t> (Por Que): para garantir que o software de processamento de pedidos funcione de maneira eficiente e confiável.</a:t>
            </a:r>
          </a:p>
          <a:p>
            <a:pPr algn="just"/>
            <a:r>
              <a:rPr lang="pt-BR" sz="3275" dirty="0"/>
              <a:t>3.	</a:t>
            </a:r>
            <a:r>
              <a:rPr lang="pt-BR" sz="3275" dirty="0" err="1"/>
              <a:t>Where</a:t>
            </a:r>
            <a:r>
              <a:rPr lang="pt-BR" sz="3275" dirty="0"/>
              <a:t> (Onde): no departamento de TI e na equipe responsável pelo processamento de pedidos.</a:t>
            </a:r>
          </a:p>
        </p:txBody>
      </p:sp>
    </p:spTree>
    <p:extLst>
      <p:ext uri="{BB962C8B-B14F-4D97-AF65-F5344CB8AC3E}">
        <p14:creationId xmlns:p14="http://schemas.microsoft.com/office/powerpoint/2010/main" val="3353940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97278" y="1924938"/>
            <a:ext cx="11048222" cy="3620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4.	</a:t>
            </a:r>
            <a:r>
              <a:rPr lang="pt-BR" sz="3275" dirty="0" err="1"/>
              <a:t>When</a:t>
            </a:r>
            <a:r>
              <a:rPr lang="pt-BR" sz="3275" dirty="0"/>
              <a:t> (Quando): iniciar o planejamento imediatamente e implementar o novo processo nos próximos 30 dias.</a:t>
            </a:r>
          </a:p>
          <a:p>
            <a:pPr algn="just"/>
            <a:r>
              <a:rPr lang="pt-BR" sz="3275" dirty="0"/>
              <a:t>5.	Who (Quem): o gerente de TI será responsável por liderar a implementação do novo processo.</a:t>
            </a:r>
          </a:p>
          <a:p>
            <a:pPr algn="just"/>
            <a:r>
              <a:rPr lang="pt-BR" sz="3275" dirty="0"/>
              <a:t>6.	</a:t>
            </a:r>
            <a:r>
              <a:rPr lang="pt-BR" sz="3275" dirty="0" err="1"/>
              <a:t>How</a:t>
            </a:r>
            <a:r>
              <a:rPr lang="pt-BR" sz="3275" dirty="0"/>
              <a:t> (Como): desenvolver e implementar uma política que inclua verificações regulares do software, atualizações programadas e treinamento da equipe relevante.</a:t>
            </a:r>
          </a:p>
        </p:txBody>
      </p:sp>
    </p:spTree>
    <p:extLst>
      <p:ext uri="{BB962C8B-B14F-4D97-AF65-F5344CB8AC3E}">
        <p14:creationId xmlns:p14="http://schemas.microsoft.com/office/powerpoint/2010/main" val="4131631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83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10889914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1048652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120739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1366131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524869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683608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842347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2001086" y="54606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0889914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048652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20739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524869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683608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842347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2001086" y="56193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0889914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048652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20739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366131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524869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683608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1842347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57780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0889914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/>
          <p:cNvSpPr/>
          <p:nvPr/>
        </p:nvSpPr>
        <p:spPr>
          <a:xfrm>
            <a:off x="11048652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/>
          <p:cNvSpPr/>
          <p:nvPr/>
        </p:nvSpPr>
        <p:spPr>
          <a:xfrm>
            <a:off x="1120739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11366131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/>
          <p:nvPr/>
        </p:nvSpPr>
        <p:spPr>
          <a:xfrm>
            <a:off x="11524869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/>
          <p:cNvSpPr/>
          <p:nvPr/>
        </p:nvSpPr>
        <p:spPr>
          <a:xfrm>
            <a:off x="11683608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/>
          <p:cNvSpPr/>
          <p:nvPr/>
        </p:nvSpPr>
        <p:spPr>
          <a:xfrm>
            <a:off x="11842347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/>
          <p:cNvSpPr/>
          <p:nvPr/>
        </p:nvSpPr>
        <p:spPr>
          <a:xfrm>
            <a:off x="12001086" y="59368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/>
          <p:cNvSpPr/>
          <p:nvPr/>
        </p:nvSpPr>
        <p:spPr>
          <a:xfrm>
            <a:off x="10889914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/>
          <p:cNvSpPr/>
          <p:nvPr/>
        </p:nvSpPr>
        <p:spPr>
          <a:xfrm>
            <a:off x="11048652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/>
          <p:cNvSpPr/>
          <p:nvPr/>
        </p:nvSpPr>
        <p:spPr>
          <a:xfrm>
            <a:off x="1120739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/>
          <p:cNvSpPr/>
          <p:nvPr/>
        </p:nvSpPr>
        <p:spPr>
          <a:xfrm>
            <a:off x="11366131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/>
          <p:cNvSpPr/>
          <p:nvPr/>
        </p:nvSpPr>
        <p:spPr>
          <a:xfrm>
            <a:off x="11524869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/>
          <p:cNvSpPr/>
          <p:nvPr/>
        </p:nvSpPr>
        <p:spPr>
          <a:xfrm>
            <a:off x="11683608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/>
          <p:cNvSpPr/>
          <p:nvPr/>
        </p:nvSpPr>
        <p:spPr>
          <a:xfrm>
            <a:off x="11842347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6"/>
          <p:cNvSpPr/>
          <p:nvPr/>
        </p:nvSpPr>
        <p:spPr>
          <a:xfrm>
            <a:off x="12001086" y="609557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7"/>
          <p:cNvSpPr/>
          <p:nvPr/>
        </p:nvSpPr>
        <p:spPr>
          <a:xfrm>
            <a:off x="10889914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8"/>
          <p:cNvSpPr/>
          <p:nvPr/>
        </p:nvSpPr>
        <p:spPr>
          <a:xfrm>
            <a:off x="11048652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9"/>
          <p:cNvSpPr/>
          <p:nvPr/>
        </p:nvSpPr>
        <p:spPr>
          <a:xfrm>
            <a:off x="1120739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50"/>
          <p:cNvSpPr/>
          <p:nvPr/>
        </p:nvSpPr>
        <p:spPr>
          <a:xfrm>
            <a:off x="11366131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51"/>
          <p:cNvSpPr/>
          <p:nvPr/>
        </p:nvSpPr>
        <p:spPr>
          <a:xfrm>
            <a:off x="11524869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52"/>
          <p:cNvSpPr/>
          <p:nvPr/>
        </p:nvSpPr>
        <p:spPr>
          <a:xfrm>
            <a:off x="11683608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53"/>
          <p:cNvSpPr/>
          <p:nvPr/>
        </p:nvSpPr>
        <p:spPr>
          <a:xfrm>
            <a:off x="11842347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4"/>
          <p:cNvSpPr/>
          <p:nvPr/>
        </p:nvSpPr>
        <p:spPr>
          <a:xfrm>
            <a:off x="12001086" y="625431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5"/>
          <p:cNvSpPr/>
          <p:nvPr/>
        </p:nvSpPr>
        <p:spPr>
          <a:xfrm>
            <a:off x="10889914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6"/>
          <p:cNvSpPr/>
          <p:nvPr/>
        </p:nvSpPr>
        <p:spPr>
          <a:xfrm>
            <a:off x="11048652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7"/>
          <p:cNvSpPr/>
          <p:nvPr/>
        </p:nvSpPr>
        <p:spPr>
          <a:xfrm>
            <a:off x="1120739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8"/>
          <p:cNvSpPr/>
          <p:nvPr/>
        </p:nvSpPr>
        <p:spPr>
          <a:xfrm>
            <a:off x="11366131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9"/>
          <p:cNvSpPr/>
          <p:nvPr/>
        </p:nvSpPr>
        <p:spPr>
          <a:xfrm>
            <a:off x="11524869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60"/>
          <p:cNvSpPr/>
          <p:nvPr/>
        </p:nvSpPr>
        <p:spPr>
          <a:xfrm>
            <a:off x="11683608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61"/>
          <p:cNvSpPr/>
          <p:nvPr/>
        </p:nvSpPr>
        <p:spPr>
          <a:xfrm>
            <a:off x="11842347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62"/>
          <p:cNvSpPr/>
          <p:nvPr/>
        </p:nvSpPr>
        <p:spPr>
          <a:xfrm>
            <a:off x="12001086" y="641305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63"/>
          <p:cNvSpPr/>
          <p:nvPr/>
        </p:nvSpPr>
        <p:spPr>
          <a:xfrm>
            <a:off x="10889914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4"/>
          <p:cNvSpPr/>
          <p:nvPr/>
        </p:nvSpPr>
        <p:spPr>
          <a:xfrm>
            <a:off x="11048652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5"/>
          <p:cNvSpPr/>
          <p:nvPr/>
        </p:nvSpPr>
        <p:spPr>
          <a:xfrm>
            <a:off x="1120739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6"/>
          <p:cNvSpPr/>
          <p:nvPr/>
        </p:nvSpPr>
        <p:spPr>
          <a:xfrm>
            <a:off x="11366131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7"/>
          <p:cNvSpPr/>
          <p:nvPr/>
        </p:nvSpPr>
        <p:spPr>
          <a:xfrm>
            <a:off x="11524869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8"/>
          <p:cNvSpPr/>
          <p:nvPr/>
        </p:nvSpPr>
        <p:spPr>
          <a:xfrm>
            <a:off x="11683608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9"/>
          <p:cNvSpPr/>
          <p:nvPr/>
        </p:nvSpPr>
        <p:spPr>
          <a:xfrm>
            <a:off x="11842347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70"/>
          <p:cNvSpPr/>
          <p:nvPr/>
        </p:nvSpPr>
        <p:spPr>
          <a:xfrm>
            <a:off x="12001086" y="657178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735903" y="597032"/>
            <a:ext cx="8825678" cy="82851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r>
              <a:rPr lang="pt-BR" sz="266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Planejamento e controle da manutenção</a:t>
            </a:r>
          </a:p>
          <a:p>
            <a:r>
              <a:rPr lang="pt-BR" sz="2668" b="1" kern="0" spc="-9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 da utilização dos 5 porquês + 5W2H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03423" y="1907466"/>
            <a:ext cx="11048222" cy="1604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75" dirty="0"/>
              <a:t>7.	</a:t>
            </a:r>
            <a:r>
              <a:rPr lang="pt-BR" sz="3275" dirty="0" err="1"/>
              <a:t>How</a:t>
            </a:r>
            <a:r>
              <a:rPr lang="pt-BR" sz="3275" dirty="0"/>
              <a:t> </a:t>
            </a:r>
            <a:r>
              <a:rPr lang="pt-BR" sz="3275" dirty="0" err="1"/>
              <a:t>Much</a:t>
            </a:r>
            <a:r>
              <a:rPr lang="pt-BR" sz="3275" dirty="0"/>
              <a:t> (Quanto custa): estimar os custos associados à manutenção regular do software, treinamento da equipe e possíveis licenças de software adicionais.</a:t>
            </a:r>
          </a:p>
        </p:txBody>
      </p:sp>
    </p:spTree>
    <p:extLst>
      <p:ext uri="{BB962C8B-B14F-4D97-AF65-F5344CB8AC3E}">
        <p14:creationId xmlns:p14="http://schemas.microsoft.com/office/powerpoint/2010/main" val="657201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tângulo 2">
            <a:extLst>
              <a:ext uri="{FF2B5EF4-FFF2-40B4-BE49-F238E27FC236}">
                <a16:creationId xmlns:a16="http://schemas.microsoft.com/office/drawing/2014/main" id="{83799CA4-2536-431E-8D27-C03B8B8CF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821" y="1646868"/>
            <a:ext cx="864076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pt-BR" altLang="pt-BR" sz="1800" b="1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 DE ISHIKAWA</a:t>
            </a:r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assim como ele também é conhecido, desenhe uma espécie de espinha de peixe.</a:t>
            </a:r>
          </a:p>
          <a:p>
            <a:pPr>
              <a:buFont typeface="Calibri" panose="020F0502020204030204" pitchFamily="34" charset="0"/>
              <a:buAutoNum type="arabicPeriod"/>
            </a:pPr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cada uma dessas espinhas são representadas com as principais categorias que podem ser a causa do problema;</a:t>
            </a:r>
          </a:p>
          <a:p>
            <a:pPr>
              <a:buFont typeface="Calibri" panose="020F0502020204030204" pitchFamily="34" charset="0"/>
              <a:buAutoNum type="arabicPeriod"/>
            </a:pPr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 quantidade de cada uma destas espinhas podem variar conforme o tipo de empresa que você possui.</a:t>
            </a:r>
          </a:p>
          <a:p>
            <a:pPr>
              <a:buFont typeface="Calibri" panose="020F0502020204030204" pitchFamily="34" charset="0"/>
              <a:buAutoNum type="arabicPeriod"/>
            </a:pPr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E1C97B26-B040-4FB7-9675-64F90255341A}"/>
              </a:ext>
            </a:extLst>
          </p:cNvPr>
          <p:cNvGrpSpPr/>
          <p:nvPr/>
        </p:nvGrpSpPr>
        <p:grpSpPr>
          <a:xfrm>
            <a:off x="236" y="0"/>
            <a:ext cx="12195188" cy="6857771"/>
            <a:chOff x="-1" y="0"/>
            <a:chExt cx="20110769" cy="11308972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C97A2652-4512-4E73-8F00-EEB78B83587C}"/>
                </a:ext>
              </a:extLst>
            </p:cNvPr>
            <p:cNvSpPr/>
            <p:nvPr/>
          </p:nvSpPr>
          <p:spPr>
            <a:xfrm>
              <a:off x="-1" y="11263253"/>
              <a:ext cx="20104418" cy="45719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519ECBF5-6CEC-4B1E-AEAB-4877135F973E}"/>
                </a:ext>
              </a:extLst>
            </p:cNvPr>
            <p:cNvSpPr/>
            <p:nvPr/>
          </p:nvSpPr>
          <p:spPr>
            <a:xfrm>
              <a:off x="16046518" y="0"/>
              <a:ext cx="4064250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235E2A3-5134-47C6-AA98-F5271E32614B}"/>
                </a:ext>
              </a:extLst>
            </p:cNvPr>
            <p:cNvSpPr/>
            <p:nvPr/>
          </p:nvSpPr>
          <p:spPr>
            <a:xfrm>
              <a:off x="213314" y="9373831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90D4B3BB-F8AC-42FD-BFC3-00FBDF810355}"/>
                </a:ext>
              </a:extLst>
            </p:cNvPr>
            <p:cNvSpPr/>
            <p:nvPr/>
          </p:nvSpPr>
          <p:spPr>
            <a:xfrm>
              <a:off x="16224567" y="9572903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2CF850B4-0DEA-4F9B-8739-0D48A9F9BD6C}"/>
              </a:ext>
            </a:extLst>
          </p:cNvPr>
          <p:cNvSpPr/>
          <p:nvPr/>
        </p:nvSpPr>
        <p:spPr>
          <a:xfrm flipH="1">
            <a:off x="474241" y="511013"/>
            <a:ext cx="27724" cy="1222981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8F37506-139D-4969-81F9-EE50F9236DA0}"/>
              </a:ext>
            </a:extLst>
          </p:cNvPr>
          <p:cNvSpPr/>
          <p:nvPr/>
        </p:nvSpPr>
        <p:spPr>
          <a:xfrm>
            <a:off x="-3423" y="9627"/>
            <a:ext cx="12191337" cy="27724"/>
          </a:xfrm>
          <a:custGeom>
            <a:avLst/>
            <a:gdLst/>
            <a:ahLst/>
            <a:cxnLst/>
            <a:rect l="l" t="t" r="r" b="b"/>
            <a:pathLst>
              <a:path w="12565380" h="157479">
                <a:moveTo>
                  <a:pt x="0" y="157063"/>
                </a:moveTo>
                <a:lnTo>
                  <a:pt x="12565062" y="157063"/>
                </a:lnTo>
                <a:lnTo>
                  <a:pt x="12565062" y="0"/>
                </a:lnTo>
                <a:lnTo>
                  <a:pt x="0" y="0"/>
                </a:lnTo>
                <a:lnTo>
                  <a:pt x="0" y="15706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026" name="Picture 2" descr="Diagrama Ishikawa - Lean Blog">
            <a:extLst>
              <a:ext uri="{FF2B5EF4-FFF2-40B4-BE49-F238E27FC236}">
                <a16:creationId xmlns:a16="http://schemas.microsoft.com/office/drawing/2014/main" id="{79815D5B-F571-4D45-9F2A-79C47EAA4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952" y="3428807"/>
            <a:ext cx="4697891" cy="350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2">
            <a:extLst>
              <a:ext uri="{FF2B5EF4-FFF2-40B4-BE49-F238E27FC236}">
                <a16:creationId xmlns:a16="http://schemas.microsoft.com/office/drawing/2014/main" id="{9895079A-83BD-4DF0-B621-F46A94BE9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17" y="3914827"/>
            <a:ext cx="429098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Calibri" panose="020F0502020204030204" pitchFamily="34" charset="0"/>
              <a:buAutoNum type="arabicPeriod"/>
            </a:pPr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A coluna vertebral do peixe é a linha representativa que liga as causas até o seu efeito, representado pela cabeça do peixe.</a:t>
            </a:r>
          </a:p>
          <a:p>
            <a:endParaRPr lang="pt-BR" alt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800" dirty="0">
                <a:latin typeface="Arial" panose="020B0604020202020204" pitchFamily="34" charset="0"/>
                <a:cs typeface="Arial" panose="020B0604020202020204" pitchFamily="34" charset="0"/>
              </a:rPr>
              <a:t>É na cabeça do peixe que você declara o problema enfrentado.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82109" y="511012"/>
            <a:ext cx="5868384" cy="7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366" dirty="0"/>
              <a:t>Espinha de Peixe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id="{E1C97B26-B040-4FB7-9675-64F90255341A}"/>
              </a:ext>
            </a:extLst>
          </p:cNvPr>
          <p:cNvGrpSpPr/>
          <p:nvPr/>
        </p:nvGrpSpPr>
        <p:grpSpPr>
          <a:xfrm>
            <a:off x="236" y="0"/>
            <a:ext cx="12195188" cy="6857771"/>
            <a:chOff x="-1" y="0"/>
            <a:chExt cx="20110769" cy="11308972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C97A2652-4512-4E73-8F00-EEB78B83587C}"/>
                </a:ext>
              </a:extLst>
            </p:cNvPr>
            <p:cNvSpPr/>
            <p:nvPr/>
          </p:nvSpPr>
          <p:spPr>
            <a:xfrm>
              <a:off x="-1" y="11263253"/>
              <a:ext cx="20104418" cy="45719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519ECBF5-6CEC-4B1E-AEAB-4877135F973E}"/>
                </a:ext>
              </a:extLst>
            </p:cNvPr>
            <p:cNvSpPr/>
            <p:nvPr/>
          </p:nvSpPr>
          <p:spPr>
            <a:xfrm>
              <a:off x="16046518" y="0"/>
              <a:ext cx="4064250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235E2A3-5134-47C6-AA98-F5271E32614B}"/>
                </a:ext>
              </a:extLst>
            </p:cNvPr>
            <p:cNvSpPr/>
            <p:nvPr/>
          </p:nvSpPr>
          <p:spPr>
            <a:xfrm>
              <a:off x="213314" y="9373831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90D4B3BB-F8AC-42FD-BFC3-00FBDF810355}"/>
                </a:ext>
              </a:extLst>
            </p:cNvPr>
            <p:cNvSpPr/>
            <p:nvPr/>
          </p:nvSpPr>
          <p:spPr>
            <a:xfrm>
              <a:off x="16224567" y="9572903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2CF850B4-0DEA-4F9B-8739-0D48A9F9BD6C}"/>
              </a:ext>
            </a:extLst>
          </p:cNvPr>
          <p:cNvSpPr/>
          <p:nvPr/>
        </p:nvSpPr>
        <p:spPr>
          <a:xfrm flipH="1">
            <a:off x="474241" y="511013"/>
            <a:ext cx="27724" cy="1222981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8F37506-139D-4969-81F9-EE50F9236DA0}"/>
              </a:ext>
            </a:extLst>
          </p:cNvPr>
          <p:cNvSpPr/>
          <p:nvPr/>
        </p:nvSpPr>
        <p:spPr>
          <a:xfrm>
            <a:off x="-3423" y="9627"/>
            <a:ext cx="12191337" cy="27724"/>
          </a:xfrm>
          <a:custGeom>
            <a:avLst/>
            <a:gdLst/>
            <a:ahLst/>
            <a:cxnLst/>
            <a:rect l="l" t="t" r="r" b="b"/>
            <a:pathLst>
              <a:path w="12565380" h="157479">
                <a:moveTo>
                  <a:pt x="0" y="157063"/>
                </a:moveTo>
                <a:lnTo>
                  <a:pt x="12565062" y="157063"/>
                </a:lnTo>
                <a:lnTo>
                  <a:pt x="12565062" y="0"/>
                </a:lnTo>
                <a:lnTo>
                  <a:pt x="0" y="0"/>
                </a:lnTo>
                <a:lnTo>
                  <a:pt x="0" y="15706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026" name="Picture 2" descr="Diagrama Ishikawa - Lean Blog">
            <a:extLst>
              <a:ext uri="{FF2B5EF4-FFF2-40B4-BE49-F238E27FC236}">
                <a16:creationId xmlns:a16="http://schemas.microsoft.com/office/drawing/2014/main" id="{79815D5B-F571-4D45-9F2A-79C47EAA4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563" y="331943"/>
            <a:ext cx="8363602" cy="6237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637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tângulo 2">
            <a:extLst>
              <a:ext uri="{FF2B5EF4-FFF2-40B4-BE49-F238E27FC236}">
                <a16:creationId xmlns:a16="http://schemas.microsoft.com/office/drawing/2014/main" id="{2FBA15A5-9B80-4B46-9CC4-4B815A5FE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18" y="331179"/>
            <a:ext cx="8712200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principais categorias representadas em cada uma das espinhas são também conhecidas como os 6M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altLang="pt-BR" sz="2000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Mão de obra: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Todas as pessoas envolvidas no processo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b="1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O método caracteriza a forma como o processo é executado. Quais são os procedimentos usados, regras e requisitos.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b="1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Todos os equipamentos envolvidos no processo. Desde computadores a ferramentas.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b="1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Medida: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Aqui você irá analisar as métricas utilizadas. Analisar todos os dados gerados a partir do processo procurando falhas na avaliação da qualidade.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b="1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Avaliar todas as matérias-primas utilizadas. Incluindo peças e tudo necessário para produção do produto final.</a:t>
            </a:r>
          </a:p>
          <a:p>
            <a:pPr>
              <a:buFont typeface="Arial" panose="020B0604020202020204" pitchFamily="34" charset="0"/>
              <a:buChar char="•"/>
            </a:pPr>
            <a:endParaRPr lang="pt-BR" altLang="pt-BR" sz="2000" b="1" dirty="0">
              <a:solidFill>
                <a:srgbClr val="404A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altLang="pt-BR" sz="2000" b="1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Meio ambiente:</a:t>
            </a:r>
            <a:r>
              <a:rPr lang="pt-BR" altLang="pt-BR" sz="2000" dirty="0">
                <a:solidFill>
                  <a:srgbClr val="404A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O meio ambiente, nada mais é as condições do local de trabalho onde o processo é desenvolvido.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A6A49AB9-2D6F-441F-8851-3AF9D900FB57}"/>
              </a:ext>
            </a:extLst>
          </p:cNvPr>
          <p:cNvGrpSpPr/>
          <p:nvPr/>
        </p:nvGrpSpPr>
        <p:grpSpPr>
          <a:xfrm>
            <a:off x="236" y="0"/>
            <a:ext cx="12195188" cy="6857771"/>
            <a:chOff x="-1" y="0"/>
            <a:chExt cx="20110769" cy="11308972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40CF62EE-43E4-495E-947C-3499BD3168BD}"/>
                </a:ext>
              </a:extLst>
            </p:cNvPr>
            <p:cNvSpPr/>
            <p:nvPr/>
          </p:nvSpPr>
          <p:spPr>
            <a:xfrm>
              <a:off x="-1" y="11263253"/>
              <a:ext cx="20104418" cy="45719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1F82705-095F-4D3F-9A6B-9A36BC1803F0}"/>
                </a:ext>
              </a:extLst>
            </p:cNvPr>
            <p:cNvSpPr/>
            <p:nvPr/>
          </p:nvSpPr>
          <p:spPr>
            <a:xfrm>
              <a:off x="16046518" y="0"/>
              <a:ext cx="4064250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516A2FE-FBDB-4A31-B2AB-A619D2953FE5}"/>
                </a:ext>
              </a:extLst>
            </p:cNvPr>
            <p:cNvSpPr/>
            <p:nvPr/>
          </p:nvSpPr>
          <p:spPr>
            <a:xfrm>
              <a:off x="213314" y="9373831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7A851B6C-3BBA-4B41-8B0E-37D41BA21541}"/>
                </a:ext>
              </a:extLst>
            </p:cNvPr>
            <p:cNvSpPr/>
            <p:nvPr/>
          </p:nvSpPr>
          <p:spPr>
            <a:xfrm>
              <a:off x="16224567" y="9572903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C2539BFB-66EA-48A9-BB75-C017E918B232}"/>
              </a:ext>
            </a:extLst>
          </p:cNvPr>
          <p:cNvSpPr/>
          <p:nvPr/>
        </p:nvSpPr>
        <p:spPr>
          <a:xfrm flipH="1">
            <a:off x="474241" y="511013"/>
            <a:ext cx="27724" cy="1222981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53656B96-7C32-4ED6-9950-0DB897F8437F}"/>
              </a:ext>
            </a:extLst>
          </p:cNvPr>
          <p:cNvSpPr/>
          <p:nvPr/>
        </p:nvSpPr>
        <p:spPr>
          <a:xfrm>
            <a:off x="-3423" y="9627"/>
            <a:ext cx="12191337" cy="27724"/>
          </a:xfrm>
          <a:custGeom>
            <a:avLst/>
            <a:gdLst/>
            <a:ahLst/>
            <a:cxnLst/>
            <a:rect l="l" t="t" r="r" b="b"/>
            <a:pathLst>
              <a:path w="12565380" h="157479">
                <a:moveTo>
                  <a:pt x="0" y="157063"/>
                </a:moveTo>
                <a:lnTo>
                  <a:pt x="12565062" y="157063"/>
                </a:lnTo>
                <a:lnTo>
                  <a:pt x="12565062" y="0"/>
                </a:lnTo>
                <a:lnTo>
                  <a:pt x="0" y="0"/>
                </a:lnTo>
                <a:lnTo>
                  <a:pt x="0" y="15706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4FA564A-91BF-CE8C-52C0-1D5A449AD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62" r="2" b="2"/>
          <a:stretch>
            <a:fillRect/>
          </a:stretch>
        </p:blipFill>
        <p:spPr>
          <a:xfrm>
            <a:off x="462690" y="365496"/>
            <a:ext cx="11266620" cy="5694110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516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1407</Words>
  <Application>Microsoft Office PowerPoint</Application>
  <PresentationFormat>Widescreen</PresentationFormat>
  <Paragraphs>98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Montserrat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FERRAMENTAS UTILIZADAS PARA A RESOLUÇÃO DE PROBLEMAS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Viana</dc:creator>
  <cp:lastModifiedBy>Gabriela Viana</cp:lastModifiedBy>
  <cp:revision>4</cp:revision>
  <dcterms:created xsi:type="dcterms:W3CDTF">2025-08-07T18:21:06Z</dcterms:created>
  <dcterms:modified xsi:type="dcterms:W3CDTF">2025-08-15T17:59:35Z</dcterms:modified>
</cp:coreProperties>
</file>